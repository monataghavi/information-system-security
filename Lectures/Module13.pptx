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0" r:id="rId4"/>
  </p:sldMasterIdLst>
  <p:notesMasterIdLst>
    <p:notesMasterId r:id="rId22"/>
  </p:notesMasterIdLst>
  <p:handoutMasterIdLst>
    <p:handoutMasterId r:id="rId23"/>
  </p:handoutMasterIdLst>
  <p:sldIdLst>
    <p:sldId id="265" r:id="rId5"/>
    <p:sldId id="360" r:id="rId6"/>
    <p:sldId id="361" r:id="rId7"/>
    <p:sldId id="362" r:id="rId8"/>
    <p:sldId id="371" r:id="rId9"/>
    <p:sldId id="363" r:id="rId10"/>
    <p:sldId id="364" r:id="rId11"/>
    <p:sldId id="365" r:id="rId12"/>
    <p:sldId id="374" r:id="rId13"/>
    <p:sldId id="366" r:id="rId14"/>
    <p:sldId id="367" r:id="rId15"/>
    <p:sldId id="372" r:id="rId16"/>
    <p:sldId id="368" r:id="rId17"/>
    <p:sldId id="369" r:id="rId18"/>
    <p:sldId id="373" r:id="rId19"/>
    <p:sldId id="370" r:id="rId20"/>
    <p:sldId id="259" r:id="rId21"/>
  </p:sldIdLst>
  <p:sldSz cx="12192000" cy="6858000"/>
  <p:notesSz cx="6934200" cy="9220200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ademic Tablet" initials="AT" lastIdx="1" clrIdx="0"/>
  <p:cmAuthor id="1" name="Clarity" initials="CL" lastIdx="1" clrIdx="1"/>
  <p:cmAuthor id="2" name="Instructional Designer" initials="ID" lastIdx="11" clrIdx="2">
    <p:extLst>
      <p:ext uri="{19B8F6BF-5375-455C-9EA6-DF929625EA0E}">
        <p15:presenceInfo xmlns:p15="http://schemas.microsoft.com/office/powerpoint/2012/main" userId="S-1-5-21-2570627339-595396017-2782738742-11118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91C8D7"/>
    <a:srgbClr val="ED1B2F"/>
    <a:srgbClr val="8C8C8C"/>
    <a:srgbClr val="E43029"/>
    <a:srgbClr val="FF0000"/>
    <a:srgbClr val="698335"/>
    <a:srgbClr val="DFF1CB"/>
    <a:srgbClr val="EF5F5F"/>
    <a:srgbClr val="E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78059" autoAdjust="0"/>
  </p:normalViewPr>
  <p:slideViewPr>
    <p:cSldViewPr>
      <p:cViewPr varScale="1">
        <p:scale>
          <a:sx n="80" d="100"/>
          <a:sy n="80" d="100"/>
        </p:scale>
        <p:origin x="1056" y="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1632" y="24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DD28354E-E48C-49CC-8370-7D03834548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84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22" y="4379901"/>
            <a:ext cx="5546758" cy="41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fld id="{87F161E8-846D-4747-B53A-F633A57CCB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111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9632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5299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631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1027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52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477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62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7243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9407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049000" y="6400800"/>
            <a:ext cx="9144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4384"/>
            <a:ext cx="9372600" cy="5053584"/>
          </a:xfrm>
          <a:noFill/>
        </p:spPr>
        <p:txBody>
          <a:bodyPr/>
          <a:lstStyle/>
          <a:p>
            <a:pPr lvl="0"/>
            <a:r>
              <a:rPr lang="en-US" dirty="0"/>
              <a:t>Click </a:t>
            </a:r>
            <a:r>
              <a:rPr lang="en-US" sz="3600" b="1" dirty="0" err="1">
                <a:solidFill>
                  <a:schemeClr val="tx1"/>
                </a:solidFill>
                <a:latin typeface="+mj-lt"/>
              </a:rPr>
              <a:t>Click</a:t>
            </a:r>
            <a:r>
              <a:rPr lang="en-US" sz="3600" b="1" dirty="0">
                <a:solidFill>
                  <a:schemeClr val="tx1"/>
                </a:solidFill>
                <a:latin typeface="+mj-lt"/>
              </a:rPr>
              <a:t> and type the Course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Course Number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Session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Instructor Name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937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925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2286001"/>
            <a:ext cx="10972800" cy="38401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476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990600"/>
            <a:ext cx="6815667" cy="5135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990600"/>
            <a:ext cx="4011084" cy="5135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21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362201"/>
            <a:ext cx="6815667" cy="3763963"/>
          </a:xfrm>
          <a:prstGeom prst="rect">
            <a:avLst/>
          </a:prstGeom>
        </p:spPr>
        <p:txBody>
          <a:bodyPr/>
          <a:lstStyle>
            <a:lvl1pPr>
              <a:defRPr sz="32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2362201"/>
            <a:ext cx="4011084" cy="3763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50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9144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11200" y="5367338"/>
            <a:ext cx="10668000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E43029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887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21336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9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3505200"/>
            <a:ext cx="5283200" cy="259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and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45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765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8000" y="914400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1752601"/>
            <a:ext cx="5386917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7601" y="914400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1752601"/>
            <a:ext cx="5389033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790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3158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443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10668000" cy="141156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24F6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790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discussion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Discussion text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3" name="Rounded Rectangular Callout 12"/>
          <p:cNvSpPr/>
          <p:nvPr userDrawn="1"/>
        </p:nvSpPr>
        <p:spPr>
          <a:xfrm>
            <a:off x="3009900" y="3273595"/>
            <a:ext cx="8026400" cy="1600200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009900" y="3133217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814109" y="3407226"/>
            <a:ext cx="7057092" cy="12409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0885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example text and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0"/>
            <a:ext cx="11074400" cy="3505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Case Example text</a:t>
            </a:r>
          </a:p>
        </p:txBody>
      </p:sp>
      <p:sp>
        <p:nvSpPr>
          <p:cNvPr id="13" name="Rounded Rectangular Callout 12"/>
          <p:cNvSpPr/>
          <p:nvPr userDrawn="1"/>
        </p:nvSpPr>
        <p:spPr>
          <a:xfrm>
            <a:off x="609600" y="4572000"/>
            <a:ext cx="8026400" cy="1359578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09600" y="4495801"/>
            <a:ext cx="101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219201" y="4652664"/>
            <a:ext cx="7251700" cy="11385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738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2" name="Rounded Rectangular Callout 11"/>
          <p:cNvSpPr/>
          <p:nvPr userDrawn="1"/>
        </p:nvSpPr>
        <p:spPr>
          <a:xfrm>
            <a:off x="1237129" y="1519536"/>
            <a:ext cx="9144000" cy="2819382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320800" y="144780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032000" y="1696286"/>
            <a:ext cx="8026400" cy="24185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959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Respo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ular Callout 10"/>
          <p:cNvSpPr/>
          <p:nvPr userDrawn="1"/>
        </p:nvSpPr>
        <p:spPr>
          <a:xfrm>
            <a:off x="505288" y="916594"/>
            <a:ext cx="7825913" cy="2128813"/>
          </a:xfrm>
          <a:prstGeom prst="wedgeRoundRectCallout">
            <a:avLst>
              <a:gd name="adj1" fmla="val -3023"/>
              <a:gd name="adj2" fmla="val 84693"/>
              <a:gd name="adj3" fmla="val 16667"/>
            </a:avLst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1" y="3322027"/>
            <a:ext cx="6515100" cy="322897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609600" y="838201"/>
            <a:ext cx="1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7" name="Rounded Rectangular Callout 16"/>
          <p:cNvSpPr/>
          <p:nvPr userDrawn="1"/>
        </p:nvSpPr>
        <p:spPr>
          <a:xfrm>
            <a:off x="2743201" y="2200669"/>
            <a:ext cx="8872071" cy="2676692"/>
          </a:xfrm>
          <a:prstGeom prst="wedgeRoundRectCallout">
            <a:avLst/>
          </a:prstGeom>
          <a:gradFill>
            <a:gsLst>
              <a:gs pos="0">
                <a:srgbClr val="DFF1CB"/>
              </a:gs>
              <a:gs pos="80000">
                <a:schemeClr val="accent3"/>
              </a:gs>
              <a:gs pos="100000">
                <a:schemeClr val="accent3"/>
              </a:gs>
            </a:gsLst>
          </a:gradFill>
          <a:ln>
            <a:solidFill>
              <a:srgbClr val="69833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 userDrawn="1"/>
        </p:nvSpPr>
        <p:spPr>
          <a:xfrm>
            <a:off x="2844800" y="212467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A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588871" y="2438400"/>
            <a:ext cx="7587129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correct response.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05648" y="1004651"/>
            <a:ext cx="7022353" cy="1196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original question text.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7813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1752600"/>
            <a:ext cx="7620000" cy="3921919"/>
          </a:xfrm>
          <a:prstGeom prst="rect">
            <a:avLst/>
          </a:prstGeom>
        </p:spPr>
      </p:pic>
      <p:sp>
        <p:nvSpPr>
          <p:cNvPr id="8" name="Text Placeholder 8"/>
          <p:cNvSpPr txBox="1">
            <a:spLocks/>
          </p:cNvSpPr>
          <p:nvPr userDrawn="1"/>
        </p:nvSpPr>
        <p:spPr>
          <a:xfrm>
            <a:off x="304800" y="76200"/>
            <a:ext cx="11582400" cy="609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  <a:defRPr lang="en-US" sz="3700" b="1" kern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dirty="0">
                <a:solidFill>
                  <a:schemeClr val="bg1"/>
                </a:solidFill>
              </a:rPr>
              <a:t>Break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3477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F5941-A94D-4C48-AE4B-0688A7954B21}" type="datetime1">
              <a:rPr lang="en-US" smtClean="0">
                <a:latin typeface="Arial"/>
              </a:rPr>
              <a:t>8/18/2021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From Security in Computing, Fifth Edition, </a:t>
            </a:r>
            <a:r>
              <a:rPr lang="en-US" dirty="0">
                <a:latin typeface="Arial"/>
              </a:rPr>
              <a:t>by Charles P. </a:t>
            </a:r>
            <a:r>
              <a:rPr lang="en-US" dirty="0" err="1">
                <a:latin typeface="Arial"/>
              </a:rPr>
              <a:t>Pfleeger</a:t>
            </a:r>
            <a:r>
              <a:rPr lang="en-US" dirty="0">
                <a:latin typeface="Arial"/>
              </a:rPr>
              <a:t>, et al. (ISBN: 9780134085043). Copyright 2015 by Pearson Education,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392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 txBox="1">
            <a:spLocks/>
          </p:cNvSpPr>
          <p:nvPr userDrawn="1"/>
        </p:nvSpPr>
        <p:spPr>
          <a:xfrm>
            <a:off x="394770" y="936056"/>
            <a:ext cx="11402460" cy="5157240"/>
          </a:xfrm>
          <a:prstGeom prst="rect">
            <a:avLst/>
          </a:prstGeom>
          <a:solidFill>
            <a:schemeClr val="bg1">
              <a:alpha val="84000"/>
            </a:schemeClr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1800" b="1" dirty="0"/>
          </a:p>
        </p:txBody>
      </p:sp>
      <p:sp>
        <p:nvSpPr>
          <p:cNvPr id="24" name="Title 1"/>
          <p:cNvSpPr txBox="1">
            <a:spLocks/>
          </p:cNvSpPr>
          <p:nvPr userDrawn="1"/>
        </p:nvSpPr>
        <p:spPr>
          <a:xfrm>
            <a:off x="0" y="6316809"/>
            <a:ext cx="12192000" cy="540000"/>
          </a:xfrm>
          <a:prstGeom prst="rect">
            <a:avLst/>
          </a:prstGeom>
          <a:solidFill>
            <a:srgbClr val="F0F0F0"/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3600" b="1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64" y="6453336"/>
            <a:ext cx="3298816" cy="306637"/>
          </a:xfrm>
          <a:prstGeom prst="rect">
            <a:avLst/>
          </a:prstGeom>
        </p:spPr>
      </p:pic>
      <p:sp>
        <p:nvSpPr>
          <p:cNvPr id="2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F0F0F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1424592" y="6351711"/>
            <a:ext cx="83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FB1D6B-A3F5-4E70-95BC-32D49588B2FD}" type="slidenum">
              <a:rPr lang="en-US" sz="2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11280576" y="6427886"/>
            <a:ext cx="0" cy="3178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1"/>
    </p:custDataLst>
    <p:extLst>
      <p:ext uri="{BB962C8B-B14F-4D97-AF65-F5344CB8AC3E}">
        <p14:creationId xmlns:p14="http://schemas.microsoft.com/office/powerpoint/2010/main" val="319565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14" r:id="rId2"/>
    <p:sldLayoutId id="2147483857" r:id="rId3"/>
    <p:sldLayoutId id="2147483855" r:id="rId4"/>
    <p:sldLayoutId id="2147483858" r:id="rId5"/>
    <p:sldLayoutId id="2147483856" r:id="rId6"/>
    <p:sldLayoutId id="2147483859" r:id="rId7"/>
    <p:sldLayoutId id="2147483840" r:id="rId8"/>
    <p:sldLayoutId id="2147483815" r:id="rId9"/>
    <p:sldLayoutId id="2147483818" r:id="rId10"/>
    <p:sldLayoutId id="2147483816" r:id="rId11"/>
    <p:sldLayoutId id="2147483876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System Security</a:t>
            </a:r>
            <a:br>
              <a:rPr lang="en-US" dirty="0"/>
            </a:br>
            <a:r>
              <a:rPr lang="en-US" dirty="0"/>
              <a:t>CMIS 422</a:t>
            </a:r>
            <a:br>
              <a:rPr lang="en-US" dirty="0"/>
            </a:br>
            <a:r>
              <a:rPr lang="en-CA" dirty="0"/>
              <a:t>Emerging Technologies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Module 13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/>
            </a:r>
            <a:br>
              <a:rPr lang="en-US" sz="3100" dirty="0"/>
            </a:br>
            <a:r>
              <a:rPr lang="en-US" sz="3100" dirty="0"/>
              <a:t>Amin Ranj Bar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74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Clr>
                <a:srgbClr val="0070C0"/>
              </a:buClr>
              <a:buNone/>
            </a:pPr>
            <a:r>
              <a:rPr lang="en-US" dirty="0"/>
              <a:t>At the end of this unit you will be able to: </a:t>
            </a:r>
          </a:p>
          <a:p>
            <a:r>
              <a:rPr lang="en-US" sz="2800" dirty="0"/>
              <a:t>Define the Internet of Things and discuss associated emerging security issues</a:t>
            </a:r>
          </a:p>
          <a:p>
            <a:r>
              <a:rPr lang="en-US" sz="2800" dirty="0"/>
              <a:t>Discuss promising efforts to financially measure cybersecurity to make sound investment decisions</a:t>
            </a:r>
          </a:p>
          <a:p>
            <a:r>
              <a:rPr lang="en-US" sz="2800" dirty="0"/>
              <a:t>Explore the evolving field of electronic voting, which has been an important and open security research problem for over a decade</a:t>
            </a:r>
          </a:p>
          <a:p>
            <a:r>
              <a:rPr lang="en-US" sz="2800" dirty="0"/>
              <a:t>Study potential examples of cyber warfare and their policy implications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2411598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Internet of Things </a:t>
            </a:r>
          </a:p>
          <a:p>
            <a:r>
              <a:rPr lang="en-US" dirty="0"/>
              <a:t>cybersecurity </a:t>
            </a:r>
          </a:p>
          <a:p>
            <a:r>
              <a:rPr lang="en-US" dirty="0"/>
              <a:t>electronic voting</a:t>
            </a:r>
          </a:p>
          <a:p>
            <a:r>
              <a:rPr lang="en-US" dirty="0"/>
              <a:t>cyber warfare and their policy implications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Overview</a:t>
            </a:r>
          </a:p>
        </p:txBody>
      </p:sp>
    </p:spTree>
    <p:extLst>
      <p:ext uri="{BB962C8B-B14F-4D97-AF65-F5344CB8AC3E}">
        <p14:creationId xmlns:p14="http://schemas.microsoft.com/office/powerpoint/2010/main" val="2020455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 title="microphone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 the emoticons to provide feedback to the instructor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Raise your hand            if you have a question about the class content or wish to speak</a:t>
            </a:r>
          </a:p>
          <a:p>
            <a:pPr marL="914400" lvl="1" indent="-514350"/>
            <a:r>
              <a:rPr lang="en-US" dirty="0"/>
              <a:t>To talk, click the microphone icon</a:t>
            </a:r>
          </a:p>
          <a:p>
            <a:pPr marL="914400" lvl="1" indent="-514350"/>
            <a:r>
              <a:rPr lang="en-US" dirty="0"/>
              <a:t>Click the icon again to mute it          when you are finished speaking</a:t>
            </a:r>
          </a:p>
          <a:p>
            <a:pPr marL="914400" lvl="1" indent="-514350"/>
            <a:r>
              <a:rPr lang="en-US" dirty="0"/>
              <a:t>Always mute your microphone when someone else is speaking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the chat or Technical support button from the </a:t>
            </a:r>
            <a:r>
              <a:rPr lang="en-US" dirty="0" err="1"/>
              <a:t>myCourses</a:t>
            </a:r>
            <a:r>
              <a:rPr lang="en-US" dirty="0"/>
              <a:t> Course Home page if you have technical problems – e.g. cannot see, cannot speak etc.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title="microphon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590800"/>
            <a:ext cx="568113" cy="502920"/>
          </a:xfrm>
          <a:prstGeom prst="rect">
            <a:avLst/>
          </a:prstGeom>
        </p:spPr>
      </p:pic>
      <p:pic>
        <p:nvPicPr>
          <p:cNvPr id="7" name="Picture 6" title="microphone mut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154680"/>
            <a:ext cx="559821" cy="502920"/>
          </a:xfrm>
          <a:prstGeom prst="rect">
            <a:avLst/>
          </a:prstGeom>
        </p:spPr>
      </p:pic>
      <p:pic>
        <p:nvPicPr>
          <p:cNvPr id="6" name="Picture 5" title="raise hand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0" b="11364"/>
          <a:stretch/>
        </p:blipFill>
        <p:spPr>
          <a:xfrm>
            <a:off x="3962400" y="1600200"/>
            <a:ext cx="914400" cy="5334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 of the Class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45425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B4EDA-37EC-43E5-AFE1-488DBB74E2B3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CA" dirty="0"/>
              <a:t>What is IoT?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849A6F-F724-406C-A104-8892A530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1914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 of Things (</a:t>
            </a:r>
            <a:r>
              <a:rPr lang="en-US" dirty="0" err="1"/>
              <a:t>IoT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IoT</a:t>
            </a:r>
            <a:r>
              <a:rPr lang="en-US" dirty="0"/>
              <a:t> refers to the connection of everyday devices to the Internet, making a world of so-called smart </a:t>
            </a:r>
            <a:r>
              <a:rPr lang="en-US" dirty="0" smtClean="0"/>
              <a:t>devices</a:t>
            </a:r>
          </a:p>
          <a:p>
            <a:endParaRPr lang="en-US" sz="1000" dirty="0"/>
          </a:p>
          <a:p>
            <a:r>
              <a:rPr lang="en-US" dirty="0"/>
              <a:t>Examples:</a:t>
            </a:r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Smart appliances, such as refrigerators and dishwashers</a:t>
            </a:r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Smart home, such as thermostats and alarm systems</a:t>
            </a:r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Smart health, such as fitness monitors and insulin pumps</a:t>
            </a:r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Smart transportation, such as driverless cars</a:t>
            </a:r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Smart entertainment, such as video recorders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6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199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 of Things (</a:t>
            </a:r>
            <a:r>
              <a:rPr lang="en-US" dirty="0" err="1"/>
              <a:t>IoT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IoT</a:t>
            </a:r>
            <a:r>
              <a:rPr lang="en-US" dirty="0"/>
              <a:t> refers to the connection of everyday devices to the Internet, making a world of so-called smart </a:t>
            </a:r>
            <a:r>
              <a:rPr lang="en-US" dirty="0" smtClean="0"/>
              <a:t>devices</a:t>
            </a:r>
          </a:p>
          <a:p>
            <a:endParaRPr lang="en-US" sz="1000" dirty="0"/>
          </a:p>
          <a:p>
            <a:r>
              <a:rPr lang="en-US" dirty="0"/>
              <a:t>Potential downsides: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Loss of privacy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Loss of control of data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Potential for subversion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Mistaken identification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Uncontrolled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7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122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Smartphones – </a:t>
            </a:r>
            <a:r>
              <a:rPr lang="en-US" dirty="0" smtClean="0"/>
              <a:t>Slide </a:t>
            </a:r>
            <a:r>
              <a:rPr lang="en-US" dirty="0"/>
              <a:t>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038600"/>
          </a:xfrm>
        </p:spPr>
        <p:txBody>
          <a:bodyPr>
            <a:normAutofit/>
          </a:bodyPr>
          <a:lstStyle/>
          <a:p>
            <a:r>
              <a:rPr lang="en-US" dirty="0"/>
              <a:t>Smartphones are the control hub of the </a:t>
            </a:r>
            <a:r>
              <a:rPr lang="en-US" dirty="0" err="1" smtClean="0"/>
              <a:t>IoT</a:t>
            </a:r>
            <a:endParaRPr lang="en-US" dirty="0" smtClean="0"/>
          </a:p>
          <a:p>
            <a:endParaRPr lang="en-US" sz="1300" dirty="0"/>
          </a:p>
          <a:p>
            <a:r>
              <a:rPr lang="en-US" dirty="0"/>
              <a:t>Kaspersky Labs identified 143,211 distinct new forms of malware against mobile </a:t>
            </a:r>
            <a:r>
              <a:rPr lang="en-US" dirty="0" smtClean="0"/>
              <a:t>devices</a:t>
            </a:r>
          </a:p>
          <a:p>
            <a:endParaRPr lang="en-US" sz="1200" dirty="0"/>
          </a:p>
          <a:p>
            <a:r>
              <a:rPr lang="en-US" dirty="0"/>
              <a:t>98% targeted Android devices, far in excess of its market share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Android, unlike its competitors, does not limit the software users are allowed to install and is thus an easier </a:t>
            </a:r>
            <a:r>
              <a:rPr lang="en-US" dirty="0" smtClean="0"/>
              <a:t>target</a:t>
            </a:r>
          </a:p>
          <a:p>
            <a:pPr marL="457200" lvl="1" indent="0">
              <a:buClr>
                <a:srgbClr val="ED1B2F"/>
              </a:buClr>
              <a:buNone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8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8707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Smartphones – Slide 2/2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10972800" cy="4495800"/>
          </a:xfrm>
        </p:spPr>
        <p:txBody>
          <a:bodyPr>
            <a:normAutofit/>
          </a:bodyPr>
          <a:lstStyle/>
          <a:p>
            <a:pPr marL="457200" lvl="1" indent="0">
              <a:buClr>
                <a:srgbClr val="ED1B2F"/>
              </a:buClr>
              <a:buNone/>
            </a:pPr>
            <a:endParaRPr lang="en-US" sz="1200" dirty="0"/>
          </a:p>
          <a:p>
            <a:r>
              <a:rPr lang="en-US" dirty="0"/>
              <a:t>Apple, in contrast, only allows apps from its app store to be installed on its smartphones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All apps go through an approval process, which includes some security review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Once approved, apps are signed, using a certificate approach similar to that described in Chapter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9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873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half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security issues for Electronic voting in terms of Confidentiality, Integrity and</a:t>
            </a:r>
          </a:p>
          <a:p>
            <a:r>
              <a:rPr lang="en-US" dirty="0"/>
              <a:t>Availability?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Electronic Voting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240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Fair Election?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voter’s choices must be kept secret.</a:t>
            </a:r>
          </a:p>
          <a:p>
            <a:r>
              <a:rPr lang="en-US" dirty="0"/>
              <a:t>Each voter may vote only once and only for allowed offices.</a:t>
            </a:r>
          </a:p>
          <a:p>
            <a:r>
              <a:rPr lang="en-US" dirty="0"/>
              <a:t>The voting system must be tamperproof, and the election officials must be prevented from allowing it to be tampered with.</a:t>
            </a:r>
          </a:p>
          <a:p>
            <a:r>
              <a:rPr lang="en-US" dirty="0"/>
              <a:t>All votes must be reported accurately.</a:t>
            </a:r>
          </a:p>
          <a:p>
            <a:r>
              <a:rPr lang="en-US" dirty="0"/>
              <a:t>The voting system must be available for use throughout the election period.</a:t>
            </a:r>
          </a:p>
          <a:p>
            <a:r>
              <a:rPr lang="en-US" dirty="0"/>
              <a:t>An audit trail must be kept to detect irregularities in voting but without disclosing how any individual voted.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11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832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2E59FF-EABF-420C-B695-4D6A684DE070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CA" dirty="0"/>
              <a:t>What is cyber warfare?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94C3F2F-CD4D-48CF-9956-489A6FE4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D35A9-DB8C-4074-B795-BAD1B0769B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12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7587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 Warfare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 questions: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When is an attack on cyber infrastructure considered an act of warfare?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Is cyberspace different enough to be considered a separate domain for war, or is it much like any other domain (e.g., land, sea, or air)?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What are the different ways of thinking about cyber war offense and defense?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What are the benefits and risks of strategic cyber warfare and tactical cyber warfare?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4690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Examples of Cyber Warfare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Estonia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Beginning in April 2007, the websites of a variety of Estonian government departments were shut down by multiple DDoS attacks immediately after a political altercation with </a:t>
            </a:r>
            <a:r>
              <a:rPr lang="en-US" dirty="0" smtClean="0"/>
              <a:t>Russia.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dirty="0" smtClean="0"/>
              <a:t>Iran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 err="1"/>
              <a:t>Stuxnet</a:t>
            </a:r>
            <a:r>
              <a:rPr lang="en-US" dirty="0"/>
              <a:t> worm attacked a particular model of computer used for many production control systems, and all the infections could be traced back to domains within Iran linked to industrial processing.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dirty="0" smtClean="0"/>
              <a:t>Israel </a:t>
            </a:r>
            <a:r>
              <a:rPr lang="en-US" dirty="0"/>
              <a:t>and Syria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Missiles fired in 2007 by Israeli planes did not show up on Syrian radar screens because software had replaced live images with fake, benign ones.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dirty="0" smtClean="0"/>
              <a:t>Canada</a:t>
            </a:r>
            <a:endParaRPr lang="en-US" dirty="0"/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In January 2011, the Canadian government revealed that several of its national departments had been the victims of a cyber attack traced back to servers in China.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dirty="0" smtClean="0"/>
              <a:t>Russia</a:t>
            </a:r>
            <a:endParaRPr lang="en-US" dirty="0"/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According to the </a:t>
            </a:r>
            <a:r>
              <a:rPr lang="en-US" i="1" dirty="0"/>
              <a:t>New York Times</a:t>
            </a:r>
            <a:r>
              <a:rPr lang="en-US" dirty="0"/>
              <a:t>, Russian hackers infiltrated the computers of various national governments, NATO, and the Ukraine.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14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7294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7E0B5C-8769-47DB-BBC1-7A665145DDBA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CA" dirty="0"/>
              <a:t>Any other examples for cyber warfare?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39BF32-B23E-4152-8E3C-434B5CA3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D1E2A-762A-4328-BD88-0AA73DEA56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15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4663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IoT</a:t>
            </a:r>
            <a:r>
              <a:rPr lang="en-US" dirty="0"/>
              <a:t> has resulted in a flood of new devices connecting our private and personal lives to the Internet but is far from mature from a security and privacy perspective</a:t>
            </a:r>
          </a:p>
          <a:p>
            <a:r>
              <a:rPr lang="en-US" dirty="0"/>
              <a:t>Cybersecurity investment decision making remains challenged by our inability to accurately measure risk and vulnerability</a:t>
            </a:r>
          </a:p>
          <a:p>
            <a:r>
              <a:rPr lang="en-US" dirty="0"/>
              <a:t>After over a decade of research and practice, electronic voting remains an unsolved research problem</a:t>
            </a:r>
          </a:p>
          <a:p>
            <a:r>
              <a:rPr lang="en-US" dirty="0"/>
              <a:t>Cyber warfare continues to lack clear definition and presents critical challenges, including attribution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16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5667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9600" y="2819400"/>
            <a:ext cx="10668000" cy="1411560"/>
          </a:xfrm>
        </p:spPr>
        <p:txBody>
          <a:bodyPr>
            <a:normAutofit fontScale="90000"/>
          </a:bodyPr>
          <a:lstStyle/>
          <a:p>
            <a:r>
              <a:rPr lang="en-US" dirty="0"/>
              <a:t>Information System Security</a:t>
            </a:r>
            <a:br>
              <a:rPr lang="en-US" dirty="0"/>
            </a:br>
            <a:r>
              <a:rPr lang="en-US" dirty="0"/>
              <a:t>CMIS 422</a:t>
            </a:r>
            <a:br>
              <a:rPr lang="en-US" dirty="0"/>
            </a:br>
            <a:r>
              <a:rPr lang="en-CA" dirty="0"/>
              <a:t>Emerging Technologies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Module 13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/>
            </a:r>
            <a:br>
              <a:rPr lang="en-US" sz="3100" dirty="0"/>
            </a:br>
            <a:r>
              <a:rPr lang="en-US" sz="3100" dirty="0"/>
              <a:t>Amin Ranj Bar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81108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THEME_BG_IMAGE" val="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+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+DQoJCTx1aXNob3cgbmFtZT0iYWx3YXlzU2NydW5jaCIgdmFsdWU9ImZhbHNlIi8+DQoJCTx1aXNob3cgbmFtZT0iaW5pdGlhbGRpc3BsYXltb2RlaXNub3JtYWwiIHZhbHVlPSJ0cnVlIi8+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whLS1xdWl6IHBvZCBhbmQgbWVzc2FnZSBib3ggdGV4dHMtLT4NCgkJPHVpdGV4dCBuYW1lPSJRVUlaUE9EX1FVSVpfQVRURU1QVCIgdmFsdWU9IlF1aXogQXR0ZW1wdDoiLz4NCgkJPHVpdGV4dCBuYW1lPSJRVUlaUE9EX1FVSVpfQVRURU1QVF9WQUxVRSIgdmFsdWU9IiVuIG9mICV0Ii8+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+DQoJCTx1aXRleHQgbmFtZT0iUVVJWlBPRF9RVUlaQVRNUFRfSU5GIiB2YWx1ZT0iSW5maW5pdGUiLz4NCgkJPHVpdGV4dCBuYW1lPSJRVUlaUE9EX1FVRVNBVE1QVF9JTkYiIHZhbHVlPSJJbmZpbml0ZSIvPg0KCQk8dWl0ZXh0IG5hbWU9IldBUk5JTkdNU0dfWUVTU1RSSU5HIiB2YWx1ZT0iWWVzIi8+DQoJCTx1aXRleHQgbmFtZT0iV0FSTklOR01TR19OT1NUUklORyIgdmFsdWU9Ik5vIi8+DQoJCTx1aXRleHQgbmFtZT0iV0FSTklOR01TR19USVRMRVNUUklORyIgdmFsdWU9IlF1aXogTmF2aWdhdGlvbiBXYXJuaW5nIi8+DQoJCTx1aXRleHQgbmFtZT0iV0FSTklOR01TR19NU0dTVFJJTkciIHZhbHVlPSJUaGVyZSBhcmUgdW4tYXR0ZW1wdGVkIHF1ZXN0aW9ucyBpbiB0aGlzIFF1aXouJiN4QTsmI3hBO0NsaWNraW5nIFllcyB3aWxsIHRha2UgeW91IG91dCBvZiB0aGUgUXVpei4gQ2xpY2sgTm8gdG8gY29udGludWUgdGhlIFF1aXouIi8+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+DQoJCTx1aXRleHQgbmFtZT0iRE9DV1JBUF9USVRMRSIgdmFsdWU9IlByZXNlbnRlciBGaWxlIEF0dGFjaG1lbnQiLz4NCgkJPHVpdGV4dCBuYW1lPSJET0NXUkFQX01TRyIgdmFsdWU9IlNhdmUgdG8gTXkgQ29tcHV0ZXIiLz4NCgkJPHVpdGV4dCBuYW1lPSJET0NXUkFQX1BST01QVCIgdmFsdWU9IkNsaWNrIHRvIERvd25sb2FkIi8+DQoJPC9sYW5ndWFnZT4NCgk8bGFuZ3VhZ2UgaWQ9ImRl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+DQoJCTx1aXRleHQgbmFtZT0iU0NSVUJCQVJTVEFUVVNfUkVWSUVXUVVJWiIgdmFsdWU9Ik5vY2htYWxzIGR1cmNoc2VoZW4iLz4NCgkJPCEtLSBzdWJzdGl0dXRpb246ICVtID09IG1pbnV0ZXMgcmVtYWluaW5nIC0tPg0KCQk8IS0tIHN1YnN0aXR1dGlvbjogJXMgPT0gc2Vjb25kcyByZW1haW5pbmcgLS0+DQoJCTx1aXRleHQgbmFtZT0iRUxBUFNFRCIgdmFsdWU9IlJlc3RkYXVlcjogJW0gTWludXRlbiAlcyBTZWt1bmRlbiIvPg0KCQk8dWl0ZXh0IG5hbWU9Ik5PVEZPVU5EIiB2YWx1ZT0iTmljaHRzIGdlZnVuZGVuIi8+DQoJCTx1aXRleHQgbmFtZT0iQVRUQUNITUVOVFMiIHZhbHVlPSJBbmxhZ2VuIi8+DQoJCTwhLS0gc3Vic3RpdHV0aW9uOiAlcCA9PSBjdXJyZW50IHNwZWFrZXIncyB0aXRsZSAtLT4NCgkJPHVpdGV4dCBuYW1lPSJCSU9XSU5fVElUTEUiIHZhbHVlPSJTcHJlY2hlcjogJXAiLz4NCgkJPHVpdGV4dCBuYW1lPSJCSU9CVE5fVElUTEUiIHZhbHVlPSJTcHJlY2hlciIvPg0KCQk8dWl0ZXh0IG5hbWU9IkRJVklERVJCVE5fVElUTEUiIHZhbHVlPSJ8Ii8+DQoJCTx1aXRleHQgbmFtZT0iQ09OVEFDVEJUTl9USVRMRSIgdmFsdWU9IktvbnRha3QiLz4NCgkJPHVpdGV4dCBuYW1lPSJUQUJfUVVJWiIgdmFsdWU9IlF1aXoiLz4NCgkJPHVpdGV4dCBuYW1lPSJUQUJfT1VUTElORSIgdmFsdWU9IlN0cnVrdHVyIi8+DQoJCTx1aXRleHQgbmFtZT0iVEFCX1RIVU1CIiB2YWx1ZT0iTWluaWF0dXIiLz4NCgkJPHVpdGV4dCBuYW1lPSJUQUJfTk9URVMiIHZhbHVlPSJOb3RpemVuIi8+DQoJCTx1aXRleHQgbmFtZT0iVEFCX1NFQVJDSCIgdmFsdWU9IlN1Y2hlbiIvPg0KCQk8dWl0ZXh0IG5hbWU9IlNMSURFX0hFQURJTkciIHZhbHVlPSJGb2xpZW50aXRlbCIvPg0KCQk8dWl0ZXh0IG5hbWU9IkRVUkFUSU9OX0hFQURJTkciIHZhbHVlPSJEYXVlciIvPg0KCQk8dWl0ZXh0IG5hbWU9IlNFQVJDSF9IRUFESU5HIiB2YWx1ZT0iVGV4dCBzdWNoZW46Ii8+DQoJCTx1aXRleHQgbmFtZT0iVEhVTUJfSEVBRElORyIgdmFsdWU9IkZvbGllIi8+DQoJCTx1aXRleHQgbmFtZT0iVEhVTUJfSU5GTyIgdmFsdWU9IkZvbGllbnRpdGVsL0RhdWVyIi8+DQoJCTx1aXRleHQgbmFtZT0iQVRUQUNITkFNRV9IRUFESU5HIiB2YWx1ZT0iRGF0ZWluYW1lIi8+DQoJCTx1aXRleHQgbmFtZT0iQVRUQUNIU0laRV9IRUFESU5HIiB2YWx1ZT0iR3LDtsOfZSIvPg0KCQk8dWl0ZXh0IG5hbWU9IlNMSURFX05PVEVTIiB2YWx1ZT0iRm9saWVubm90aXplbiIvPg0KCQk8IS0tcXVpeiBwb2QgYW5kIG1lc3NhZ2UgYm94IHRleHRzLS0+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+DQoJCTx1aXRleHQgbmFtZT0iUVVJWlBPRF9RVUVTVFlQRV9TVlkiIHZhbHVlPSJVbWZyYWdlIi8+DQoJCTx1aXRleHQgbmFtZT0iUVVJWlBPRF9RVUlaQVRNUFRfSU5GIiB2YWx1ZT0iVW5lbmRsaWNoIi8+DQoJCTx1aXRleHQgbmFtZT0iUVVJWlBPRF9RVUVTQVRNUFRfSU5GIiB2YWx1ZT0iVW5lbmRsaWNoIi8+DQoJCTx1aXRleHQgbmFtZT0iV0FSTklOR01TR19ZRVNTVFJJTkciIHZhbHVlPSJKYSIvPg0KCQk8dWl0ZXh0IG5hbWU9IldBUk5JTkdNU0dfTk9TVFJJTkciIHZhbHVlPSJOZWluIi8+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EZW4gVGVpbG5laG1lcm4gZGllIFNlaXRlbmxlaXN0ZSBhbnplaWdlbiIvPg0KCQk8dWl0ZXh0IG5hbWU9Ik1VVEUiIHZhbHVlPSJUb24gY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+DQoJCTwhLS0gc3Vic3RpdHV0aW9uOiAlbiA9PSBzbGlkZSBudW1iZXIgLS0+DQoJCTwhLS0gc3Vic3RpdHV0aW9uOiAldCA9PSB0b3RhbCBzbGlkZSBjb3VudCAtLT4NCgkJPHVpdGV4dCBuYW1lPSJTQ1JVQkJBUlNUQVRVU19TTElERUlORk8iIHZhbHVlPSLjgrnjg6njgqTjg4kgOiAlbiAvICV0IHwgIi8+DQoJCTx1aXRleHQgbmFtZT0iU0NSVUJCQVJTVEFUVVNfU1RPUFBFRCIgdmFsdWU9IuWBnOatoiIvPg0KCQk8dWl0ZXh0IG5hbWU9IlNDUlVCQkFSU1RBVFVTX1BMQVlJTkciIHZhbHVlPSLlho3nlJ/kuK0iLz4NCgkJPHVpdGV4dCBuYW1lPSJTQ1JVQkJBUlNUQVRVU19OT0FVRElPIiB2YWx1ZT0i6Z+z5aOw44Gq44GXIi8+DQoJCTx1aXRleHQgbmFtZT0iU0NSVUJCQVJTVEFUVVNfVklEUExBWUlORyIgdmFsdWU9IuODk+ODh+OCquWGjeeUn+S4rSIvPg0KCQk8dWl0ZXh0IG5hbWU9IlNDUlVCQkFSU1RBVFVTX0xPQURJTkciIHZhbHVlPSLjg63jg7zjg4nkuK0iLz4NCgkJPHVpdGV4dCBuYW1lPSJTQ1JVQkJBUlNUQVRVU19CVUZGRVJJTkciIHZhbHVlPSLjg5Djg4Pjg5XjgqHkuK0iLz4NCgkJPHVpdGV4dCBuYW1lPSJTQ1JVQkJBUlNUQVRVU19RVUVTVElPTiIgdmFsdWU9IuizquWVj+OBq+etlOOBiOOBpuS4i+OBleOBhCIvPg0KCQk8dWl0ZXh0IG5hbWU9IlNDUlVCQkFSU1RBVFVTX1JFVklFV1FVSVoiIHZhbHVlPSLjgq/jgqTjgrrjgpLjg6zjg5Pjg6Xjg7zjgZfjgabjgYTjgb7jgZkiLz4NCgkJPCEtLSBzdWJzdGl0dXRpb246ICVtID09IG1pbnV0ZXMgcmVtYWluaW5nIC0tPg0KCQk8IS0tIHN1YnN0aXR1dGlvbjogJXMgPT0gc2Vjb25kcyByZW1haW5pbmcgLS0+DQoJCTx1aXRleHQgbmFtZT0iRUxBUFNFRCIgdmFsdWU9Iuaui+OCiiA6ICVtIOWIhiAlcyDnp5IiLz4NCgkJPHVpdGV4dCBuYW1lPSJOT1RGT1VORCIgdmFsdWU9IuS9leOCguimi+OBpOOBi+OCiuOBvuOBm+OCkyIvPg0KCQk8dWl0ZXh0IG5hbWU9IkFUVEFDSE1FTlRTIiB2YWx1ZT0i5re75LuYIi8+DQoJCTwhLS0gc3Vic3RpdHV0aW9uOiAlcCA9PSBjdXJyZW50IHNwZWFrZXIncyB0aXRsZSAtLT4NCgkJPHVpdGV4dCBuYW1lPSJCSU9XSU5fVElUTEUiIHZhbHVlPSLntYzmrbQgOiAlcCIvPg0KCQk8dWl0ZXh0IG5hbWU9IkJJT0JUTl9USVRMRSIgdmFsdWU9Iue1jOattCIvPg0KCQk8dWl0ZXh0IG5hbWU9IkRJVklERVJCVE5fVElUTEUiIHZhbHVlPSJ8Ii8+DQoJCTx1aXRleHQgbmFtZT0iQ09OVEFDVEJUTl9USVRMRSIgdmFsdWU9IuOBiuWVj+OBhOWQiOOCj+OBmyIvPg0KCQk8dWl0ZXh0IG5hbWU9IlRBQl9RVUlaIiB2YWx1ZT0i44Kv44Kk44K6Ii8+DQoJCTx1aXRleHQgbmFtZT0iVEFCX09VVExJTkUiIHZhbHVlPSLjgqLjgqbjg4jjg6njgqTjg7MiLz4NCgkJPHVpdGV4dCBuYW1lPSJUQUJfVEhVTUIiIHZhbHVlPSLjgrXjg6Djg43jg7zjg6siLz4NCgkJPHVpdGV4dCBuYW1lPSJUQUJfTk9URVMiIHZhbHVlPSLjg47jg7zjg4giLz4NCgkJPHVpdGV4dCBuYW1lPSJUQUJfU0VBUkNIIiB2YWx1ZT0i5qSc57SiIi8+DQoJCTx1aXRleHQgbmFtZT0iU0xJREVfSEVBRElORyIgdmFsdWU9IuOCueODqeOCpOODieOCv+OCpOODiOODqyIvPg0KCQk8dWl0ZXh0IG5hbWU9IkRVUkFUSU9OX0hFQURJTkciIHZhbHVlPSLplbfjgZUiLz4NCgkJPHVpdGV4dCBuYW1lPSJTRUFSQ0hfSEVBRElORyIgdmFsdWU9IuaknOe0ouOBmeOCi+ODhuOCreOCueODiCA6ICIvPg0KCQk8dWl0ZXh0IG5hbWU9IlRIVU1CX0hFQURJTkciIHZhbHVlPSLjgrnjg6njgqTjg4kiLz4NCgkJPHVpdGV4dCBuYW1lPSJUSFVNQl9JTkZPIiB2YWx1ZT0i44K544Op44Kk44OJ44K/44Kk44OI44OrIC8g6ZW344GVIi8+DQoJCTx1aXRleHQgbmFtZT0iQVRUQUNITkFNRV9IRUFESU5HIiB2YWx1ZT0i44OV44Kh44Kk44Or5ZCNIi8+DQoJCTx1aXRleHQgbmFtZT0iQVRUQUNIU0laRV9IRUFESU5HIiB2YWx1ZT0i44K144Kk44K6Ii8+DQoJCTx1aXRleHQgbmFtZT0iU0xJREVfTk9URVMiIHZhbHVlPSLjgrnjg6njgqTjg4njg47jg7zjg4giLz4NCgkJPCEtLXF1aXogcG9kIGFuZCBtZXNzYWdlIGJveCB0ZXh0cy0tPg0KCQk8dWl0ZXh0IG5hbWU9IlFVSVpQT0RfUVVJWl9BVFRFTVBUIiB2YWx1ZT0i44Kv44Kk44K66Kmm6KGM5Zue5pWwIDogIi8+DQoJCTx1aXRleHQgbmFtZT0iUVVJWlBPRF9RVUlaX0FUVEVNUFRfVkFMVUUiIHZhbHVlPSIlbiAvICV0Ii8+DQoJCTx1aXRleHQgbmFtZT0iUVVJWlBPRF9RVUlaX1NDT1JFIiB2YWx1ZT0i44K544Kz44KiIDogIi8+DQoJCTx1aXRleHQgbmFtZT0iUVVJWlBPRF9RVUlaX1BBU1NTQ09SRSIgdmFsdWU9IuWQiOagvOeCuSA6Ii8+DQoJCTx1aXRleHQgbmFtZT0iUVVJWlBPRF9RVUlaX01BWFNDT1JFIiB2YWx1ZT0i5pyA6auY5b6X54K5IDogIi8+DQoJCTx1aXRleHQgbmFtZT0iUVVJWlBPRF9RVUVTQVRNUFRfU1RSIiB2YWx1ZT0i6Kmm6KGM5Zue5pWwIDogJW4gLyAldCIvPg0KCQk8dWl0ZXh0IG5hbWU9IlFVSVpQT0RfUVVFU1RZUEVfU1RSIiB2YWx1ZT0i44K/44Kk44OXIDogJXMiLz4NCgkJPHVpdGV4dCBuYW1lPSJRVUlaUE9EX1FVRVNUWVBFX0dSRCIgdmFsdWU9IuipleS+oSIvPg0KCQk8dWl0ZXh0IG5hbWU9IlFVSVpQT0RfUVVFU1RZUEVfU1ZZIiB2YWx1ZT0i44Ki44Oz44Kx44O844OIIi8+DQoJCTx1aXRleHQgbmFtZT0iUVVJWlBPRF9RVUlaQVRNUFRfSU5GIiB2YWx1ZT0i54Sh5Yi26ZmQIi8+DQoJCTx1aXRleHQgbmFtZT0iUVVJWlBPRF9RVUVTQVRNUFRfSU5GIiB2YWx1ZT0i54Sh5Yi26ZmQIi8+DQoJCTx1aXRleHQgbmFtZT0iV0FSTklOR01TR19ZRVNTVFJJTkciIHZhbHVlPSLjga/jgYQiLz4NCgkJPHVpdGV4dCBuYW1lPSJXQVJOSU5HTVNHX05PU1RSSU5HIiB2YWx1ZT0i44GE44GE44GIIi8+DQoJCTx1aXRleHQgbmFtZT0iV0FSTklOR01TR19USVRMRVNUUklORyIgdmFsdWU9IuOCr+OCpOOCuuOBruODiuODk+OCsuODvOOCt+ODp+ODs+OBq+mWouOBmeOCi+itpuWRiiIvPg0KCQk8dWl0ZXh0IG5hbWU9IldBUk5JTkdNU0dfTVNHU1RSSU5HIiB2YWx1ZT0i44GT44Gu44Kv44Kk44K644Gr44Gv44CB44G+44Gg6Kej562U44GX44Gm44GE44Gq44GE6LOq5ZWP44GM44GC44KK44G+44GZ44CCJiN4QTsmI3hBOyDjgq/jgqTjgrrjgpLntYLkuobjgZnjgovjgavjga/jgIHjgIzjga/jgYTjgI3jgpLjgq/jg6rjg4Pjgq/jgZfjgb7jgZnjgILjgq/jgqTjgrrjgpLntprooYzjgZnjgovjgavjga/jgIHjgIzjgYTjgYTjgYjjgI3jgpLjgq/jg6rjg4Pjgq/jgZfjgb7jgZnjgIIiLz4NCgkJPHVpdGV4dCBuYW1lPSJJTkZPUk1BVElPTl9IMjY0X0ZMQVNIUExBWUVSIiB2YWx1ZT0i44GK5L2/44GE44Gu44Kz44Oz44OU44Ol44O844K/44Gr54++5Zyo44Kk44Oz44K544OI44O844Or44GV44KM44Gm44GE44KLIEZsYXNoIFBsYXllciDjga7jg5Djg7zjgrjjg6fjg7Pjga/jgIHjgZPjga7jg5Pjg4fjgqrjgpLjgrXjg53jg7zjg4jjgZfjgabjgYTjgb7jgZvjgpPjgILmnIDmlrDjga4gRmxhc2ggUGxheWVyIOOCkuODgOOCpuODs+ODreODvOODieOBmeOCi+OBq+OBr+OAgeODk+ODh+OCqumgmOWfn+OCkuOCr+ODquODg+OCr+OBl+OBpuOBj+OBoOOBleOBhOOAg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jgrXjgqTjg4njg5Djg7zjgpLlj4LliqDogIXjgavopovjgZvjgosiLz4NCgkJPHVpdGV4dCBuYW1lPSJNVVRFIiB2YWx1ZT0i44Of44Ol44O844OIIi8+DQoJCTx1aXRleHQgbmFtZT0iRE9DV1JBUF9USVRMRSIgdmFsdWU9IlByZXNlbnRlciDmt7vku5jjg5XjgqHjgqTjg6siLz4NCgkJPHVpdGV4dCBuYW1lPSJET0NXUkFQX01TRyIgdmFsdWU9IuODnuOCpOOCs+ODs+ODlOODpeODvOOCv+OBq+S/neWtmCIvPg0KCQk8dWl0ZXh0IG5hbWU9IkRPQ1dSQVBfUFJPTVBUIiB2YWx1ZT0i44Kv44Oq44OD44Kv44GX44Gm44OA44Km44Oz44Ot44O844OJIi8+DQoJPC9sYW5ndWFnZT4NCgk8bGFuZ3VhZ2UgaWQ9Imtv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/siJg6Ii8+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/siJg6ICVuLyV0Ii8+DQoJCTx1aXRleHQgbmFtZT0iUVVJWlBPRF9RVUVTVFlQRV9TVFIiIHZhbHVlPSLsnKDtmJU6ICVzIi8+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+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+2AtOymiOulvCDsooXro4ztlZjroKTrqbQgW+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+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+DQoJCTx1aXRleHQgbmFtZT0iU0NSVUJCQVJTVEFUVVNfVklEUExBWUlORyIgdmFsdWU9IlbDrWRlbyBlbiByZXByb2QuIi8+DQoJCTx1aXRleHQgbmFtZT0iU0NSVUJCQVJTVEFUVVNfTE9BRElORyIgdmFsdWU9IkNhcmdhbmRvIi8+DQoJCTx1aXRleHQgbmFtZT0iU0NSVUJCQVJTVEFUVVNfQlVGRkVSSU5HIiB2YWx1ZT0iQWxtYWNlbmFuZG8gZW4gYsO6ZmVyIi8+DQoJCTx1aXRleHQgbmFtZT0iU0NSVUJCQVJTVEFUVVNfUVVFU1RJT04iIHZhbHVlPSJDb250ZXN0YXIgcHJlZ3VudGEiLz4NCgkJPHVpdGV4dCBuYW1lPSJTQ1JVQkJBUlNUQVRVU19SRVZJRVdRVUlaIiB2YWx1ZT0iUmV2aXNhbmRvIHBydWViYSIvPg0KCQk8IS0tIHN1YnN0aXR1dGlvbjogJW0gPT0gbWludXRlcyByZW1haW5pbmcgLS0+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+DQoJCTx1aXRleHQgbmFtZT0iQklPQlROX1RJVExFIiB2YWx1ZT0iQmlvZ3JhZsOtYSIvPg0KCQk8dWl0ZXh0IG5hbWU9IkRJVklERVJCVE5fVElUTEUiIHZhbHVlPSJ8Ii8+DQoJCTx1aXRleHQgbmFtZT0iQ09OVEFDVEJUTl9USVRMRSIgdmFsdWU9IkNvbnRhY3RvIi8+DQoJCTx1aXRleHQgbmFtZT0iVEFCX1FVSVoiIHZhbHVlPSJQcnVlYmEiLz4NCgkJPHVpdGV4dCBuYW1lPSJUQUJfT1VUTElORSIgdmFsdWU9IkNvbnRvcm5vIi8+DQoJCTx1aXRleHQgbmFtZT0iVEFCX1RIVU1CIiB2YWx1ZT0iTWluaWF0LiIvPg0KCQk8dWl0ZXh0IG5hbWU9IlRBQl9OT1RFUyIgdmFsdWU9Ik5vdGFzIi8+DQoJCTx1aXRleHQgbmFtZT0iVEFCX1NFQVJDSCIgdmFsdWU9IkJ1c2NhciIvPg0KCQk8dWl0ZXh0IG5hbWU9IlNMSURFX0hFQURJTkciIHZhbHVlPSJUw610dWxvIGRlIGRpYXBvc2l0aXZhIi8+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+DQoJCTx1aXRleHQgbmFtZT0iQVRUQUNITkFNRV9IRUFESU5HIiB2YWx1ZT0iTm9tYnJlIGRlIGFyY2hpdm8iLz4NCgkJPHVpdGV4dCBuYW1lPSJBVFRBQ0hTSVpFX0hFQURJTkciIHZhbHVlPSJUYW1hw7FvIi8+DQoJCTx1aXRleHQgbmFtZT0iU0xJREVfTk9URVMiIHZhbHVlPSJOb3RhcyBkZSBkaWFwb3NpdGl2YS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lNpbGVuY2lhciIvPg0KCQk8dWl0ZXh0IG5hbWU9IkRPQ1dSQVBfVElUTEUiIHZhbHVlPSJBcmNoaXZvIGFkanVudG8gZGUgUHJlc2VudGVyIi8+DQoJCTx1aXRleHQgbmFtZT0iRE9DV1JBUF9NU0ciIHZhbHVlPSJHdWFyZGFyIGVuIE1pIFBDIi8+DQoJCTx1aXRleHQgbmFtZT0iRE9DV1JBUF9QUk9NUFQiIHZhbHVlPSJIYWdhIGNsaWMgZW4gRGVzY2FyZ2FyIi8+DQoJPC9sYW5ndWFnZT4NCgk8bGFuZ3VhZ2UgaWQ9InB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+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+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GF0byIvPg0KCQk8dWl0ZXh0IG5hbWU9IlRBQl9RVUlaIiB2YWx1ZT0iUXVlc3QuIi8+DQoJCTx1aXRleHQgbmFtZT0iVEFCX09VVExJTkUiIHZhbHVlPSJFc3F1ZW1hIi8+DQoJCTx1aXRleHQgbmFtZT0iVEFCX1RIVU1CIiB2YWx1ZT0iTWluaSIvPg0KCQk8dWl0ZXh0IG5hbWU9IlRBQl9OT1RFUyIgdmFsdWU9Ik5vdGFzIi8+DQoJCTx1aXRleHQgbmFtZT0iVEFCX1NFQVJDSCIgdmFsdWU9IkJ1c2NhIi8+DQoJCTx1aXRleHQgbmFtZT0iU0xJREVfSEVBRElORyIgdmFsdWU9IlTDrXR1bG8gZG8gc2xpZGUiLz4NCgkJPHVpdGV4dCBuYW1lPSJEVVJBVElPTl9IRUFESU5HIiB2YWx1ZT0iRHVyYcOnw6NvIi8+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+DQoJCTx1aXRleHQgbmFtZT0iU0xJREVfTk9URVMiIHZhbHVlPSJBbm90YcOnw7VlcyBkbyBzbGlkZS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+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+DQoJCTx1aXRleHQgbmFtZT0iUVVJWlBPRF9RVUVTVFlQRV9TVFIiIHZhbHVlPSJUaXBvOiAlcyIvPg0KCQk8dWl0ZXh0IG5hbWU9IlFVSVpQT0RfUVVFU1RZUEVfR1JEIiB2YWx1ZT0iQ29uIHZhbHV0YXppb25lIi8+DQoJCTx1aXRleHQgbmFtZT0iUVVJWlBPRF9RVUVTVFlQRV9TVlkiIHZhbHVlPSJJbmRhZ2luZSIvPg0KCQk8dWl0ZXh0IG5hbWU9IlFVSVpQT0RfUVVJWkFUTVBUX0lORiIgdmFsdWU9IkluZmluaXRpIi8+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+DQoJCTx1aXRleHQgbmFtZT0iRE9DV1JBUF9USVRMRSIgdmFsdWU9IkFsbGVnYXRvIGZpbGUgUHJlc2VudGVyIi8+DQoJCTx1aXRleHQgbmFtZT0iRE9DV1JBUF9NU0ciIHZhbHVlPSJTYWx2YSBpbiBSaXNvcnNlIGRlbCBjb21wdXRlciIvPg0KCQk8dWl0ZXh0IG5hbWU9IkRPQ1dSQVBfUFJPTVBUIiB2YWx1ZT0iQ2xpYyBwZXIgc2NhcmljYXJlIi8+DQoJPC9sYW5ndWFnZT4NCgk8bGFuZ3VhZ2UgaWQ9Im5s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+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+DQoJCTx1aXRleHQgbmFtZT0iU0NSVUJCQVJTVEFUVVNfVklEUExBWUlORyIgdmFsdWU9IlZpZGVvIGFmc3BlbGVuIi8+DQoJCTx1aXRleHQgbmFtZT0iU0NSVUJCQVJTVEFUVVNfTE9BRElORyIgdmFsdWU9IkxhZGVuIi8+DQoJCTx1aXRleHQgbmFtZT0iU0NSVUJCQVJTVEFUVVNfQlVGRkVSSU5HIiB2YWx1ZT0iQnVmZmVyZW4iLz4NCgkJPHVpdGV4dCBuYW1lPSJTQ1JVQkJBUlNUQVRVU19RVUVTVElPTiIgdmFsdWU9IlZyYWFnIG1ldCBhbnR3b29yZCIvPg0KCQk8dWl0ZXh0IG5hbWU9IlNDUlVCQkFSU1RBVFVTX1JFVklFV1FVSVoiIHZhbHVlPSJRdWl6IGNvbnRyb2xlcmVuIi8+DQoJCTwhLS0gc3Vic3RpdHV0aW9uOiAlbSA9PSBtaW51dGVzIHJlbWFpbmluZyAtLT4NCgkJPCEtLSBzdWJzdGl0dXRpb246ICVzID09IHNlY29uZHMgcmVtYWluaW5nIC0tPg0KCQk8dWl0ZXh0IG5hbWU9IkVMQVBTRUQiIHZhbHVlPSJFciByZXN0ZXJlbiAlbSBtaW51dGVuICVzIHNlY29uZGVuIi8+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+DQoJCTx1aXRleHQgbmFtZT0iVEFCX1FVSVoiIHZhbHVlPSJRdWl6Ii8+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+DQoJCTx1aXRleHQgbmFtZT0iU0VBUkNIX0hFQURJTkciIHZhbHVlPSJab2VrZW4gbmFhciB0ZWtzdDoiLz4NCgkJPHVpdGV4dCBuYW1lPSJUSFVNQl9IRUFESU5HIiB2YWx1ZT0iRGlhIi8+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+DQoJCTwhLS1xdWl6IHBvZCBhbmQgbWVzc2FnZSBib3ggdGV4dHMtLT4NCgkJPHVpdGV4dCBuYW1lPSJRVUlaUE9EX1FVSVpfQVRURU1QVCIgdmFsdWU9IlF1aXpwb2dpbmc6Ii8+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+DQoJCTx1aXRleHQgbmFtZT0iUVVJWlBPRF9RVUVTVFlQRV9TVFIiIHZhbHVlPSJUeXBlOiAlcyIvPg0KCQk8dWl0ZXh0IG5hbWU9IlFVSVpQT0RfUVVFU1RZUEVfR1JEIiB2YWx1ZT0iVGVsdCB2b29yIHNjb3JlIi8+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+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+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+DQoJCTx1aWZvbnQgbmFtZT0iRk9OVF9QUkVTRU5UQVRJT05OQU1FIiB2YWx1ZT0i5a6L5L2TLTE4MDMwLDE0LGZhbHNlLGZhbHNlLHRydWUiLz4NCgkJPHVpZm9udCBuYW1lPSJGT05UX1BSRVNFTlRFUk5BTUUiIHZhbHVlPSLlrovkvZMtMTgwMzAsMTQsdHJ1ZSxmYWxzZSx0cnVlIi8+DQoJCTx1aWZvbnQgbmFtZT0iRk9OVF9QUkVTRU5URVJUSVRMRSIgdmFsdWU9IuWui+S9ky0xODAzMCwxMyxmYWxzZSxmYWxzZSx0cnVlIi8+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+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+DQoJCTx1aWZvbnQgbmFtZT0iRk9OVF9NU0dCT1hfV0lOVElUTEUiIHZhbHVlPSLlrovkvZMtMTgwMzAsMTIsdHJ1ZSxmYWxzZSx0cnVlIi8+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+DQoJCTx1aWZvbnQgbmFtZT0iRk9OVF9RVUlaUE9EX1FVRVNUSU9OX1NDT1JFIiB2YWx1ZT0i5a6L5L2TLTE4MDMwLDEwLGZhbHNlLGZhbHNlLHRydWUiLz4NCgkJPHVpZm9udCBuYW1lPSJGT05UX1FVSVpQT0RfUVVFU1RJT05fU0NPUkVfVkFMVUUiIHZhbHVlPSLlrovkvZMtMTgwMzAsMTAsdHJ1ZSxmYWxzZSx0cnVlIi8+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+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+S9ky0xODAzMCwxMCxmYWxzZSxmYWxzZSx0cnVlIi8+DQoJCTx1aWZvbnQgbmFtZT0iRk9OVF9RVUlaUE9EX1FVSVpfUVVFU1RJT05fQVRURU1QVEVEX1ZBTFVFIiB2YWx1ZT0i5a6L5L2TLTE4MDMwLDEwLHRydWUsZmFsc2UsdHJ1ZSIvPg0KCQk8dWlmb250IG5hbWU9IkZPTlRfUVVJWlBPRF9RVUlaX1NDT1JFX1RBRyIgdmFsdWU9IuWui+S9ky0xODAzMCwxMix0cnVlLGZhbHNlLHRydWUiLz4NCgkJPHVpZm9udCBuYW1lPSJGT05UX1FVSVpQT0RfUVVJWl9TQ09SRSIgdmFsdWU9IuWui+S9ky0xODAzMCwxMCxmYWxzZSxmYWxzZSx0cnVlIi8+DQoJCTx1aWZvbnQgbmFtZT0iRk9OVF9RVUlaUE9EX1FVSVpfU0NPUkVfVkFMVUUiIHZhbHVlPSLlrovkvZMtMTgwMzAsMTAsdHJ1ZSxmYWxzZSx0cnVlIi8+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+S9ky0xODAzMCwxMCxmYWxzZSxmYWxzZSx0cnVlIi8+DQoJCTx1aWZvbnQgbmFtZT0iRk9OVF9RVUlaUE9EX1FVSVpfUEFTU1NDT1JFX1ZBTFVFIiB2YWx1ZT0i5a6L5L2TLTE4MDMwLDEwLHRydWUsZmFsc2UsdHJ1ZSIvPg0KCQk8IS0tIHVpdGV4dCAtLT4NCgkJPCEtLSBzdWJzdGl0dXRpb246ICVuID09IHNsaWRlIG51bWJlciAtLT4NCgkJPHVpdGV4dCBuYW1lPSJVTk5BTUVEU0xJREVUSVRMRSIgdmFsdWU9IuW5u+eBr+eJhyAlbiIvPg0KCQk8IS0tIHN1YnN0aXR1dGlvbjogJW4gPT0gc2xpZGUgbnVtYmVyIC0tPg0KCQk8IS0tIHN1YnN0aXR1dGlvbjogJXQgPT0gdG90YWwgc2xpZGUgY291bnQgLS0+DQoJCTx1aXRleHQgbmFtZT0iU0NSVUJCQVJTVEFUVVNfU0xJREVJTkZPIiB2YWx1ZT0i5bm754Gv54mHICVuIC8gJXQgfCAiLz4NCgkJPHVpdGV4dCBuYW1lPSJTQ1JVQkJBUlNUQVRVU19TVE9QUEVEIiB2YWx1ZT0i5bey5YGc5q2iIi8+DQoJCTx1aXRleHQgbmFtZT0iU0NSVUJCQVJTVEFUVVNfUExBWUlORyIgdmFsdWU9Iuato+WcqOaSreaUviIvPg0KCQk8dWl0ZXh0IG5hbWU9IlNDUlVCQkFSU1RBVFVTX05PQVVESU8iIHZhbHVlPSLml6Dpn7PpopEiLz4NCgkJPHVpdGV4dCBuYW1lPSJTQ1JVQkJBUlNUQVRVU19WSURQTEFZSU5HIiB2YWx1ZT0i6KeG6aKR5pKt5pS+Ii8+DQoJCTx1aXRleHQgbmFtZT0iU0NSVUJCQVJTVEFUVVNfTE9BRElORyIgdmFsdWU9Iuato+WcqOi9veWFpSIvPg0KCQk8dWl0ZXh0IG5hbWU9IlNDUlVCQkFSU1RBVFVTX0JVRkZFUklORyIgdmFsdWU9Iuato+WcqOi/m+ihjOe8k+WGsuWkhOeQhiIvPg0KCQk8dWl0ZXh0IG5hbWU9IlNDUlVCQkFSU1RBVFVTX1FVRVNUSU9OIiB2YWx1ZT0i5Zue562U6Zeu6aKYIi8+DQoJCTx1aXRleHQgbmFtZT0iU0NSVUJCQVJTVEFUVVNfUkVWSUVXUVVJWiIgdmFsdWU9Iuato+WcqOWuoemYhea1i+mqjCIvPg0KCQk8IS0tIHN1YnN0aXR1dGlvbjogJW0gPT0gbWludXRlcyByZW1haW5pbmcgLS0+DQoJCTwhLS0gc3Vic3RpdHV0aW9uOiAlcyA9PSBzZWNvbmRzIHJlbWFpbmluZyAtLT4NCgkJPHVpdGV4dCBuYW1lPSJFTEFQU0VEIiB2YWx1ZT0i5Ymp5L2ZICVtIOWIhumSnyAlcyDnp5IiLz4NCgkJPHVpdGV4dCBuYW1lPSJOT1RGT1VORCIgdmFsdWU9IuacquaJvuWIsOS7u+S9leWGheWuuSIvPg0KCQk8dWl0ZXh0IG5hbWU9IkFUVEFDSE1FTlRTIiB2YWx1ZT0i6ZmE5Lu2Ii8+DQoJCTwhLS0gc3Vic3RpdHV0aW9uOiAlcCA9PSBjdXJyZW50IHNwZWFrZXIncyB0aXRsZSAtLT4NCgkJPHVpdGV4dCBuYW1lPSJCSU9XSU5fVElUTEUiIHZhbHVlPSLkuKrkurrnroDku4s6ICVwIi8+DQoJCTx1aXRleHQgbmFtZT0iQklPQlROX1RJVExFIiB2YWx1ZT0i5Liq5Lq6566A5LuLIi8+DQoJCTx1aXRleHQgbmFtZT0iRElWSURFUkJUTl9USVRMRSIgdmFsdWU9InwiLz4NCgkJPHVpdGV4dCBuYW1lPSJDT05UQUNUQlROX1RJVExFIiB2YWx1ZT0i6IGU57O75pa55byPIi8+DQoJCTx1aXRleHQgbmFtZT0iVEFCX1FVSVoiIHZhbHVlPSLmtYvpqowiLz4NCgkJPHVpdGV4dCBuYW1lPSJUQUJfT1VUTElORSIgdmFsdWU9IuWkp+e6siIvPg0KCQk8dWl0ZXh0IG5hbWU9IlRBQl9USFVNQiIgdmFsdWU9Iue8qeeVpeWbviIvPg0KCQk8dWl0ZXh0IG5hbWU9IlRBQl9OT1RFUyIgdmFsdWU9IuWkh+azqCIvPg0KCQk8dWl0ZXh0IG5hbWU9IlRBQl9TRUFSQ0giIHZhbHVlPSLmkJzntKIiLz4NCgkJPHVpdGV4dCBuYW1lPSJTTElERV9IRUFESU5HIiB2YWx1ZT0i5bm754Gv54mH5qCH6aKYIi8+DQoJCTx1aXRleHQgbmFtZT0iRFVSQVRJT05fSEVBRElORyIgdmFsdWU9IuaMgee7reaXtumXtCIvPg0KCQk8dWl0ZXh0IG5hbWU9IlNFQVJDSF9IRUFESU5HIiB2YWx1ZT0i5pCc57Si5paH5pysOiIvPg0KCQk8dWl0ZXh0IG5hbWU9IlRIVU1CX0hFQURJTkciIHZhbHVlPSLlubvnga/niYciLz4NCgkJPHVpdGV4dCBuYW1lPSJUSFVNQl9JTkZPIiB2YWx1ZT0i5bm754Gv54mH5qCH6aKYL+aMgee7reaXtumXtCIvPg0KCQk8dWl0ZXh0IG5hbWU9IkFUVEFDSE5BTUVfSEVBRElORyIgdmFsdWU9IuaWh+S7tuWQjSIvPg0KCQk8dWl0ZXh0IG5hbWU9IkFUVEFDSFNJWkVfSEVBRElORyIgdmFsdWU9IuWkp+WwjyIvPg0KCQk8dWl0ZXh0IG5hbWU9IlNMSURFX05PVEVTIiB2YWx1ZT0i5bm754Gv54mH5aSH5rOo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8L2NvbmZpZ3VyYXRpb24+DQo="/>
  <p:tag name="MMPROD_UIDATA" val="&lt;database version=&quot;7.0&quot;&gt;&lt;object type=&quot;1&quot; unique_id=&quot;10001&quot;&gt;&lt;property id=&quot;20141&quot; value=&quot;Test&quot;/&gt;&lt;property id=&quot;20144&quot; value=&quot;0&quot;/&gt;&lt;property id=&quot;20146&quot; value=&quot;0&quot;/&gt;&lt;property id=&quot;20147&quot; value=&quot;0&quot;/&gt;&lt;property id=&quot;20148&quot; value=&quot;0&quot;/&gt;&lt;property id=&quot;20180&quot; value=&quot;1&quot;/&gt;&lt;property id=&quot;20181&quot; value=&quot;1祡䘌໴챐ຸᄸ&quot;/&gt;&lt;property id=&quot;20182&quot; value=&quot;0&quot;/&gt;&lt;property id=&quot;20183&quot; value=&quot;1&quot;/&gt;&lt;property id=&quot;20184&quot; value=&quot;7&quot;/&gt;&lt;property id=&quot;20191&quot; value=&quot;McGill&quot;/&gt;&lt;property id=&quot;20192&quot; value=&quot;https://connect.mcgill.ca&quot;/&gt;&lt;property id=&quot;20193&quot; value=&quot;0&quot;/&gt;&lt;property id=&quot;20224&quot; value=&quot;C:\Users\jremil3.CAMPUS\Desktop\Untitled&quot;/&gt;&lt;property id=&quot;20226&quot; value=&quot;C:\Users\jremil3.CAMPUS\Documents\Test.pptx&quot;/&gt;&lt;property id=&quot;20250&quot; value=&quot;0&quot;/&gt;&lt;property id=&quot;20251&quot; value=&quot;0&quot;/&gt;&lt;property id=&quot;20259&quot; value=&quot;0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2&quot; value=&quot;1&quot;/&gt;&lt;property id=&quot;20303&quot; value=&quot;-1&quot;/&gt;&lt;property id=&quot;20307&quot; value=&quot;256&quot;/&gt;&lt;property id=&quot;20309&quot; value=&quot;-1&quot;/&gt;&lt;/object&gt;&lt;/object&gt;&lt;object type=&quot;4&quot; unique_id=&quot;10282&quot;&gt;&lt;/object&gt;&lt;object type=&quot;10&quot; unique_id=&quot;10313&quot;&gt;&lt;object type=&quot;11&quot; unique_id=&quot;10314&quot;&gt;&lt;property id=&quot;20180&quot; value=&quot;1&quot;/&gt;&lt;property id=&quot;20181&quot; value=&quot;1祡䘌໴챐ຸᄸ&quot;/&gt;&lt;property id=&quot;20182&quot; value=&quot;0&quot;/&gt;&lt;property id=&quot;20183&quot; value=&quot;1&quot;/&gt;&lt;/object&gt;&lt;object type=&quot;12&quot; unique_id=&quot;10315&quot;&gt;&lt;/object&gt;&lt;/object&gt;&lt;/object&gt;&lt;/database&gt;"/>
  <p:tag name="SECTOMILLISECCONVERTED" val="1"/>
  <p:tag name="ARTICULATE_DESIGN_ID_3_BODY SLIDES" val="KxQTgtwD"/>
  <p:tag name="ARTICULATE_DESIGN_ID_SCS_INSTRUCTOR_TEMPLATE_FINAL_11JUL12" val="WjYDd5jC"/>
  <p:tag name="ARTICULATE_DESIGN_ID_2_COURSE INTRODUCTION SECTION SLIDES" val="2oyRvmTz"/>
  <p:tag name="ARTICULATE_DESIGN_ID_6_END SLIDE" val="e5N5rkiO"/>
  <p:tag name="ARTICULATE_DESIGN_ID_5_SUMMARY SLIDES" val="0yFMtatE"/>
  <p:tag name="ARTICULATE_DESIGN_ID_4_ACTIVITY SLIDES" val="3IO17py5"/>
  <p:tag name="ARTICULATE_SLIDE_COUNT" val="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3_Body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S_Instructor_Template_JAN-2016_01.potx" id="{B171CE54-E0B3-48DE-B5A6-CB6B870F1157}" vid="{F7B45810-D9B3-47F4-BC11-88D54CF40A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879ED8B4619441B91687DCDA02DA39" ma:contentTypeVersion="4" ma:contentTypeDescription="Create a new document." ma:contentTypeScope="" ma:versionID="e9f6abe488ccb30ede1a22ac04af6b8b">
  <xsd:schema xmlns:xsd="http://www.w3.org/2001/XMLSchema" xmlns:xs="http://www.w3.org/2001/XMLSchema" xmlns:p="http://schemas.microsoft.com/office/2006/metadata/properties" xmlns:ns2="21d99a6e-e1bc-4d91-b097-03191ed450e9" targetNamespace="http://schemas.microsoft.com/office/2006/metadata/properties" ma:root="true" ma:fieldsID="3456e5b705d00c9872288845cb9a19d4" ns2:_="">
    <xsd:import namespace="21d99a6e-e1bc-4d91-b097-03191ed450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d99a6e-e1bc-4d91-b097-03191ed450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5FD718-1596-495A-8E43-8A5005EE0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d99a6e-e1bc-4d91-b097-03191ed450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C04534-A83D-479B-A773-C2FB7E41A064}">
  <ds:schemaRefs>
    <ds:schemaRef ds:uri="http://purl.org/dc/elements/1.1/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dedabe45-036a-435e-993e-705e5b96e450"/>
    <ds:schemaRef ds:uri="bb4e6460-2876-4d3d-92e1-67f1bf6a2c5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8E3EF9B-59AC-447C-85F7-757DD6B349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SCS_Instructor_Template_JAN-2016_final (002)</Template>
  <TotalTime>399</TotalTime>
  <Words>880</Words>
  <Application>Microsoft Office PowerPoint</Application>
  <PresentationFormat>Widescreen</PresentationFormat>
  <Paragraphs>109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Britannic Bold</vt:lpstr>
      <vt:lpstr>Calibri</vt:lpstr>
      <vt:lpstr>Verdana</vt:lpstr>
      <vt:lpstr>3_Body Slides</vt:lpstr>
      <vt:lpstr>Information System Security CMIS 422 Emerging Technologies Module 13   Amin Ranj Bar</vt:lpstr>
      <vt:lpstr>Session Learning Outcomes</vt:lpstr>
      <vt:lpstr>Session Overview</vt:lpstr>
      <vt:lpstr>Rules of the Class</vt:lpstr>
      <vt:lpstr>PowerPoint Presentation</vt:lpstr>
      <vt:lpstr>The Internet of Things (IoT)</vt:lpstr>
      <vt:lpstr>The Internet of Things (IoT)</vt:lpstr>
      <vt:lpstr>Smartphones – Slide 1/2</vt:lpstr>
      <vt:lpstr>Smartphones – Slide 2/2</vt:lpstr>
      <vt:lpstr>Electronic Voting</vt:lpstr>
      <vt:lpstr>What Is a Fair Election?</vt:lpstr>
      <vt:lpstr>PowerPoint Presentation</vt:lpstr>
      <vt:lpstr>Cyber Warfare</vt:lpstr>
      <vt:lpstr>Possible Examples of Cyber Warfare</vt:lpstr>
      <vt:lpstr>PowerPoint Presentation</vt:lpstr>
      <vt:lpstr>Session Summary</vt:lpstr>
      <vt:lpstr>Information System Security CMIS 422 Emerging Technologies Module 13   Amin Ranj Bar</vt:lpstr>
    </vt:vector>
  </TitlesOfParts>
  <Company>McGill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Denise Quildon, Ms.</dc:creator>
  <cp:lastModifiedBy>Jordan Larocque, Mr.</cp:lastModifiedBy>
  <cp:revision>64</cp:revision>
  <dcterms:created xsi:type="dcterms:W3CDTF">2016-01-22T14:51:00Z</dcterms:created>
  <dcterms:modified xsi:type="dcterms:W3CDTF">2021-08-18T16:46:23Z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0x01010059879ED8B4619441B91687DCDA02DA39</vt:lpwstr>
  </property>
  <property fmtid="{D5CDD505-2E9C-101B-9397-08002B2CF9AE}" pid="3" name="_dlc_DocIdItemGuid">
    <vt:lpwstr>7854b057-4ebf-435b-8657-63acaf55ccdc</vt:lpwstr>
  </property>
  <property fmtid="{D5CDD505-2E9C-101B-9397-08002B2CF9AE}" pid="4" name="ArticulateGUID">
    <vt:lpwstr>A7BECAEB-F12F-46DD-80CA-4A5D3808AE7C</vt:lpwstr>
  </property>
  <property fmtid="{D5CDD505-2E9C-101B-9397-08002B2CF9AE}" pid="5" name="ArticulatePath">
    <vt:lpwstr>CPD_Template_2019</vt:lpwstr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emplateUrl">
    <vt:lpwstr/>
  </property>
  <property fmtid="{D5CDD505-2E9C-101B-9397-08002B2CF9AE}" pid="9" name="ComplianceAssetId">
    <vt:lpwstr/>
  </property>
</Properties>
</file>