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0" r:id="rId4"/>
  </p:sldMasterIdLst>
  <p:notesMasterIdLst>
    <p:notesMasterId r:id="rId48"/>
  </p:notesMasterIdLst>
  <p:handoutMasterIdLst>
    <p:handoutMasterId r:id="rId49"/>
  </p:handoutMasterIdLst>
  <p:sldIdLst>
    <p:sldId id="265" r:id="rId5"/>
    <p:sldId id="261" r:id="rId6"/>
    <p:sldId id="405" r:id="rId7"/>
    <p:sldId id="407" r:id="rId8"/>
    <p:sldId id="408" r:id="rId9"/>
    <p:sldId id="409" r:id="rId10"/>
    <p:sldId id="373" r:id="rId11"/>
    <p:sldId id="374" r:id="rId12"/>
    <p:sldId id="375" r:id="rId13"/>
    <p:sldId id="401" r:id="rId14"/>
    <p:sldId id="1038" r:id="rId15"/>
    <p:sldId id="451" r:id="rId16"/>
    <p:sldId id="402" r:id="rId17"/>
    <p:sldId id="389" r:id="rId18"/>
    <p:sldId id="403" r:id="rId19"/>
    <p:sldId id="474" r:id="rId20"/>
    <p:sldId id="1041" r:id="rId21"/>
    <p:sldId id="404" r:id="rId22"/>
    <p:sldId id="464" r:id="rId23"/>
    <p:sldId id="456" r:id="rId24"/>
    <p:sldId id="513" r:id="rId25"/>
    <p:sldId id="457" r:id="rId26"/>
    <p:sldId id="458" r:id="rId27"/>
    <p:sldId id="459" r:id="rId28"/>
    <p:sldId id="388" r:id="rId29"/>
    <p:sldId id="391" r:id="rId30"/>
    <p:sldId id="406" r:id="rId31"/>
    <p:sldId id="410" r:id="rId32"/>
    <p:sldId id="411" r:id="rId33"/>
    <p:sldId id="413" r:id="rId34"/>
    <p:sldId id="416" r:id="rId35"/>
    <p:sldId id="417" r:id="rId36"/>
    <p:sldId id="418" r:id="rId37"/>
    <p:sldId id="420" r:id="rId38"/>
    <p:sldId id="421" r:id="rId39"/>
    <p:sldId id="423" r:id="rId40"/>
    <p:sldId id="424" r:id="rId41"/>
    <p:sldId id="425" r:id="rId42"/>
    <p:sldId id="414" r:id="rId43"/>
    <p:sldId id="415" r:id="rId44"/>
    <p:sldId id="426" r:id="rId45"/>
    <p:sldId id="427" r:id="rId46"/>
    <p:sldId id="394" r:id="rId47"/>
  </p:sldIdLst>
  <p:sldSz cx="12192000" cy="6858000"/>
  <p:notesSz cx="6934200" cy="9220200"/>
  <p:custDataLst>
    <p:tags r:id="rId5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cademic Tablet" initials="A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91C8D7"/>
    <a:srgbClr val="ED1B2F"/>
    <a:srgbClr val="8C8C8C"/>
    <a:srgbClr val="E43029"/>
    <a:srgbClr val="FF0000"/>
    <a:srgbClr val="698335"/>
    <a:srgbClr val="DFF1CB"/>
    <a:srgbClr val="EF5F5F"/>
    <a:srgbClr val="E6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6" autoAdjust="0"/>
    <p:restoredTop sz="78085" autoAdjust="0"/>
  </p:normalViewPr>
  <p:slideViewPr>
    <p:cSldViewPr>
      <p:cViewPr varScale="1">
        <p:scale>
          <a:sx n="79" d="100"/>
          <a:sy n="79" d="100"/>
        </p:scale>
        <p:origin x="1768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1632" y="24"/>
      </p:cViewPr>
      <p:guideLst>
        <p:guide orient="horz" pos="2904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tags" Target="tags/tag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574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574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DD28354E-E48C-49CC-8370-7D03834548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3845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defTabSz="923186">
              <a:defRPr sz="1200"/>
            </a:lvl1pPr>
          </a:lstStyle>
          <a:p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574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3700" y="692150"/>
            <a:ext cx="61468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22" y="4379901"/>
            <a:ext cx="5546758" cy="41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defTabSz="923186">
              <a:defRPr sz="1200"/>
            </a:lvl1pPr>
          </a:lstStyle>
          <a:p>
            <a:endParaRPr 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574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fld id="{87F161E8-846D-4747-B53A-F633A57CCB4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111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69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68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26E00-EEE8-124F-8524-3255E29AA7F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45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26E00-EEE8-124F-8524-3255E29AA7F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20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26529A8E-E239-430C-83A3-9FD9D76FB3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FF3BA23-ABA3-4F3D-8CEC-1404077B42E1}" type="slidenum">
              <a:rPr kumimoji="0" lang="en-US" altLang="en-US" sz="1300"/>
              <a:pPr eaLnBrk="1" hangingPunct="1">
                <a:spcBef>
                  <a:spcPct val="0"/>
                </a:spcBef>
              </a:pPr>
              <a:t>16</a:t>
            </a:fld>
            <a:endParaRPr kumimoji="0" lang="en-US" altLang="en-US" sz="13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82613E91-CAB9-49E7-A324-0442F79E3D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61988" y="831850"/>
            <a:ext cx="5991225" cy="3370263"/>
          </a:xfrm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CE098179-E18E-476B-AB39-EBEE6B1869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4564063"/>
            <a:ext cx="5537200" cy="4040187"/>
          </a:xfrm>
          <a:ln/>
        </p:spPr>
        <p:txBody>
          <a:bodyPr/>
          <a:lstStyle/>
          <a:p>
            <a:pPr marL="228600" indent="-228600" eaLnBrk="1" hangingPunct="1">
              <a:defRPr/>
            </a:pPr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439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E8F5A15E-E898-43EB-A4A9-EF1F45B66C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88866EA5-9736-4A04-B1B7-EF65E43E8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96593E1D-862E-4F3E-B4E1-AF3C81BF6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D87C490-5807-475B-8D06-499307495FCE}" type="slidenum">
              <a:rPr lang="en-US" altLang="en-US" sz="1300"/>
              <a:pPr eaLnBrk="1" hangingPunct="1"/>
              <a:t>17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2D0665DE-9CF3-439F-B87A-10D50EAC55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890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890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497EF87-415F-4A22-BECD-E68587688404}" type="slidenum">
              <a:rPr kumimoji="0" lang="en-US" altLang="en-US" sz="1300"/>
              <a:pPr eaLnBrk="1" hangingPunct="1">
                <a:spcBef>
                  <a:spcPct val="0"/>
                </a:spcBef>
              </a:pPr>
              <a:t>19</a:t>
            </a:fld>
            <a:endParaRPr kumimoji="0" lang="en-US" altLang="en-US" sz="13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415726F1-BB6A-41C9-9F4F-A108FF242A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0CA75AA0-06A8-417A-8CE5-ABD92BC17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488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2F8D8-5697-4827-9F3F-800BA250AB3C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625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2F8D8-5697-4827-9F3F-800BA250AB3C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900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 Examples</a:t>
            </a:r>
          </a:p>
          <a:p>
            <a:r>
              <a:rPr lang="en-US" dirty="0"/>
              <a:t> Functions, macros, classes, libraries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2F8D8-5697-4827-9F3F-800BA250AB3C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732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2F8D8-5697-4827-9F3F-800BA250AB3C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234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049000" y="6400800"/>
            <a:ext cx="9144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3468EA-74BA-7E40-BA51-C1DD4585DF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4"/>
            <a:ext cx="12192000" cy="68546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4384"/>
            <a:ext cx="9372600" cy="5053584"/>
          </a:xfrm>
          <a:noFill/>
        </p:spPr>
        <p:txBody>
          <a:bodyPr/>
          <a:lstStyle/>
          <a:p>
            <a:pPr lvl="0"/>
            <a:r>
              <a:rPr lang="en-US" dirty="0"/>
              <a:t>Click </a:t>
            </a:r>
            <a:r>
              <a:rPr lang="en-US" sz="3600" b="1" dirty="0" err="1">
                <a:solidFill>
                  <a:schemeClr val="tx1"/>
                </a:solidFill>
                <a:latin typeface="+mj-lt"/>
              </a:rPr>
              <a:t>Click</a:t>
            </a:r>
            <a:r>
              <a:rPr lang="en-US" sz="3600" b="1" dirty="0">
                <a:solidFill>
                  <a:schemeClr val="tx1"/>
                </a:solidFill>
                <a:latin typeface="+mj-lt"/>
              </a:rPr>
              <a:t> and type the Course Title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Course Number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Session Title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Instructor Name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937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990600"/>
            <a:ext cx="10972800" cy="51355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baseline="0"/>
            </a:lvl1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925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2286001"/>
            <a:ext cx="10972800" cy="38401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baseline="0"/>
            </a:lvl1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476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990600"/>
            <a:ext cx="6815667" cy="5135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990600"/>
            <a:ext cx="4011084" cy="5135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caption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121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Content with Caption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2362201"/>
            <a:ext cx="6815667" cy="3763963"/>
          </a:xfrm>
          <a:prstGeom prst="rect">
            <a:avLst/>
          </a:prstGeom>
        </p:spPr>
        <p:txBody>
          <a:bodyPr/>
          <a:lstStyle>
            <a:lvl1pPr>
              <a:defRPr sz="3200" baseline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2362201"/>
            <a:ext cx="4011084" cy="3763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caption text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250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38400" y="914400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and add picture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11200" y="5367338"/>
            <a:ext cx="10668000" cy="8048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rgbClr val="E43029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887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Picture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38400" y="2133600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and add picture</a:t>
            </a:r>
            <a:endParaRPr lang="en-CA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19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3505200"/>
            <a:ext cx="5283200" cy="259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and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1"/>
            <a:ext cx="11074400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4580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990600"/>
            <a:ext cx="5384800" cy="5135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990600"/>
            <a:ext cx="5384800" cy="5135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7655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08000" y="914400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1752601"/>
            <a:ext cx="5386917" cy="43735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7601" y="914400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68" y="1752601"/>
            <a:ext cx="5389033" cy="43735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7906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3158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443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3468EA-74BA-7E40-BA51-C1DD4585DF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4"/>
            <a:ext cx="12192000" cy="6854691"/>
          </a:xfrm>
          <a:prstGeom prst="rect">
            <a:avLst/>
          </a:prstGeom>
        </p:spPr>
      </p:pic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10668000" cy="141156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24F6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5790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discussion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1"/>
            <a:ext cx="11074400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Discussion text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3322027"/>
            <a:ext cx="6515100" cy="3228975"/>
          </a:xfrm>
          <a:prstGeom prst="rect">
            <a:avLst/>
          </a:prstGeom>
        </p:spPr>
      </p:pic>
      <p:sp>
        <p:nvSpPr>
          <p:cNvPr id="13" name="Rounded Rectangular Callout 12"/>
          <p:cNvSpPr/>
          <p:nvPr userDrawn="1"/>
        </p:nvSpPr>
        <p:spPr>
          <a:xfrm>
            <a:off x="3009900" y="3273595"/>
            <a:ext cx="8026400" cy="1600200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009900" y="3133217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3814109" y="3407226"/>
            <a:ext cx="7057092" cy="12409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0885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example text and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0"/>
            <a:ext cx="11074400" cy="3505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Case Example text</a:t>
            </a:r>
          </a:p>
        </p:txBody>
      </p:sp>
      <p:sp>
        <p:nvSpPr>
          <p:cNvPr id="13" name="Rounded Rectangular Callout 12"/>
          <p:cNvSpPr/>
          <p:nvPr userDrawn="1"/>
        </p:nvSpPr>
        <p:spPr>
          <a:xfrm>
            <a:off x="609600" y="4572000"/>
            <a:ext cx="8026400" cy="1359578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 userDrawn="1"/>
        </p:nvSpPr>
        <p:spPr>
          <a:xfrm>
            <a:off x="609600" y="4495801"/>
            <a:ext cx="101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1219201" y="4652664"/>
            <a:ext cx="7251700" cy="11385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0738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3322027"/>
            <a:ext cx="6515100" cy="3228975"/>
          </a:xfrm>
          <a:prstGeom prst="rect">
            <a:avLst/>
          </a:prstGeom>
        </p:spPr>
      </p:pic>
      <p:sp>
        <p:nvSpPr>
          <p:cNvPr id="12" name="Rounded Rectangular Callout 11"/>
          <p:cNvSpPr/>
          <p:nvPr userDrawn="1"/>
        </p:nvSpPr>
        <p:spPr>
          <a:xfrm>
            <a:off x="1237129" y="1519536"/>
            <a:ext cx="9144000" cy="2819382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320800" y="1447800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032000" y="1696286"/>
            <a:ext cx="8026400" cy="24185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9599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Respon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ular Callout 10"/>
          <p:cNvSpPr/>
          <p:nvPr userDrawn="1"/>
        </p:nvSpPr>
        <p:spPr>
          <a:xfrm>
            <a:off x="505288" y="916594"/>
            <a:ext cx="7825913" cy="2128813"/>
          </a:xfrm>
          <a:prstGeom prst="wedgeRoundRectCallout">
            <a:avLst>
              <a:gd name="adj1" fmla="val -3023"/>
              <a:gd name="adj2" fmla="val 84693"/>
              <a:gd name="adj3" fmla="val 16667"/>
            </a:avLst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1" y="3322027"/>
            <a:ext cx="6515100" cy="322897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609600" y="838201"/>
            <a:ext cx="101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7" name="Rounded Rectangular Callout 16"/>
          <p:cNvSpPr/>
          <p:nvPr userDrawn="1"/>
        </p:nvSpPr>
        <p:spPr>
          <a:xfrm>
            <a:off x="2743201" y="2200669"/>
            <a:ext cx="8872071" cy="2676692"/>
          </a:xfrm>
          <a:prstGeom prst="wedgeRoundRectCallout">
            <a:avLst/>
          </a:prstGeom>
          <a:gradFill>
            <a:gsLst>
              <a:gs pos="0">
                <a:srgbClr val="DFF1CB"/>
              </a:gs>
              <a:gs pos="80000">
                <a:schemeClr val="accent3"/>
              </a:gs>
              <a:gs pos="100000">
                <a:schemeClr val="accent3"/>
              </a:gs>
            </a:gsLst>
          </a:gradFill>
          <a:ln>
            <a:solidFill>
              <a:srgbClr val="698335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/>
          <p:cNvSpPr txBox="1"/>
          <p:nvPr userDrawn="1"/>
        </p:nvSpPr>
        <p:spPr>
          <a:xfrm>
            <a:off x="2844800" y="2124670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A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3588871" y="2438400"/>
            <a:ext cx="7587129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correct response.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05648" y="1004651"/>
            <a:ext cx="7022353" cy="1196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original question text.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7813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0" y="1752600"/>
            <a:ext cx="7620000" cy="3921919"/>
          </a:xfrm>
          <a:prstGeom prst="rect">
            <a:avLst/>
          </a:prstGeom>
        </p:spPr>
      </p:pic>
      <p:sp>
        <p:nvSpPr>
          <p:cNvPr id="8" name="Text Placeholder 8"/>
          <p:cNvSpPr txBox="1">
            <a:spLocks/>
          </p:cNvSpPr>
          <p:nvPr userDrawn="1"/>
        </p:nvSpPr>
        <p:spPr>
          <a:xfrm>
            <a:off x="304800" y="76200"/>
            <a:ext cx="11582400" cy="609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ct val="20000"/>
              </a:spcBef>
              <a:buFont typeface="Arial" pitchFamily="34" charset="0"/>
              <a:buNone/>
              <a:defRPr lang="en-US" sz="3700" b="1" kern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Verdana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00" dirty="0">
                <a:solidFill>
                  <a:schemeClr val="bg1"/>
                </a:solidFill>
              </a:rPr>
              <a:t>Break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34776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F5941-A94D-4C48-AE4B-0688A7954B21}" type="datetime1">
              <a:rPr lang="en-US" smtClean="0">
                <a:latin typeface="Arial"/>
              </a:rPr>
              <a:t>9/18/24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From Security in Computing, Fifth Edition, </a:t>
            </a:r>
            <a:r>
              <a:rPr lang="en-US" dirty="0">
                <a:latin typeface="Arial"/>
              </a:rPr>
              <a:t>by Charles P. </a:t>
            </a:r>
            <a:r>
              <a:rPr lang="en-US" dirty="0" err="1">
                <a:latin typeface="Arial"/>
              </a:rPr>
              <a:t>Pfleeger</a:t>
            </a:r>
            <a:r>
              <a:rPr lang="en-US" dirty="0">
                <a:latin typeface="Arial"/>
              </a:rPr>
              <a:t>, et al. (ISBN: 9780134085043). Copyright 2015 by Pearson Education,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24665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F846-E1CB-4C46-B31F-A764912F1061}" type="datetime1">
              <a:rPr lang="en-US" smtClean="0">
                <a:latin typeface="Arial"/>
              </a:rPr>
              <a:t>9/18/24</a:t>
            </a:fld>
            <a:endParaRPr lang="en-US"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1F0F2-74A4-EF40-82B3-DFFDF0BA3880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31731"/>
            <a:ext cx="12192000" cy="329184"/>
          </a:xfrm>
        </p:spPr>
        <p:txBody>
          <a:bodyPr/>
          <a:lstStyle>
            <a:lvl1pPr>
              <a:defRPr sz="9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From </a:t>
            </a:r>
            <a:r>
              <a:rPr lang="en-US" i="1" dirty="0"/>
              <a:t>Security in Computing, Fifth Edition</a:t>
            </a:r>
            <a:r>
              <a:rPr lang="en-US" dirty="0"/>
              <a:t>, by Charles P. </a:t>
            </a:r>
            <a:r>
              <a:rPr lang="en-US" dirty="0" err="1"/>
              <a:t>Pfleeger</a:t>
            </a:r>
            <a:r>
              <a:rPr lang="en-US" dirty="0"/>
              <a:t>, et al. (ISBN: 9780134085043). Copyright 2015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94074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 txBox="1">
            <a:spLocks/>
          </p:cNvSpPr>
          <p:nvPr userDrawn="1"/>
        </p:nvSpPr>
        <p:spPr>
          <a:xfrm>
            <a:off x="394770" y="936056"/>
            <a:ext cx="11402460" cy="5157240"/>
          </a:xfrm>
          <a:prstGeom prst="rect">
            <a:avLst/>
          </a:prstGeom>
          <a:solidFill>
            <a:schemeClr val="bg1">
              <a:alpha val="84000"/>
            </a:schemeClr>
          </a:solidFill>
          <a:ln w="38100" cmpd="sng">
            <a:noFill/>
            <a:prstDash val="solid"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rgbClr val="ED1529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CA" sz="1800" b="1" dirty="0"/>
          </a:p>
        </p:txBody>
      </p:sp>
      <p:sp>
        <p:nvSpPr>
          <p:cNvPr id="24" name="Title 1"/>
          <p:cNvSpPr txBox="1">
            <a:spLocks/>
          </p:cNvSpPr>
          <p:nvPr userDrawn="1"/>
        </p:nvSpPr>
        <p:spPr>
          <a:xfrm>
            <a:off x="0" y="6316809"/>
            <a:ext cx="12192000" cy="540000"/>
          </a:xfrm>
          <a:prstGeom prst="rect">
            <a:avLst/>
          </a:prstGeom>
          <a:solidFill>
            <a:srgbClr val="F0F0F0"/>
          </a:solidFill>
          <a:ln w="38100" cmpd="sng">
            <a:noFill/>
            <a:prstDash val="solid"/>
          </a:ln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rgbClr val="ED1529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CA" sz="3600" b="1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64" y="6453336"/>
            <a:ext cx="3298816" cy="306637"/>
          </a:xfrm>
          <a:prstGeom prst="rect">
            <a:avLst/>
          </a:prstGeom>
        </p:spPr>
      </p:pic>
      <p:sp>
        <p:nvSpPr>
          <p:cNvPr id="26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F0F0F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"/>
          </p:nvPr>
        </p:nvSpPr>
        <p:spPr>
          <a:xfrm>
            <a:off x="609600" y="990600"/>
            <a:ext cx="10972800" cy="513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11424592" y="6351711"/>
            <a:ext cx="839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FB1D6B-A3F5-4E70-95BC-32D49588B2FD}" type="slidenum">
              <a:rPr lang="en-US" sz="24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Calibri" pitchFamily="34" charset="0"/>
              </a:rPr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11280576" y="6427886"/>
            <a:ext cx="0" cy="31784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2"/>
    </p:custDataLst>
    <p:extLst>
      <p:ext uri="{BB962C8B-B14F-4D97-AF65-F5344CB8AC3E}">
        <p14:creationId xmlns:p14="http://schemas.microsoft.com/office/powerpoint/2010/main" val="319565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14" r:id="rId2"/>
    <p:sldLayoutId id="2147483857" r:id="rId3"/>
    <p:sldLayoutId id="2147483855" r:id="rId4"/>
    <p:sldLayoutId id="2147483858" r:id="rId5"/>
    <p:sldLayoutId id="2147483856" r:id="rId6"/>
    <p:sldLayoutId id="2147483859" r:id="rId7"/>
    <p:sldLayoutId id="2147483840" r:id="rId8"/>
    <p:sldLayoutId id="2147483815" r:id="rId9"/>
    <p:sldLayoutId id="2147483818" r:id="rId10"/>
    <p:sldLayoutId id="2147483816" r:id="rId11"/>
    <p:sldLayoutId id="2147483876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  <p:sldLayoutId id="2147483885" r:id="rId2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System Security</a:t>
            </a:r>
            <a:br>
              <a:rPr lang="en-US" dirty="0"/>
            </a:br>
            <a:r>
              <a:rPr lang="en-US" dirty="0"/>
              <a:t>CMIS 422</a:t>
            </a:r>
            <a:br>
              <a:rPr lang="en-US" dirty="0"/>
            </a:br>
            <a:r>
              <a:rPr lang="en-US" dirty="0"/>
              <a:t>Weaknesses in Programs</a:t>
            </a:r>
            <a:br>
              <a:rPr lang="en-US" dirty="0"/>
            </a:br>
            <a:r>
              <a:rPr lang="en-US" dirty="0"/>
              <a:t>Module 4</a:t>
            </a:r>
            <a:br>
              <a:rPr lang="en-US" dirty="0"/>
            </a:br>
            <a:br>
              <a:rPr lang="en-US" dirty="0"/>
            </a:br>
            <a:br>
              <a:rPr lang="en-US" sz="3100" dirty="0"/>
            </a:br>
            <a:r>
              <a:rPr lang="en-US" sz="3100" dirty="0"/>
              <a:t>Mona Taghavi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6746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135563"/>
          </a:xfrm>
        </p:spPr>
        <p:txBody>
          <a:bodyPr/>
          <a:lstStyle/>
          <a:p>
            <a:r>
              <a:rPr lang="en-US" dirty="0"/>
              <a:t>Memory organization, buffer overflows</a:t>
            </a:r>
          </a:p>
          <a:p>
            <a:r>
              <a:rPr lang="en-US" dirty="0"/>
              <a:t>Common programming bugs such as race conditions</a:t>
            </a:r>
          </a:p>
          <a:p>
            <a:pPr marL="0" indent="0">
              <a:buNone/>
            </a:pPr>
            <a:endParaRPr lang="en-US" sz="1050" dirty="0"/>
          </a:p>
          <a:p>
            <a:r>
              <a:rPr lang="en-US" dirty="0"/>
              <a:t>Malware and malware capabilities</a:t>
            </a:r>
          </a:p>
          <a:p>
            <a:r>
              <a:rPr lang="en-US" dirty="0"/>
              <a:t>Countermeasures - Defensive programming </a:t>
            </a:r>
          </a:p>
          <a:p>
            <a:endParaRPr lang="en-US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lvl="1">
              <a:buClr>
                <a:srgbClr val="0070C0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Overview</a:t>
            </a:r>
          </a:p>
        </p:txBody>
      </p:sp>
    </p:spTree>
    <p:extLst>
      <p:ext uri="{BB962C8B-B14F-4D97-AF65-F5344CB8AC3E}">
        <p14:creationId xmlns:p14="http://schemas.microsoft.com/office/powerpoint/2010/main" val="4225582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710D00-9B8B-1881-87C1-91994D485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657" y="0"/>
            <a:ext cx="12192000" cy="684000"/>
          </a:xfrm>
        </p:spPr>
        <p:txBody>
          <a:bodyPr/>
          <a:lstStyle/>
          <a:p>
            <a:r>
              <a:rPr lang="en-US" dirty="0"/>
              <a:t>Buffer Overflow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42D6F7-9283-32CC-78BD-00653A9BB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735931"/>
            <a:ext cx="106680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449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1DDC73-2884-8E95-DA0E-69603C4BB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 dirty="0"/>
              <a:t>Buffer Overflow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9B691C-9C67-8373-ACCD-A1D62BFAE7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2650" y="1164431"/>
            <a:ext cx="5346700" cy="478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25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B45692-6C38-0D05-C0F9-8F68A2AE4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1750" y="1088231"/>
            <a:ext cx="4508500" cy="49403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38BF33A-F3AF-36A4-5D70-B7C9290E6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organization</a:t>
            </a:r>
          </a:p>
        </p:txBody>
      </p:sp>
    </p:spTree>
    <p:extLst>
      <p:ext uri="{BB962C8B-B14F-4D97-AF65-F5344CB8AC3E}">
        <p14:creationId xmlns:p14="http://schemas.microsoft.com/office/powerpoint/2010/main" val="1876582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00834A5-7C35-342A-7318-014C6F40B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68700" y="1113631"/>
            <a:ext cx="5054600" cy="48895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397F855-2E98-AA1A-654E-CAD50594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 buffer can overflow</a:t>
            </a:r>
          </a:p>
        </p:txBody>
      </p:sp>
    </p:spTree>
    <p:extLst>
      <p:ext uri="{BB962C8B-B14F-4D97-AF65-F5344CB8AC3E}">
        <p14:creationId xmlns:p14="http://schemas.microsoft.com/office/powerpoint/2010/main" val="2911060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>
              <a:latin typeface="Arial"/>
            </a:endParaRPr>
          </a:p>
        </p:txBody>
      </p:sp>
      <p:pic>
        <p:nvPicPr>
          <p:cNvPr id="12" name="Picture 11" descr="fig03-13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992" y="2463408"/>
            <a:ext cx="7954772" cy="3414548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Time-of-Check to Time-of-Use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8D66C-9408-8286-8251-B98713FD4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309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Conditions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>
              <a:latin typeface="Arial"/>
            </a:endParaRPr>
          </a:p>
        </p:txBody>
      </p:sp>
      <p:pic>
        <p:nvPicPr>
          <p:cNvPr id="6" name="Content Placeholder 5" descr="fig03-16.eps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511" b="1458"/>
          <a:stretch/>
        </p:blipFill>
        <p:spPr>
          <a:xfrm>
            <a:off x="2098414" y="914400"/>
            <a:ext cx="7995172" cy="5029200"/>
          </a:xfrm>
        </p:spPr>
      </p:pic>
    </p:spTree>
    <p:extLst>
      <p:ext uri="{BB962C8B-B14F-4D97-AF65-F5344CB8AC3E}">
        <p14:creationId xmlns:p14="http://schemas.microsoft.com/office/powerpoint/2010/main" val="966655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Conditions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>
              <a:latin typeface="Arial"/>
            </a:endParaRPr>
          </a:p>
        </p:txBody>
      </p:sp>
      <p:pic>
        <p:nvPicPr>
          <p:cNvPr id="8" name="Content Placeholder 7" descr="fig03-17.eps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236" b="-1843"/>
          <a:stretch/>
        </p:blipFill>
        <p:spPr>
          <a:xfrm>
            <a:off x="2946442" y="883920"/>
            <a:ext cx="6299115" cy="5212080"/>
          </a:xfrm>
        </p:spPr>
      </p:pic>
    </p:spTree>
    <p:extLst>
      <p:ext uri="{BB962C8B-B14F-4D97-AF65-F5344CB8AC3E}">
        <p14:creationId xmlns:p14="http://schemas.microsoft.com/office/powerpoint/2010/main" val="288924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Malware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US" dirty="0"/>
              <a:t>Programs planted by an agent with malicious intent to cause unanticipated or undesired effects</a:t>
            </a:r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What is a Malware?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10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1561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2D58F-39AB-4E34-B9BA-D9B2FBA82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Malwares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2AC9A-A506-4715-96AB-D40B2EAA7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3479" y="1690688"/>
            <a:ext cx="11242222" cy="4667250"/>
          </a:xfrm>
        </p:spPr>
        <p:txBody>
          <a:bodyPr>
            <a:normAutofit fontScale="85000" lnSpcReduction="20000"/>
          </a:bodyPr>
          <a:lstStyle/>
          <a:p>
            <a:pPr lvl="3"/>
            <a:r>
              <a:rPr lang="en-US" sz="2600" dirty="0"/>
              <a:t>Malware is the general term for malicious software. </a:t>
            </a:r>
          </a:p>
          <a:p>
            <a:pPr lvl="3"/>
            <a:r>
              <a:rPr lang="en-US" sz="2600" dirty="0"/>
              <a:t>Malware can do a lot of damage:</a:t>
            </a:r>
          </a:p>
          <a:p>
            <a:pPr lvl="4"/>
            <a:r>
              <a:rPr lang="en-US" sz="2600" dirty="0"/>
              <a:t>Erase files</a:t>
            </a:r>
          </a:p>
          <a:p>
            <a:pPr lvl="4"/>
            <a:r>
              <a:rPr lang="en-US" sz="2600" dirty="0"/>
              <a:t>Deny access to files</a:t>
            </a:r>
          </a:p>
          <a:p>
            <a:pPr lvl="4"/>
            <a:r>
              <a:rPr lang="en-US" sz="2600" dirty="0"/>
              <a:t>Create popups</a:t>
            </a:r>
          </a:p>
          <a:p>
            <a:pPr lvl="4"/>
            <a:r>
              <a:rPr lang="en-US" sz="2600" dirty="0"/>
              <a:t>Track keystrokes</a:t>
            </a:r>
          </a:p>
          <a:p>
            <a:pPr lvl="4"/>
            <a:r>
              <a:rPr lang="en-US" sz="2600" dirty="0"/>
              <a:t>Turn computer into spam email server</a:t>
            </a:r>
          </a:p>
          <a:p>
            <a:pPr lvl="4"/>
            <a:r>
              <a:rPr lang="en-US" sz="2600" dirty="0"/>
              <a:t>Disable computer completely</a:t>
            </a:r>
          </a:p>
          <a:p>
            <a:pPr lvl="3"/>
            <a:r>
              <a:rPr lang="en-US" sz="2600" dirty="0"/>
              <a:t>Malware can be spread through:</a:t>
            </a:r>
          </a:p>
          <a:p>
            <a:pPr lvl="4"/>
            <a:r>
              <a:rPr lang="en-US" sz="2600" dirty="0"/>
              <a:t>Email attachments</a:t>
            </a:r>
          </a:p>
          <a:p>
            <a:pPr lvl="4"/>
            <a:r>
              <a:rPr lang="en-US" sz="2600" dirty="0"/>
              <a:t>USB drives</a:t>
            </a:r>
          </a:p>
          <a:p>
            <a:pPr lvl="4"/>
            <a:r>
              <a:rPr lang="en-US" sz="2600" dirty="0"/>
              <a:t>Programs downloaded off the internet</a:t>
            </a:r>
          </a:p>
          <a:p>
            <a:pPr lvl="4"/>
            <a:r>
              <a:rPr lang="en-US" sz="2600" dirty="0"/>
              <a:t>Hackers exploiting vulnerabilities in programs running on your computer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234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5793F10B-3735-42F4-98E1-278AA39B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Malware Features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34506DFB-666F-4CAA-9F5F-66C452687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/>
              <a:t>Infectious: </a:t>
            </a:r>
          </a:p>
          <a:p>
            <a:pPr lvl="1"/>
            <a:r>
              <a:rPr lang="en-US" altLang="en-US" sz="2000"/>
              <a:t>Viruses, worms</a:t>
            </a:r>
          </a:p>
          <a:p>
            <a:r>
              <a:rPr lang="en-US" altLang="en-US" sz="2400"/>
              <a:t>Concealment: </a:t>
            </a:r>
          </a:p>
          <a:p>
            <a:pPr lvl="1"/>
            <a:r>
              <a:rPr lang="en-US" altLang="en-US" sz="2000"/>
              <a:t>Trojan horses, logic bombs, rootkits</a:t>
            </a:r>
          </a:p>
          <a:p>
            <a:r>
              <a:rPr lang="en-US" altLang="en-US" sz="2400"/>
              <a:t>Malware for stealing information:</a:t>
            </a:r>
          </a:p>
          <a:p>
            <a:pPr lvl="1"/>
            <a:r>
              <a:rPr lang="en-US" altLang="en-US" sz="2000"/>
              <a:t>Spyware, keyloggers, screen scrapers</a:t>
            </a:r>
          </a:p>
          <a:p>
            <a:r>
              <a:rPr lang="en-US" altLang="en-US" sz="2400"/>
              <a:t>Malware for profit:</a:t>
            </a:r>
          </a:p>
          <a:p>
            <a:pPr lvl="1"/>
            <a:r>
              <a:rPr lang="en-US" altLang="en-US" sz="2000"/>
              <a:t>Dialers, scarewares, ransomware</a:t>
            </a:r>
          </a:p>
          <a:p>
            <a:r>
              <a:rPr lang="en-US" altLang="en-US" sz="2400"/>
              <a:t>Malware as platform for other attacks</a:t>
            </a:r>
          </a:p>
          <a:p>
            <a:pPr lvl="1"/>
            <a:r>
              <a:rPr lang="en-US" altLang="en-US" sz="2000"/>
              <a:t>Botnets, backdoors (trapdoors) </a:t>
            </a:r>
          </a:p>
          <a:p>
            <a:r>
              <a:rPr lang="en-US" altLang="en-US" sz="2400"/>
              <a:t>Many malwares have characteristics of multiple types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82E0B-3306-4F8E-8EF2-78D1EB21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FE7120B-8688-4767-86DF-91D1AB7534D6}" type="slidenum">
              <a:rPr lang="en-US" altLang="en-US" sz="1400">
                <a:solidFill>
                  <a:srgbClr val="254C9C"/>
                </a:solidFill>
                <a:latin typeface="Arial" panose="020B0604020202020204" pitchFamily="34" charset="0"/>
              </a:rPr>
              <a:pPr eaLnBrk="1" hangingPunct="1"/>
              <a:t>12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Malware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A program that can replicate itself and pass on malicious code to other </a:t>
            </a:r>
            <a:r>
              <a:rPr lang="en-US" dirty="0" err="1"/>
              <a:t>nonmalicious</a:t>
            </a:r>
            <a:r>
              <a:rPr lang="en-US" dirty="0"/>
              <a:t> programs by modifying them</a:t>
            </a:r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What is a Virus?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13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814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Virus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Virus scanners look for signs of malicious code infection using signatures in program files and memory</a:t>
            </a:r>
          </a:p>
          <a:p>
            <a:endParaRPr lang="en-US" sz="1000" dirty="0"/>
          </a:p>
          <a:p>
            <a:pPr marL="0" indent="0">
              <a:buNone/>
            </a:pPr>
            <a:r>
              <a:rPr lang="en-US" dirty="0"/>
              <a:t>Traditional virus scanners have trouble keeping up with new malware—detect about 45% of infections</a:t>
            </a:r>
          </a:p>
          <a:p>
            <a:endParaRPr lang="en-US" sz="1000" dirty="0"/>
          </a:p>
          <a:p>
            <a:pPr marL="0" indent="0">
              <a:buNone/>
            </a:pPr>
            <a:r>
              <a:rPr lang="en-US" dirty="0"/>
              <a:t>Detection mechanisms: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Known string patterns in files or memory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Execution patterns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Storage patterns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14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3649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Malware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A program that spreads copies of itself through a network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What is a Worm?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15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043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74323-B7B1-4466-A8D5-940A00D5F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262AA19-AEE8-48E1-8113-E9935BBE88F0}" type="slidenum">
              <a:rPr lang="en-US" altLang="en-US" sz="1400">
                <a:solidFill>
                  <a:srgbClr val="254C9C"/>
                </a:solidFill>
                <a:latin typeface="Arial" panose="020B0604020202020204" pitchFamily="34" charset="0"/>
              </a:rPr>
              <a:pPr eaLnBrk="1" hangingPunct="1"/>
              <a:t>16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22A9736B-E32C-4CA6-A449-DA5D9A9E09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altLang="en-US" sz="4000" dirty="0"/>
              <a:t>Morris Worm (November 1988)</a:t>
            </a:r>
          </a:p>
        </p:txBody>
      </p:sp>
      <p:sp>
        <p:nvSpPr>
          <p:cNvPr id="28678" name="Rectangle 3">
            <a:extLst>
              <a:ext uri="{FF2B5EF4-FFF2-40B4-BE49-F238E27FC236}">
                <a16:creationId xmlns:a16="http://schemas.microsoft.com/office/drawing/2014/main" id="{A48CFC66-708C-4BF9-BBCE-3CCA5E5617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371599"/>
            <a:ext cx="6629400" cy="4114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GB" altLang="en-US" dirty="0"/>
              <a:t>First major worm</a:t>
            </a:r>
          </a:p>
          <a:p>
            <a:pPr eaLnBrk="1" hangingPunct="1"/>
            <a:r>
              <a:rPr lang="en-GB" altLang="en-US" dirty="0"/>
              <a:t>Written by Robert Morris</a:t>
            </a:r>
          </a:p>
          <a:p>
            <a:pPr lvl="1" eaLnBrk="1" hangingPunct="1"/>
            <a:r>
              <a:rPr lang="en-GB" altLang="en-US" dirty="0"/>
              <a:t>Son of former chief scientist of NSA’s National Computer Security </a:t>
            </a:r>
            <a:r>
              <a:rPr lang="en-GB" altLang="en-US" dirty="0" err="1"/>
              <a:t>Center</a:t>
            </a:r>
            <a:endParaRPr lang="en-GB" altLang="en-US" dirty="0"/>
          </a:p>
          <a:p>
            <a:pPr lvl="1"/>
            <a:r>
              <a:rPr lang="en-US" altLang="en-US" dirty="0"/>
              <a:t>Infected approximately 6,000 machines</a:t>
            </a:r>
          </a:p>
          <a:p>
            <a:pPr lvl="2"/>
            <a:r>
              <a:rPr lang="en-US" altLang="en-US" dirty="0"/>
              <a:t>10% of computers connected to the Internet </a:t>
            </a:r>
          </a:p>
          <a:p>
            <a:pPr lvl="1"/>
            <a:r>
              <a:rPr lang="en-US" altLang="en-US" dirty="0"/>
              <a:t>cost ~ $10 million in downtime and cleanup</a:t>
            </a:r>
          </a:p>
          <a:p>
            <a:endParaRPr lang="en-GB" altLang="en-US" dirty="0"/>
          </a:p>
          <a:p>
            <a:pPr lvl="2" eaLnBrk="1" hangingPunct="1"/>
            <a:endParaRPr lang="en-GB" altLang="en-US" dirty="0"/>
          </a:p>
        </p:txBody>
      </p:sp>
      <p:pic>
        <p:nvPicPr>
          <p:cNvPr id="28679" name="Picture 7">
            <a:extLst>
              <a:ext uri="{FF2B5EF4-FFF2-40B4-BE49-F238E27FC236}">
                <a16:creationId xmlns:a16="http://schemas.microsoft.com/office/drawing/2014/main" id="{60222991-A1FC-4D6F-B36F-5B31CB4E3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769143"/>
            <a:ext cx="3657600" cy="531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3750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AF3E5-BEAF-4E5C-AE55-C3471C8B4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C13E126-6160-4F04-BADA-F994F6202270}" type="slidenum">
              <a:rPr lang="en-US" altLang="en-US" sz="1400">
                <a:solidFill>
                  <a:srgbClr val="254C9C"/>
                </a:solidFill>
                <a:latin typeface="Arial" panose="020B0604020202020204" pitchFamily="34" charset="0"/>
              </a:rPr>
              <a:pPr eaLnBrk="1" hangingPunct="1"/>
              <a:t>17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25605" name="Rectangle 2">
            <a:extLst>
              <a:ext uri="{FF2B5EF4-FFF2-40B4-BE49-F238E27FC236}">
                <a16:creationId xmlns:a16="http://schemas.microsoft.com/office/drawing/2014/main" id="{97407C29-875E-4D30-8046-E6B07A0C4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Email Worms: Spreading as Email Attachments</a:t>
            </a:r>
          </a:p>
        </p:txBody>
      </p:sp>
      <p:sp>
        <p:nvSpPr>
          <p:cNvPr id="25606" name="Rectangle 3">
            <a:extLst>
              <a:ext uri="{FF2B5EF4-FFF2-40B4-BE49-F238E27FC236}">
                <a16:creationId xmlns:a16="http://schemas.microsoft.com/office/drawing/2014/main" id="{0239C34A-5EB6-4C20-B141-B440DD6907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458200" cy="41148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Love Bug worm (ILOVEYOU worm) (2000):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May 3, 2000: 5.5 to 10 billion dollars in damage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MyDoom worm (2004)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First identified in 26 January 2004: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On 1 February 2004, about 1 million computers infected with Mydoom begin a massive DDoS attack against the SCO group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Storm worm &amp; Storm botnet (2007)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Identified  on January 17 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gathering infected computers into the Storm botnet.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By around June 30</a:t>
            </a:r>
            <a:r>
              <a:rPr lang="en-US" altLang="en-US" baseline="30000"/>
              <a:t>th</a:t>
            </a:r>
            <a:r>
              <a:rPr lang="en-US" altLang="en-US"/>
              <a:t> infected 1.7 million computers,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By September, has between 1 and 10 million bots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Malware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Code that, in addition to its stated effect, has a second, nonobvious, malicious effect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What is a Trojan horse?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18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058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1B011D-BE13-4EC1-B9B2-10BF82B0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DC46187-897E-4521-A9D3-014AC7A79E44}" type="slidenum">
              <a:rPr lang="en-US" altLang="en-US" sz="1400">
                <a:solidFill>
                  <a:srgbClr val="254C9C"/>
                </a:solidFill>
                <a:latin typeface="Arial" panose="020B0604020202020204" pitchFamily="34" charset="0"/>
              </a:rPr>
              <a:pPr eaLnBrk="1" hangingPunct="1"/>
              <a:t>19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C715717B-DE83-4CC0-8EDF-7243BE6CFC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Logic Bomb</a:t>
            </a:r>
          </a:p>
        </p:txBody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6505DFFA-F58B-41F4-88A8-FDE6546719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90739" y="1752600"/>
            <a:ext cx="8302625" cy="4267200"/>
          </a:xfrm>
        </p:spPr>
        <p:txBody>
          <a:bodyPr/>
          <a:lstStyle/>
          <a:p>
            <a:pPr eaLnBrk="1" hangingPunct="1"/>
            <a:r>
              <a:rPr lang="en-US" altLang="en-US"/>
              <a:t>Embedded in legitimate programs</a:t>
            </a:r>
          </a:p>
          <a:p>
            <a:pPr eaLnBrk="1" hangingPunct="1"/>
            <a:r>
              <a:rPr lang="en-US" altLang="en-US"/>
              <a:t>Activated when specified conditions met</a:t>
            </a:r>
          </a:p>
          <a:p>
            <a:pPr lvl="1" eaLnBrk="1" hangingPunct="1"/>
            <a:r>
              <a:rPr lang="en-US" altLang="en-US"/>
              <a:t>E.g., presence/absence of some file; Particular date/time or particular user</a:t>
            </a:r>
          </a:p>
          <a:p>
            <a:pPr eaLnBrk="1" hangingPunct="1"/>
            <a:r>
              <a:rPr lang="en-US" altLang="en-US"/>
              <a:t>When triggered, typically damages system</a:t>
            </a:r>
          </a:p>
          <a:p>
            <a:pPr lvl="1" eaLnBrk="1" hangingPunct="1"/>
            <a:r>
              <a:rPr lang="en-US" altLang="en-US"/>
              <a:t>Modify/delete files/disks</a:t>
            </a:r>
          </a:p>
        </p:txBody>
      </p:sp>
      <p:pic>
        <p:nvPicPr>
          <p:cNvPr id="19463" name="Picture 4" descr="bd06207_">
            <a:extLst>
              <a:ext uri="{FF2B5EF4-FFF2-40B4-BE49-F238E27FC236}">
                <a16:creationId xmlns:a16="http://schemas.microsoft.com/office/drawing/2014/main" id="{FB39CEF0-0A20-4319-8942-6134D35B0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26" y="1"/>
            <a:ext cx="14763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4B4DACD9-D510-48DB-B531-41B2B4137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Adware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8875D468-DC5A-4C1A-BE28-CCB1D369F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Serves advertisements in the computer of the user</a:t>
            </a:r>
          </a:p>
          <a:p>
            <a:pPr lvl="1"/>
            <a:r>
              <a:rPr lang="en-US" altLang="en-US" dirty="0"/>
              <a:t>Earn revenues by clicks or visits</a:t>
            </a:r>
          </a:p>
          <a:p>
            <a:pPr lvl="1"/>
            <a:r>
              <a:rPr lang="en-US" altLang="en-US" dirty="0"/>
              <a:t>It can records the users activities and act as spyware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669D6-86C8-48D6-B800-A8ACE494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0B3CB96-73CC-463B-A9A0-760567FF7BD4}" type="slidenum">
              <a:rPr lang="en-US" altLang="en-US" sz="1400">
                <a:solidFill>
                  <a:srgbClr val="254C9C"/>
                </a:solidFill>
                <a:latin typeface="Arial" panose="020B0604020202020204" pitchFamily="34" charset="0"/>
              </a:rPr>
              <a:pPr eaLnBrk="1" hangingPunct="1"/>
              <a:t>20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B0C566-4732-40CD-9212-E8A52E8DE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21" y="4558062"/>
            <a:ext cx="9658350" cy="229993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4B4DACD9-D510-48DB-B531-41B2B4137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Spyware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8875D468-DC5A-4C1A-BE28-CCB1D369F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572532"/>
            <a:ext cx="10515600" cy="4351338"/>
          </a:xfrm>
        </p:spPr>
        <p:txBody>
          <a:bodyPr/>
          <a:lstStyle/>
          <a:p>
            <a:r>
              <a:rPr lang="en-US" altLang="en-US" dirty="0"/>
              <a:t>Malware that collects little bits of information at a time about users without their knowledge</a:t>
            </a:r>
          </a:p>
          <a:p>
            <a:pPr lvl="1"/>
            <a:r>
              <a:rPr lang="en-US" altLang="en-US" dirty="0"/>
              <a:t>Keyloggers: </a:t>
            </a:r>
            <a:r>
              <a:rPr lang="en-US" altLang="en-US" dirty="0" err="1"/>
              <a:t>stealthly</a:t>
            </a:r>
            <a:r>
              <a:rPr lang="en-US" altLang="en-US" dirty="0"/>
              <a:t> tracking and logging key strokes</a:t>
            </a:r>
          </a:p>
          <a:p>
            <a:pPr lvl="1"/>
            <a:r>
              <a:rPr lang="en-US" altLang="en-US" dirty="0"/>
              <a:t>Screen scrapers: </a:t>
            </a:r>
            <a:r>
              <a:rPr lang="en-US" altLang="en-US" dirty="0" err="1"/>
              <a:t>stealthly</a:t>
            </a:r>
            <a:r>
              <a:rPr lang="en-US" altLang="en-US" dirty="0"/>
              <a:t> reading data from a computer display</a:t>
            </a:r>
          </a:p>
          <a:p>
            <a:pPr lvl="1"/>
            <a:r>
              <a:rPr lang="en-US" altLang="en-US" dirty="0"/>
              <a:t>May also tracking browsing habit</a:t>
            </a:r>
          </a:p>
          <a:p>
            <a:pPr lvl="1"/>
            <a:r>
              <a:rPr lang="en-US" altLang="en-US" dirty="0"/>
              <a:t>May also re-direct browsing and</a:t>
            </a:r>
          </a:p>
          <a:p>
            <a:pPr marL="457200" lvl="1" indent="0">
              <a:buNone/>
            </a:pPr>
            <a:r>
              <a:rPr lang="en-US" altLang="en-US" dirty="0"/>
              <a:t> display ads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669D6-86C8-48D6-B800-A8ACE494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0B3CB96-73CC-463B-A9A0-760567FF7BD4}" type="slidenum">
              <a:rPr lang="en-US" altLang="en-US" sz="1400">
                <a:solidFill>
                  <a:srgbClr val="254C9C"/>
                </a:solidFill>
                <a:latin typeface="Arial" panose="020B0604020202020204" pitchFamily="34" charset="0"/>
              </a:rPr>
              <a:pPr eaLnBrk="1" hangingPunct="1"/>
              <a:t>21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C0B7CE-099C-46F8-BC88-3EDE8C8B3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3784824"/>
            <a:ext cx="5638800" cy="307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468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C41219B3-42F7-4FAD-A4E5-514B8149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Scareware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38384882-3D77-4738-B834-81CA8CA99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24000"/>
            <a:ext cx="8686800" cy="4114800"/>
          </a:xfrm>
        </p:spPr>
        <p:txBody>
          <a:bodyPr/>
          <a:lstStyle/>
          <a:p>
            <a:r>
              <a:rPr lang="en-US" altLang="en-US"/>
              <a:t>Malware that scares victims into take actions that ultimately end up compromising our own security. </a:t>
            </a:r>
          </a:p>
          <a:p>
            <a:pPr lvl="1"/>
            <a:r>
              <a:rPr lang="en-US" altLang="en-US"/>
              <a:t>E.g., paying for and installing fake anti-virus products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1AAD2-82AA-43D8-A33E-86B713364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A0A5DDC-04A4-410A-8A41-33C3AD90AAEA}" type="slidenum">
              <a:rPr lang="en-US" altLang="en-US" sz="1400">
                <a:solidFill>
                  <a:srgbClr val="254C9C"/>
                </a:solidFill>
                <a:latin typeface="Arial" panose="020B0604020202020204" pitchFamily="34" charset="0"/>
              </a:rPr>
              <a:pPr eaLnBrk="1" hangingPunct="1"/>
              <a:t>22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A5E56-868E-495C-8E5C-8128108F8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Topic 9: Malware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E3B6D-B253-4C3A-A66A-C1D0A4AE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1A1768D-AF67-4851-AA97-2099DD710D2A}" type="slidenum">
              <a:rPr lang="en-US" altLang="en-US" sz="1400">
                <a:solidFill>
                  <a:srgbClr val="254C9C"/>
                </a:solidFill>
                <a:latin typeface="Arial" panose="020B0604020202020204" pitchFamily="34" charset="0"/>
              </a:rPr>
              <a:pPr eaLnBrk="1" hangingPunct="1"/>
              <a:t>23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pic>
        <p:nvPicPr>
          <p:cNvPr id="23557" name="Picture 2">
            <a:extLst>
              <a:ext uri="{FF2B5EF4-FFF2-40B4-BE49-F238E27FC236}">
                <a16:creationId xmlns:a16="http://schemas.microsoft.com/office/drawing/2014/main" id="{5292F31D-B532-4664-A928-4A9E77528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941" y="136525"/>
            <a:ext cx="8289471" cy="673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EC08117B-1414-42E2-BD25-7513AE173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Ransomware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157D45EB-8CA5-4E65-A4D9-B5EE47CD5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Holds a computer system, or the data it contains, hostage against its user by demanding a ransom.</a:t>
            </a:r>
          </a:p>
          <a:p>
            <a:pPr lvl="1"/>
            <a:r>
              <a:rPr lang="en-US" altLang="en-US" sz="2000" dirty="0"/>
              <a:t>Disable an essential system service or lock the display at system startup</a:t>
            </a:r>
          </a:p>
          <a:p>
            <a:pPr lvl="1"/>
            <a:r>
              <a:rPr lang="en-US" altLang="en-US" sz="2000" dirty="0"/>
              <a:t>Encrypt some of the user's personal files, originally referred to as </a:t>
            </a:r>
            <a:r>
              <a:rPr lang="en-US" altLang="en-US" sz="2000" b="1" dirty="0" err="1"/>
              <a:t>cryptoviruses</a:t>
            </a:r>
            <a:r>
              <a:rPr lang="en-US" altLang="en-US" sz="2000" dirty="0"/>
              <a:t>, </a:t>
            </a:r>
            <a:r>
              <a:rPr lang="en-US" altLang="en-US" sz="2000" b="1" dirty="0" err="1"/>
              <a:t>cryptotrojans</a:t>
            </a:r>
            <a:r>
              <a:rPr lang="en-US" altLang="en-US" sz="2000" dirty="0"/>
              <a:t> or </a:t>
            </a:r>
            <a:r>
              <a:rPr lang="en-US" altLang="en-US" sz="2000" b="1" dirty="0" err="1"/>
              <a:t>cryptoworms</a:t>
            </a:r>
            <a:endParaRPr lang="en-US" altLang="en-US" sz="2400" dirty="0"/>
          </a:p>
          <a:p>
            <a:r>
              <a:rPr lang="en-US" altLang="en-US" sz="2400" dirty="0"/>
              <a:t>Victim user has to </a:t>
            </a:r>
          </a:p>
          <a:p>
            <a:pPr lvl="1"/>
            <a:r>
              <a:rPr lang="en-US" altLang="en-US" sz="2000" dirty="0"/>
              <a:t>enter a code obtainable only after</a:t>
            </a:r>
          </a:p>
          <a:p>
            <a:pPr marL="457200" lvl="1" indent="0">
              <a:buNone/>
            </a:pPr>
            <a:r>
              <a:rPr lang="en-US" altLang="en-US" sz="2000" dirty="0"/>
              <a:t> wiring payment to the attacker </a:t>
            </a:r>
          </a:p>
          <a:p>
            <a:pPr marL="457200" lvl="1" indent="0">
              <a:buNone/>
            </a:pPr>
            <a:endParaRPr lang="en-US" altLang="en-US" sz="20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D7A7B-00D1-4FE8-ACD9-7444E4E42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8D40839-AC83-4048-97E2-AFEC3542A26D}" type="slidenum">
              <a:rPr lang="en-US" altLang="en-US" sz="1400">
                <a:solidFill>
                  <a:srgbClr val="254C9C"/>
                </a:solidFill>
                <a:latin typeface="Arial" panose="020B0604020202020204" pitchFamily="34" charset="0"/>
              </a:rPr>
              <a:pPr eaLnBrk="1" hangingPunct="1"/>
              <a:t>24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D1D35B-99CA-4577-8D29-C8B1282D6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071" y="4044359"/>
            <a:ext cx="7102929" cy="281364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Countermeasures for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0"/>
            <a:ext cx="10058400" cy="3886200"/>
          </a:xfrm>
        </p:spPr>
        <p:txBody>
          <a:bodyPr>
            <a:normAutofit/>
          </a:bodyPr>
          <a:lstStyle/>
          <a:p>
            <a:r>
              <a:rPr lang="en-US" dirty="0"/>
              <a:t>Use software acquired from reliable sources</a:t>
            </a:r>
          </a:p>
          <a:p>
            <a:endParaRPr lang="en-US" sz="1000" dirty="0"/>
          </a:p>
          <a:p>
            <a:r>
              <a:rPr lang="en-US" dirty="0"/>
              <a:t>Test software in an isolated environment</a:t>
            </a:r>
          </a:p>
          <a:p>
            <a:endParaRPr lang="en-US" sz="1000" dirty="0"/>
          </a:p>
          <a:p>
            <a:r>
              <a:rPr lang="en-US" dirty="0"/>
              <a:t>Only open attachments when you know them to be safe</a:t>
            </a:r>
          </a:p>
          <a:p>
            <a:endParaRPr lang="en-US" sz="1000" dirty="0"/>
          </a:p>
          <a:p>
            <a:r>
              <a:rPr lang="en-US" dirty="0"/>
              <a:t>Treat every website as potentially harmful</a:t>
            </a:r>
          </a:p>
          <a:p>
            <a:endParaRPr lang="en-US" sz="1000" dirty="0"/>
          </a:p>
          <a:p>
            <a:r>
              <a:rPr lang="en-US" dirty="0"/>
              <a:t>Create and maintain backups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25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003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Countermeasures for Developers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90600"/>
            <a:ext cx="7848600" cy="5135563"/>
          </a:xfrm>
        </p:spPr>
        <p:txBody>
          <a:bodyPr>
            <a:normAutofit/>
          </a:bodyPr>
          <a:lstStyle/>
          <a:p>
            <a:r>
              <a:rPr lang="en-US" dirty="0"/>
              <a:t>Defensive programming</a:t>
            </a:r>
          </a:p>
          <a:p>
            <a:r>
              <a:rPr lang="en-US" dirty="0"/>
              <a:t>Modular code: Each code module should be</a:t>
            </a:r>
          </a:p>
          <a:p>
            <a:pPr lvl="1">
              <a:buClr>
                <a:srgbClr val="ED1B2F"/>
              </a:buClr>
              <a:buFont typeface="Wingdings" panose="05000000000000000000" pitchFamily="2" charset="2"/>
              <a:buChar char="v"/>
            </a:pPr>
            <a:r>
              <a:rPr lang="en-US" dirty="0"/>
              <a:t>Single-purpose</a:t>
            </a:r>
          </a:p>
          <a:p>
            <a:pPr lvl="1">
              <a:buClr>
                <a:srgbClr val="ED1B2F"/>
              </a:buClr>
              <a:buFont typeface="Wingdings" panose="05000000000000000000" pitchFamily="2" charset="2"/>
              <a:buChar char="v"/>
            </a:pPr>
            <a:r>
              <a:rPr lang="en-US" dirty="0"/>
              <a:t>Small</a:t>
            </a:r>
          </a:p>
          <a:p>
            <a:pPr lvl="1">
              <a:buClr>
                <a:srgbClr val="ED1B2F"/>
              </a:buClr>
              <a:buFont typeface="Wingdings" panose="05000000000000000000" pitchFamily="2" charset="2"/>
              <a:buChar char="v"/>
            </a:pPr>
            <a:r>
              <a:rPr lang="en-US" dirty="0"/>
              <a:t>Simple</a:t>
            </a:r>
          </a:p>
          <a:p>
            <a:pPr lvl="1">
              <a:buClr>
                <a:srgbClr val="ED1B2F"/>
              </a:buClr>
              <a:buFont typeface="Wingdings" panose="05000000000000000000" pitchFamily="2" charset="2"/>
              <a:buChar char="v"/>
            </a:pPr>
            <a:r>
              <a:rPr lang="en-US" dirty="0"/>
              <a:t>Independent</a:t>
            </a:r>
          </a:p>
          <a:p>
            <a:r>
              <a:rPr lang="en-US" dirty="0"/>
              <a:t>Encapsulation </a:t>
            </a:r>
          </a:p>
          <a:p>
            <a:r>
              <a:rPr lang="en-US" dirty="0"/>
              <a:t>Information hiding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1F0F2-74A4-EF40-82B3-DFFDF0BA3880}" type="slidenum">
              <a:rPr lang="en-US" smtClean="0">
                <a:latin typeface="Arial"/>
              </a:rPr>
              <a:pPr/>
              <a:t>26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1750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en-US" dirty="0"/>
              <a:t>Defensive Programming</a:t>
            </a:r>
            <a:endParaRPr lang="cy-GB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96733A-E544-4782-86FB-11779D016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Defensive Programming is a technique where you assume the worst from all input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Also known as Proactive Debugging.</a:t>
            </a:r>
          </a:p>
          <a:p>
            <a:r>
              <a:rPr lang="en-US" dirty="0"/>
              <a:t>Let's look at Alex's three rule of Defensive Programming.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106"/>
    </mc:Choice>
    <mc:Fallback xmlns="">
      <p:transition spd="slow" advTm="2810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638C3-BF94-4BE9-B328-04782E4A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32C80-F4CC-4C22-ABFE-E263040C2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first rule of defensive programming is 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Never Assume Anything!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lot of problems in applications can be attributed to unexpected input.</a:t>
            </a:r>
          </a:p>
          <a:p>
            <a:r>
              <a:rPr lang="en-US" dirty="0"/>
              <a:t>Another common source of error is the programmer assuming something about a programming language.</a:t>
            </a:r>
          </a:p>
        </p:txBody>
      </p:sp>
    </p:spTree>
    <p:extLst>
      <p:ext uri="{BB962C8B-B14F-4D97-AF65-F5344CB8AC3E}">
        <p14:creationId xmlns:p14="http://schemas.microsoft.com/office/powerpoint/2010/main" val="3702414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C18A5-040F-42CF-8CB8-113A84F4F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EBF4B-32C3-4620-A4C8-51A6D146F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previously mentioned, data from the user cannot be trusted.</a:t>
            </a:r>
          </a:p>
          <a:p>
            <a:r>
              <a:rPr lang="en-US" dirty="0"/>
              <a:t>As such, all input must be validated.</a:t>
            </a:r>
          </a:p>
          <a:p>
            <a:r>
              <a:rPr lang="en-US" dirty="0"/>
              <a:t>For each input: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Define the set of all legal input values.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When receiving input, validate against this set.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Determine the behavior when input is incorrect: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Terminate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Retry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Warning</a:t>
            </a:r>
          </a:p>
        </p:txBody>
      </p:sp>
    </p:spTree>
    <p:extLst>
      <p:ext uri="{BB962C8B-B14F-4D97-AF65-F5344CB8AC3E}">
        <p14:creationId xmlns:p14="http://schemas.microsoft.com/office/powerpoint/2010/main" val="2798741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55B0-01D3-4E02-9DDA-F95C7D76B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57A58-AC0C-436D-9DD4-55F9A8053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second rule of defensive programming is to </a:t>
            </a:r>
            <a:r>
              <a:rPr lang="en-US" dirty="0">
                <a:solidFill>
                  <a:srgbClr val="FF0000"/>
                </a:solidFill>
              </a:rPr>
              <a:t>use Standards</a:t>
            </a:r>
            <a:r>
              <a:rPr lang="en-US" dirty="0"/>
              <a:t>.</a:t>
            </a:r>
          </a:p>
          <a:p>
            <a:r>
              <a:rPr lang="en-US" dirty="0"/>
              <a:t>Proper coding standards address weaknesses in the language standard and/or compiler design.</a:t>
            </a:r>
          </a:p>
          <a:p>
            <a:r>
              <a:rPr lang="en-US" dirty="0"/>
              <a:t>They also defines a format or “style” used for writing code.</a:t>
            </a:r>
          </a:p>
          <a:p>
            <a:r>
              <a:rPr lang="en-US" dirty="0"/>
              <a:t>Every software development team should have an agreed-upon and formally documented coding standard.</a:t>
            </a:r>
          </a:p>
        </p:txBody>
      </p:sp>
    </p:spTree>
    <p:extLst>
      <p:ext uri="{BB962C8B-B14F-4D97-AF65-F5344CB8AC3E}">
        <p14:creationId xmlns:p14="http://schemas.microsoft.com/office/powerpoint/2010/main" val="1610732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CA79-81F4-41B6-A8FB-035E7D648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Magic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7FDDF-6A66-4D2E-982F-14469A317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Never use constant values in your code.</a:t>
            </a:r>
          </a:p>
          <a:p>
            <a:pPr lvl="1"/>
            <a:r>
              <a:rPr lang="en-US" dirty="0"/>
              <a:t>Makes the code difficult to understand.</a:t>
            </a:r>
          </a:p>
          <a:p>
            <a:pPr lvl="1"/>
            <a:r>
              <a:rPr lang="en-US" dirty="0"/>
              <a:t>Makes the code difficult to maintain.</a:t>
            </a:r>
          </a:p>
          <a:p>
            <a:pPr marL="0" indent="0">
              <a:buNone/>
            </a:pPr>
            <a:r>
              <a:rPr lang="en-US" dirty="0"/>
              <a:t>	int friction = (4.3563 / 5.463) * x;</a:t>
            </a:r>
          </a:p>
          <a:p>
            <a:r>
              <a:rPr lang="en-US" dirty="0"/>
              <a:t>Use constant variable instead.</a:t>
            </a:r>
          </a:p>
          <a:p>
            <a:pPr marL="0" indent="0">
              <a:buNone/>
            </a:pPr>
            <a:r>
              <a:rPr lang="en-US" dirty="0"/>
              <a:t>	const int PI = 3.14159265</a:t>
            </a:r>
          </a:p>
          <a:p>
            <a:pPr marL="0" indent="0">
              <a:buNone/>
            </a:pPr>
            <a:r>
              <a:rPr lang="pt-BR" dirty="0"/>
              <a:t>	int surface = PI * r * r;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382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69944-92FE-46B7-B18F-A3A10BB04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 indentation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AB0B6-E990-4008-A415-A5899DFCF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 indentation is key to making your code readable.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F9D3DC-150C-4596-82DD-49CA9746D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14" y="2358639"/>
            <a:ext cx="5145228" cy="44993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3BDB9C-D9CB-4D02-A6F6-149910471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32649"/>
            <a:ext cx="5989873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9697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891DA-0486-4F88-921F-E47D0FCDC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3ADD5-09B6-49B0-9258-99C4DA8C7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third rule of Defensive Programming is to keep your code </a:t>
            </a:r>
            <a:r>
              <a:rPr lang="en-US" dirty="0">
                <a:solidFill>
                  <a:srgbClr val="FF0000"/>
                </a:solidFill>
              </a:rPr>
              <a:t>as simple as possible</a:t>
            </a:r>
            <a:r>
              <a:rPr lang="en-US" dirty="0"/>
              <a:t>.</a:t>
            </a:r>
          </a:p>
          <a:p>
            <a:r>
              <a:rPr lang="en-US" dirty="0"/>
              <a:t>Software should only contain the features it needs.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6777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1EEB-411E-4085-89F9-6F3820DB9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3E61F-D033-427A-A4D1-B4DCE3526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i="1" dirty="0"/>
              <a:t>Refactoring is a disciplined technique for restructuring an existing body of code, altering its internal structure without changing its external behavior.</a:t>
            </a:r>
          </a:p>
          <a:p>
            <a:r>
              <a:rPr lang="en-US" dirty="0"/>
              <a:t>By itself, refactoring is not a bug-fixing technique.</a:t>
            </a:r>
          </a:p>
          <a:p>
            <a:r>
              <a:rPr lang="en-US" dirty="0"/>
              <a:t>However, refactoring is a good technique to battle feature creep:</a:t>
            </a:r>
          </a:p>
          <a:p>
            <a:pPr lvl="1"/>
            <a:r>
              <a:rPr lang="en-US" dirty="0"/>
              <a:t>Features are often added during development.</a:t>
            </a:r>
          </a:p>
          <a:p>
            <a:pPr lvl="1"/>
            <a:r>
              <a:rPr lang="en-US" dirty="0"/>
              <a:t>These features are more often the source of problems.</a:t>
            </a:r>
          </a:p>
          <a:p>
            <a:pPr lvl="1"/>
            <a:r>
              <a:rPr lang="en-US" dirty="0"/>
              <a:t>Refactoring fights this by forcing the programmer to reevaluate the structure of his/her program.</a:t>
            </a:r>
          </a:p>
          <a:p>
            <a:r>
              <a:rPr lang="en-US" dirty="0"/>
              <a:t>Refactoring can help you keep you application simple.</a:t>
            </a:r>
          </a:p>
        </p:txBody>
      </p:sp>
    </p:spTree>
    <p:extLst>
      <p:ext uri="{BB962C8B-B14F-4D97-AF65-F5344CB8AC3E}">
        <p14:creationId xmlns:p14="http://schemas.microsoft.com/office/powerpoint/2010/main" val="2755502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B6DE-17F8-46CD-9642-3FD2964EC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9E175-2858-43EE-8212-EA6F7BEEB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complex system must be broken down into smaller modules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77E1F1-8043-49BC-399B-F2CCE4527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858" y="1825625"/>
            <a:ext cx="578628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1163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4FF1-60F7-4BD3-894A-39A52444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Essential Properties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F687C3-E4D4-42DB-ACF6-DE3639EBE4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36387" y="1825625"/>
            <a:ext cx="81192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0755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C7A12-76C5-4BAB-B95A-A1905717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64D32-A32D-40FD-8F82-BFC35B99D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measures how closely the elements within a module are related to each other and how well they work together to achieve a common purpose. </a:t>
            </a:r>
          </a:p>
          <a:p>
            <a:r>
              <a:rPr lang="en-US" dirty="0"/>
              <a:t>Cohesion is a desirable design component attribute as when a change has to be made, it is localized in a single cohesive component</a:t>
            </a:r>
          </a:p>
        </p:txBody>
      </p:sp>
    </p:spTree>
    <p:extLst>
      <p:ext uri="{BB962C8B-B14F-4D97-AF65-F5344CB8AC3E}">
        <p14:creationId xmlns:p14="http://schemas.microsoft.com/office/powerpoint/2010/main" val="9945382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14374-3758-46FD-BAC5-DD2A9420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93271-66DF-45DF-80BC-C84E1044B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measure of the strength of the inter-connections between system components</a:t>
            </a:r>
          </a:p>
          <a:p>
            <a:r>
              <a:rPr lang="en-US" dirty="0"/>
              <a:t>Loose coupling means component changes are unlikely to affect other components</a:t>
            </a:r>
          </a:p>
          <a:p>
            <a:r>
              <a:rPr lang="en-US" dirty="0"/>
              <a:t>Shared variables or control information exchange lead to tight coupling</a:t>
            </a:r>
          </a:p>
          <a:p>
            <a:r>
              <a:rPr lang="en-US" dirty="0"/>
              <a:t>Loose coupling can be achieved by component communication via parameters or 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34454128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EF82-289A-4C31-B960-108F4A51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Tight or loose coupling?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1AF12-B44E-4887-8290-02AAE1BE6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272D6-3F7A-47B5-ADD6-208585B3D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36" y="2427316"/>
            <a:ext cx="4380875" cy="2393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221FF5-E7F7-44A9-9371-8224C6C20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074" y="1875935"/>
            <a:ext cx="5670847" cy="377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607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49802-316F-410C-A1B0-43C915FA8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Hiding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CCE8F-B157-4EA9-9DE2-C17D6DD95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Put the complexity inside a “black box”</a:t>
            </a:r>
          </a:p>
          <a:p>
            <a:pPr lvl="1"/>
            <a:r>
              <a:rPr lang="en-US" dirty="0"/>
              <a:t>Hide it from the user of the box</a:t>
            </a:r>
          </a:p>
          <a:p>
            <a:pPr lvl="1"/>
            <a:r>
              <a:rPr lang="en-US" dirty="0"/>
              <a:t>The user does not need to know “how” the box works, just “what” it does</a:t>
            </a:r>
          </a:p>
          <a:p>
            <a:r>
              <a:rPr lang="en-US" dirty="0"/>
              <a:t>Greatly reduces the amount of information the designer needs to understand at once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9A7596-340A-430F-9404-00A351708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989" y="5108985"/>
            <a:ext cx="7572895" cy="56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7411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B2AAF-F5A2-4053-9E03-A1FFFE781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41707-832C-402A-8385-A516703A7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Encapsulate the data (or information) a module is working on</a:t>
            </a:r>
          </a:p>
          <a:p>
            <a:pPr lvl="1"/>
            <a:r>
              <a:rPr lang="en-US" dirty="0"/>
              <a:t>Protect the data from unauthorized access</a:t>
            </a:r>
          </a:p>
          <a:p>
            <a:pPr lvl="1"/>
            <a:r>
              <a:rPr lang="en-US" dirty="0"/>
              <a:t>Nobody else can mess with the data</a:t>
            </a:r>
          </a:p>
          <a:p>
            <a:pPr lvl="1"/>
            <a:r>
              <a:rPr lang="en-US" dirty="0"/>
              <a:t>If it gets corrupted, it must have been done in this module</a:t>
            </a:r>
          </a:p>
          <a:p>
            <a:r>
              <a:rPr lang="en-US" dirty="0"/>
              <a:t>Makes the design more robust</a:t>
            </a:r>
          </a:p>
          <a:p>
            <a:r>
              <a:rPr lang="en-US" dirty="0"/>
              <a:t>Chances are that new additions will not mess up your old code</a:t>
            </a:r>
          </a:p>
        </p:txBody>
      </p:sp>
    </p:spTree>
    <p:extLst>
      <p:ext uri="{BB962C8B-B14F-4D97-AF65-F5344CB8AC3E}">
        <p14:creationId xmlns:p14="http://schemas.microsoft.com/office/powerpoint/2010/main" val="37468457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B2AAF-F5A2-4053-9E03-A1FFFE781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Encapsulation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AA9B960-4B16-4B94-933D-3F995B8F5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98826" y="1808999"/>
            <a:ext cx="7637188" cy="410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612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Buffer overflow attacks can take advantage of the fact that code and data are stored in the same memory in order to maliciously modify executing programs</a:t>
            </a:r>
          </a:p>
          <a:p>
            <a:endParaRPr lang="en-US" sz="1100" dirty="0"/>
          </a:p>
          <a:p>
            <a:endParaRPr lang="en-US" sz="1000" dirty="0"/>
          </a:p>
          <a:p>
            <a:r>
              <a:rPr lang="en-US" sz="2800" dirty="0"/>
              <a:t>Malware can have a variety of harmful effects depending on its characteristics, including resource usage, infection vector, and payload</a:t>
            </a:r>
          </a:p>
          <a:p>
            <a:endParaRPr lang="en-US" sz="1000" dirty="0"/>
          </a:p>
          <a:p>
            <a:r>
              <a:rPr lang="en-US" sz="2800" dirty="0"/>
              <a:t>Developers can use a variety of techniques for writing and testing code for 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1F0F2-74A4-EF40-82B3-DFFDF0BA3880}" type="slidenum">
              <a:rPr lang="en-US" smtClean="0">
                <a:latin typeface="Arial"/>
              </a:rPr>
              <a:pPr/>
              <a:t>43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76114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THEME_BG_IMAGE" val=""/>
  <p:tag name="MMPROD_TAG_VCONFIG" val="PD94bWwgdmVyc2lvbj0iMS4wIiBlbmNvZGluZz0iVVRGLTgiPz4NCjxjb25maWd1cmF0aW9uPg0KCTxicmFuZGluZz4NCgkJPHVpZm9udCBuYW1lPSJGT05UX05PVEVTX1RFWFQiIHZhbHVlPSJWZXJkYW5hLDksZmFsc2UsZmFsc2UsZmFsc2UiLz4NCgk8L2JyYW5kaW5nPg0KCTxjb2xvcnM+DQoJCTx1aWNvbG9yIG5hbWU9InByaW1hcnkiIHZhbHVlPSIweDZGODQ4OCIvPg0KCQk8dWljb2xvciBuYW1lPSJnbG93IiB2YWx1ZT0iMHgzNUQzMzQiLz4NCgkJPHVpY29sb3IgbmFtZT0idGV4dCIgdmFsdWU9IjB4RkZGRkZGIi8+DQoJCTx1aWNvbG9yIG5hbWU9ImxpZ2h0IiB2YWx1ZT0iMHg0RTVENjAiLz4NCgkJPHVpY29sb3IgbmFtZT0ic2hhZG93IiB2YWx1ZT0iMHgwMDAwMDAiLz4NCgkJPHVpY29sb3IgbmFtZT0iYmFja2dyb3VuZCIgdmFsdWU9IjB4NzI3OTcxIi8+DQoJPC9jb2xvcnM+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dHJ1ZSIvPg0KCQk8dWlzaG93IG5hbWU9InByZXNlbnRlcmJpbyIgdmFsdWU9InRydWUiLz4NCgkJPHVpc2hvdyBuYW1lPSJjb21wYW55bG9nbyIgdmFsdWU9InRydWUiLz4NCgkJPHVpc2hvdyBuYW1lPSJzaWRlYmFyIiB2YWx1ZT0idHJ1ZSIvPg0KCQk8dWlzaG93IG5hbWU9Im91dGxpbmUiIHZhbHVlPSJ0cnVlIi8+DQoJCTx1aXNob3cgbmFtZT0idGh1bWJuYWlsIiB2YWx1ZT0idHJ1ZSIvPg0KCQk8dWlzaG93IG5hbWU9Im5vdGVzIiB2YWx1ZT0idHJ1ZSIvPg0KCQk8dWlzaG93IG5hbWU9InNlYXJjaCIgdmFsdWU9InRydWUiLz4NCgkJPHVpc2hvdyBuYW1lPSJxdWl6IiB2YWx1ZT0idHJ1ZSIvPg0KCQk8dWlzaG93IG5hbWU9ImF0dGFjaG1lbnRzIiB2YWx1ZT0idHJ1ZSIvPg0KCQk8dWlzaG93IG5hbWU9InV0aWxzIiB2YWx1ZT0idHJ1ZSIvPg0KCQk8dWlzaG93IG5hbWU9InZvbHVtZSIgdmFsdWU9InRydWUiLz4NCgkJPHVpc2hvdyBuYW1lPSJwbGF5YmFyIiB2YWx1ZT0idHJ1ZSIvPg0KCQk8dWlzaG93IG5hbWU9InRhbGtpbmdoZWFkIiB2YWx1ZT0idHJ1ZSIvPg0KCQk8dWlzaG93IG5hbWU9InNpZGViYXJvbnJpZ2h0IiB2YWx1ZT0idHJ1ZSIvPg0KCQk8dWlzaG93IG5hbWU9InZpZXdjaGFuZ2UiIHZhbHVlPSJ0cnVlIi8+DQoJCTx1aXNob3cgbmFtZT0iYWx3YXlzU2NydW5jaCIgdmFsdWU9ImZhbHNlIi8+DQoJCTx1aXNob3cgbmFtZT0iaW5pdGlhbGRpc3BsYXltb2RlaXNub3JtYWwiIHZhbHVlPSJ0cnVlIi8+DQoJCTx1aXJlcGxhY2UgbmFtZT0ibG9nbyIgdmFsdWU9IiIvPg0KCQk8dWlyZXBsYWNlIG5hbWU9ImJnaW1hZ2UiIHZhbHVlPSIiLz4NCgkJPHVpcmVwbGFjZSBuYW1lPSJpbml0aWFsdGFiIiB2YWx1ZT0ib3V0bGluZSIvPg0KCTwvbGF5b3V0Pg0KCTxsYW5ndWFnZSBpZD0iZW4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whLS1xdWl6IHBvZCBhbmQgbWVzc2FnZSBib3ggdGV4dHMtLT4NCgkJPHVpdGV4dCBuYW1lPSJRVUlaUE9EX1FVSVpfQVRURU1QVCIgdmFsdWU9IlF1aXogQXR0ZW1wdDoiLz4NCgkJPHVpdGV4dCBuYW1lPSJRVUlaUE9EX1FVSVpfQVRURU1QVF9WQUxVRSIgdmFsdWU9IiVuIG9mICV0Ii8+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+DQoJCTx1aXRleHQgbmFtZT0iUVVJWlBPRF9RVUlaQVRNUFRfSU5GIiB2YWx1ZT0iSW5maW5pdGUiLz4NCgkJPHVpdGV4dCBuYW1lPSJRVUlaUE9EX1FVRVNBVE1QVF9JTkYiIHZhbHVlPSJJbmZpbml0ZSIvPg0KCQk8dWl0ZXh0IG5hbWU9IldBUk5JTkdNU0dfWUVTU1RSSU5HIiB2YWx1ZT0iWWVzIi8+DQoJCTx1aXRleHQgbmFtZT0iV0FSTklOR01TR19OT1NUUklORyIgdmFsdWU9Ik5vIi8+DQoJCTx1aXRleHQgbmFtZT0iV0FSTklOR01TR19USVRMRVNUUklORyIgdmFsdWU9IlF1aXogTmF2aWdhdGlvbiBXYXJuaW5nIi8+DQoJCTx1aXRleHQgbmFtZT0iV0FSTklOR01TR19NU0dTVFJJTkciIHZhbHVlPSJUaGVyZSBhcmUgdW4tYXR0ZW1wdGVkIHF1ZXN0aW9ucyBpbiB0aGlzIFF1aXouJiN4QTsmI3hBO0NsaWNraW5nIFllcyB3aWxsIHRha2UgeW91IG91dCBvZiB0aGUgUXVpei4gQ2xpY2sgTm8gdG8gY29udGludWUgdGhlIFF1aXouIi8+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+DQoJCTx1aXRleHQgbmFtZT0iRE9DV1JBUF9USVRMRSIgdmFsdWU9IlByZXNlbnRlciBGaWxlIEF0dGFjaG1lbnQiLz4NCgkJPHVpdGV4dCBuYW1lPSJET0NXUkFQX01TRyIgdmFsdWU9IlNhdmUgdG8gTXkgQ29tcHV0ZXIiLz4NCgkJPHVpdGV4dCBuYW1lPSJET0NXUkFQX1BST01QVCIgdmFsdWU9IkNsaWNrIHRvIERvd25sb2FkIi8+DQoJPC9sYW5ndWFnZT4NCgk8bGFuZ3VhZ2UgaWQ9ImRl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ZvbGllICVuIi8+DQoJCTwhLS0gc3Vic3RpdHV0aW9uOiAlbiA9PSBzbGlkZSBudW1iZXIgLS0+DQoJCTwhLS0gc3Vic3RpdHV0aW9uOiAldCA9PSB0b3RhbCBzbGlkZSBjb3VudCAtLT4NCgkJPHVpdGV4dCBuYW1lPSJTQ1JVQkJBUlNUQVRVU19TTElERUlORk8iIHZhbHVlPSJGb2xpZSAlbiAvICV0IHwgIi8+DQoJCTx1aXRleHQgbmFtZT0iU0NSVUJCQVJTVEFUVVNfU1RPUFBFRCIgdmFsdWU9IkJlZW5kZXQiLz4NCgkJPHVpdGV4dCBuYW1lPSJTQ1JVQkJBUlNUQVRVU19QTEFZSU5HIiB2YWx1ZT0iV2llZGVyZ2FiZSIvPg0KCQk8dWl0ZXh0IG5hbWU9IlNDUlVCQkFSU1RBVFVTX05PQVVESU8iIHZhbHVlPSJLZWluIEF1ZGlvIi8+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+DQoJCTx1aXRleHQgbmFtZT0iU0NSVUJCQVJTVEFUVVNfUkVWSUVXUVVJWiIgdmFsdWU9Ik5vY2htYWxzIGR1cmNoc2VoZW4iLz4NCgkJPCEtLSBzdWJzdGl0dXRpb246ICVtID09IG1pbnV0ZXMgcmVtYWluaW5nIC0tPg0KCQk8IS0tIHN1YnN0aXR1dGlvbjogJXMgPT0gc2Vjb25kcyByZW1haW5pbmcgLS0+DQoJCTx1aXRleHQgbmFtZT0iRUxBUFNFRCIgdmFsdWU9IlJlc3RkYXVlcjogJW0gTWludXRlbiAlcyBTZWt1bmRlbiIvPg0KCQk8dWl0ZXh0IG5hbWU9Ik5PVEZPVU5EIiB2YWx1ZT0iTmljaHRzIGdlZnVuZGVuIi8+DQoJCTx1aXRleHQgbmFtZT0iQVRUQUNITUVOVFMiIHZhbHVlPSJBbmxhZ2VuIi8+DQoJCTwhLS0gc3Vic3RpdHV0aW9uOiAlcCA9PSBjdXJyZW50IHNwZWFrZXIncyB0aXRsZSAtLT4NCgkJPHVpdGV4dCBuYW1lPSJCSU9XSU5fVElUTEUiIHZhbHVlPSJTcHJlY2hlcjogJXAiLz4NCgkJPHVpdGV4dCBuYW1lPSJCSU9CVE5fVElUTEUiIHZhbHVlPSJTcHJlY2hlciIvPg0KCQk8dWl0ZXh0IG5hbWU9IkRJVklERVJCVE5fVElUTEUiIHZhbHVlPSJ8Ii8+DQoJCTx1aXRleHQgbmFtZT0iQ09OVEFDVEJUTl9USVRMRSIgdmFsdWU9IktvbnRha3QiLz4NCgkJPHVpdGV4dCBuYW1lPSJUQUJfUVVJWiIgdmFsdWU9IlF1aXoiLz4NCgkJPHVpdGV4dCBuYW1lPSJUQUJfT1VUTElORSIgdmFsdWU9IlN0cnVrdHVyIi8+DQoJCTx1aXRleHQgbmFtZT0iVEFCX1RIVU1CIiB2YWx1ZT0iTWluaWF0dXIiLz4NCgkJPHVpdGV4dCBuYW1lPSJUQUJfTk9URVMiIHZhbHVlPSJOb3RpemVuIi8+DQoJCTx1aXRleHQgbmFtZT0iVEFCX1NFQVJDSCIgdmFsdWU9IlN1Y2hlbiIvPg0KCQk8dWl0ZXh0IG5hbWU9IlNMSURFX0hFQURJTkciIHZhbHVlPSJGb2xpZW50aXRlbCIvPg0KCQk8dWl0ZXh0IG5hbWU9IkRVUkFUSU9OX0hFQURJTkciIHZhbHVlPSJEYXVlciIvPg0KCQk8dWl0ZXh0IG5hbWU9IlNFQVJDSF9IRUFESU5HIiB2YWx1ZT0iVGV4dCBzdWNoZW46Ii8+DQoJCTx1aXRleHQgbmFtZT0iVEhVTUJfSEVBRElORyIgdmFsdWU9IkZvbGllIi8+DQoJCTx1aXRleHQgbmFtZT0iVEhVTUJfSU5GTyIgdmFsdWU9IkZvbGllbnRpdGVsL0RhdWVyIi8+DQoJCTx1aXRleHQgbmFtZT0iQVRUQUNITkFNRV9IRUFESU5HIiB2YWx1ZT0iRGF0ZWluYW1lIi8+DQoJCTx1aXRleHQgbmFtZT0iQVRUQUNIU0laRV9IRUFESU5HIiB2YWx1ZT0iR3LDtsOfZSIvPg0KCQk8dWl0ZXh0IG5hbWU9IlNMSURFX05PVEVTIiB2YWx1ZT0iRm9saWVubm90aXplbiIvPg0KCQk8IS0tcXVpeiBwb2QgYW5kIG1lc3NhZ2UgYm94IHRleHRzLS0+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+DQoJCTx1aXRleHQgbmFtZT0iUVVJWlBPRF9RVUVTVFlQRV9TVlkiIHZhbHVlPSJVbWZyYWdlIi8+DQoJCTx1aXRleHQgbmFtZT0iUVVJWlBPRF9RVUlaQVRNUFRfSU5GIiB2YWx1ZT0iVW5lbmRsaWNoIi8+DQoJCTx1aXRleHQgbmFtZT0iUVVJWlBPRF9RVUVTQVRNUFRfSU5GIiB2YWx1ZT0iVW5lbmRsaWNoIi8+DQoJCTx1aXRleHQgbmFtZT0iV0FSTklOR01TR19ZRVNTVFJJTkciIHZhbHVlPSJKYSIvPg0KCQk8dWl0ZXh0IG5hbWU9IldBUk5JTkdNU0dfTk9TVFJJTkciIHZhbHVlPSJOZWluIi8+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EZW4gVGVpbG5laG1lcm4gZGllIFNlaXRlbmxlaXN0ZSBhbnplaWdlbiIvPg0KCQk8dWl0ZXh0IG5hbWU9Ik1VVEUiIHZhbHVlPSJUb24gY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uOCueODqeOCpOODiSA6ICVuIi8+DQoJCTwhLS0gc3Vic3RpdHV0aW9uOiAlbiA9PSBzbGlkZSBudW1iZXIgLS0+DQoJCTwhLS0gc3Vic3RpdHV0aW9uOiAldCA9PSB0b3RhbCBzbGlkZSBjb3VudCAtLT4NCgkJPHVpdGV4dCBuYW1lPSJTQ1JVQkJBUlNUQVRVU19TTElERUlORk8iIHZhbHVlPSLjgrnjg6njgqTjg4kgOiAlbiAvICV0IHwgIi8+DQoJCTx1aXRleHQgbmFtZT0iU0NSVUJCQVJTVEFUVVNfU1RPUFBFRCIgdmFsdWU9IuWBnOatoiIvPg0KCQk8dWl0ZXh0IG5hbWU9IlNDUlVCQkFSU1RBVFVTX1BMQVlJTkciIHZhbHVlPSLlho3nlJ/kuK0iLz4NCgkJPHVpdGV4dCBuYW1lPSJTQ1JVQkJBUlNUQVRVU19OT0FVRElPIiB2YWx1ZT0i6Z+z5aOw44Gq44GXIi8+DQoJCTx1aXRleHQgbmFtZT0iU0NSVUJCQVJTVEFUVVNfVklEUExBWUlORyIgdmFsdWU9IuODk+ODh+OCquWGjeeUn+S4rSIvPg0KCQk8dWl0ZXh0IG5hbWU9IlNDUlVCQkFSU1RBVFVTX0xPQURJTkciIHZhbHVlPSLjg63jg7zjg4nkuK0iLz4NCgkJPHVpdGV4dCBuYW1lPSJTQ1JVQkJBUlNUQVRVU19CVUZGRVJJTkciIHZhbHVlPSLjg5Djg4Pjg5XjgqHkuK0iLz4NCgkJPHVpdGV4dCBuYW1lPSJTQ1JVQkJBUlNUQVRVU19RVUVTVElPTiIgdmFsdWU9IuizquWVj+OBq+etlOOBiOOBpuS4i+OBleOBhCIvPg0KCQk8dWl0ZXh0IG5hbWU9IlNDUlVCQkFSU1RBVFVTX1JFVklFV1FVSVoiIHZhbHVlPSLjgq/jgqTjgrrjgpLjg6zjg5Pjg6Xjg7zjgZfjgabjgYTjgb7jgZkiLz4NCgkJPCEtLSBzdWJzdGl0dXRpb246ICVtID09IG1pbnV0ZXMgcmVtYWluaW5nIC0tPg0KCQk8IS0tIHN1YnN0aXR1dGlvbjogJXMgPT0gc2Vjb25kcyByZW1haW5pbmcgLS0+DQoJCTx1aXRleHQgbmFtZT0iRUxBUFNFRCIgdmFsdWU9Iuaui+OCiiA6ICVtIOWIhiAlcyDnp5IiLz4NCgkJPHVpdGV4dCBuYW1lPSJOT1RGT1VORCIgdmFsdWU9IuS9leOCguimi+OBpOOBi+OCiuOBvuOBm+OCkyIvPg0KCQk8dWl0ZXh0IG5hbWU9IkFUVEFDSE1FTlRTIiB2YWx1ZT0i5re75LuYIi8+DQoJCTwhLS0gc3Vic3RpdHV0aW9uOiAlcCA9PSBjdXJyZW50IHNwZWFrZXIncyB0aXRsZSAtLT4NCgkJPHVpdGV4dCBuYW1lPSJCSU9XSU5fVElUTEUiIHZhbHVlPSLntYzmrbQgOiAlcCIvPg0KCQk8dWl0ZXh0IG5hbWU9IkJJT0JUTl9USVRMRSIgdmFsdWU9Iue1jOattCIvPg0KCQk8dWl0ZXh0IG5hbWU9IkRJVklERVJCVE5fVElUTEUiIHZhbHVlPSJ8Ii8+DQoJCTx1aXRleHQgbmFtZT0iQ09OVEFDVEJUTl9USVRMRSIgdmFsdWU9IuOBiuWVj+OBhOWQiOOCj+OBmyIvPg0KCQk8dWl0ZXh0IG5hbWU9IlRBQl9RVUlaIiB2YWx1ZT0i44Kv44Kk44K6Ii8+DQoJCTx1aXRleHQgbmFtZT0iVEFCX09VVExJTkUiIHZhbHVlPSLjgqLjgqbjg4jjg6njgqTjg7MiLz4NCgkJPHVpdGV4dCBuYW1lPSJUQUJfVEhVTUIiIHZhbHVlPSLjgrXjg6Djg43jg7zjg6siLz4NCgkJPHVpdGV4dCBuYW1lPSJUQUJfTk9URVMiIHZhbHVlPSLjg47jg7zjg4giLz4NCgkJPHVpdGV4dCBuYW1lPSJUQUJfU0VBUkNIIiB2YWx1ZT0i5qSc57SiIi8+DQoJCTx1aXRleHQgbmFtZT0iU0xJREVfSEVBRElORyIgdmFsdWU9IuOCueODqeOCpOODieOCv+OCpOODiOODqyIvPg0KCQk8dWl0ZXh0IG5hbWU9IkRVUkFUSU9OX0hFQURJTkciIHZhbHVlPSLplbfjgZUiLz4NCgkJPHVpdGV4dCBuYW1lPSJTRUFSQ0hfSEVBRElORyIgdmFsdWU9IuaknOe0ouOBmeOCi+ODhuOCreOCueODiCA6ICIvPg0KCQk8dWl0ZXh0IG5hbWU9IlRIVU1CX0hFQURJTkciIHZhbHVlPSLjgrnjg6njgqTjg4kiLz4NCgkJPHVpdGV4dCBuYW1lPSJUSFVNQl9JTkZPIiB2YWx1ZT0i44K544Op44Kk44OJ44K/44Kk44OI44OrIC8g6ZW344GVIi8+DQoJCTx1aXRleHQgbmFtZT0iQVRUQUNITkFNRV9IRUFESU5HIiB2YWx1ZT0i44OV44Kh44Kk44Or5ZCNIi8+DQoJCTx1aXRleHQgbmFtZT0iQVRUQUNIU0laRV9IRUFESU5HIiB2YWx1ZT0i44K144Kk44K6Ii8+DQoJCTx1aXRleHQgbmFtZT0iU0xJREVfTk9URVMiIHZhbHVlPSLjgrnjg6njgqTjg4njg47jg7zjg4giLz4NCgkJPCEtLXF1aXogcG9kIGFuZCBtZXNzYWdlIGJveCB0ZXh0cy0tPg0KCQk8dWl0ZXh0IG5hbWU9IlFVSVpQT0RfUVVJWl9BVFRFTVBUIiB2YWx1ZT0i44Kv44Kk44K66Kmm6KGM5Zue5pWwIDogIi8+DQoJCTx1aXRleHQgbmFtZT0iUVVJWlBPRF9RVUlaX0FUVEVNUFRfVkFMVUUiIHZhbHVlPSIlbiAvICV0Ii8+DQoJCTx1aXRleHQgbmFtZT0iUVVJWlBPRF9RVUlaX1NDT1JFIiB2YWx1ZT0i44K544Kz44KiIDogIi8+DQoJCTx1aXRleHQgbmFtZT0iUVVJWlBPRF9RVUlaX1BBU1NTQ09SRSIgdmFsdWU9IuWQiOagvOeCuSA6Ii8+DQoJCTx1aXRleHQgbmFtZT0iUVVJWlBPRF9RVUlaX01BWFNDT1JFIiB2YWx1ZT0i5pyA6auY5b6X54K5IDogIi8+DQoJCTx1aXRleHQgbmFtZT0iUVVJWlBPRF9RVUVTQVRNUFRfU1RSIiB2YWx1ZT0i6Kmm6KGM5Zue5pWwIDogJW4gLyAldCIvPg0KCQk8dWl0ZXh0IG5hbWU9IlFVSVpQT0RfUVVFU1RZUEVfU1RSIiB2YWx1ZT0i44K/44Kk44OXIDogJXMiLz4NCgkJPHVpdGV4dCBuYW1lPSJRVUlaUE9EX1FVRVNUWVBFX0dSRCIgdmFsdWU9IuipleS+oSIvPg0KCQk8dWl0ZXh0IG5hbWU9IlFVSVpQT0RfUVVFU1RZUEVfU1ZZIiB2YWx1ZT0i44Ki44Oz44Kx44O844OIIi8+DQoJCTx1aXRleHQgbmFtZT0iUVVJWlBPRF9RVUlaQVRNUFRfSU5GIiB2YWx1ZT0i54Sh5Yi26ZmQIi8+DQoJCTx1aXRleHQgbmFtZT0iUVVJWlBPRF9RVUVTQVRNUFRfSU5GIiB2YWx1ZT0i54Sh5Yi26ZmQIi8+DQoJCTx1aXRleHQgbmFtZT0iV0FSTklOR01TR19ZRVNTVFJJTkciIHZhbHVlPSLjga/jgYQiLz4NCgkJPHVpdGV4dCBuYW1lPSJXQVJOSU5HTVNHX05PU1RSSU5HIiB2YWx1ZT0i44GE44GE44GIIi8+DQoJCTx1aXRleHQgbmFtZT0iV0FSTklOR01TR19USVRMRVNUUklORyIgdmFsdWU9IuOCr+OCpOOCuuOBruODiuODk+OCsuODvOOCt+ODp+ODs+OBq+mWouOBmeOCi+itpuWRiiIvPg0KCQk8dWl0ZXh0IG5hbWU9IldBUk5JTkdNU0dfTVNHU1RSSU5HIiB2YWx1ZT0i44GT44Gu44Kv44Kk44K644Gr44Gv44CB44G+44Gg6Kej562U44GX44Gm44GE44Gq44GE6LOq5ZWP44GM44GC44KK44G+44GZ44CCJiN4QTsmI3hBOyDjgq/jgqTjgrrjgpLntYLkuobjgZnjgovjgavjga/jgIHjgIzjga/jgYTjgI3jgpLjgq/jg6rjg4Pjgq/jgZfjgb7jgZnjgILjgq/jgqTjgrrjgpLntprooYzjgZnjgovjgavjga/jgIHjgIzjgYTjgYTjgYjjgI3jgpLjgq/jg6rjg4Pjgq/jgZfjgb7jgZnjgIIiLz4NCgkJPHVpdGV4dCBuYW1lPSJJTkZPUk1BVElPTl9IMjY0X0ZMQVNIUExBWUVSIiB2YWx1ZT0i44GK5L2/44GE44Gu44Kz44Oz44OU44Ol44O844K/44Gr54++5Zyo44Kk44Oz44K544OI44O844Or44GV44KM44Gm44GE44KLIEZsYXNoIFBsYXllciDjga7jg5Djg7zjgrjjg6fjg7Pjga/jgIHjgZPjga7jg5Pjg4fjgqrjgpLjgrXjg53jg7zjg4jjgZfjgabjgYTjgb7jgZvjgpPjgILmnIDmlrDjga4gRmxhc2ggUGxheWVyIOOCkuODgOOCpuODs+ODreODvOODieOBmeOCi+OBq+OBr+OAgeODk+ODh+OCqumgmOWfn+OCkuOCr+ODquODg+OCr+OBl+OBpuOBj+OBoOOBleOBhOOAg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jgrXjgqTjg4njg5Djg7zjgpLlj4LliqDogIXjgavopovjgZvjgosiLz4NCgkJPHVpdGV4dCBuYW1lPSJNVVRFIiB2YWx1ZT0i44Of44Ol44O844OIIi8+DQoJCTx1aXRleHQgbmFtZT0iRE9DV1JBUF9USVRMRSIgdmFsdWU9IlByZXNlbnRlciDmt7vku5jjg5XjgqHjgqTjg6siLz4NCgkJPHVpdGV4dCBuYW1lPSJET0NXUkFQX01TRyIgdmFsdWU9IuODnuOCpOOCs+ODs+ODlOODpeODvOOCv+OBq+S/neWtmCIvPg0KCQk8dWl0ZXh0IG5hbWU9IkRPQ1dSQVBfUFJPTVBUIiB2YWx1ZT0i44Kv44Oq44OD44Kv44GX44Gm44OA44Km44Oz44Ot44O844OJIi8+DQoJPC9sYW5ndWFnZT4NCgk8bGFuZ3VhZ2UgaWQ9ImtvIj4NCgkJPCEtLSBmb3JtYXQgZm9yIHVpZm9udCB2YWx1ZSBpcyAiZm9udCxzaXplLGlzYm9sZCxpc2l0YWxpYyxpc3NoYWRvd2VkIiAtLT4NCgkJPHVpZm9udCBuYW1lPSJGT05UX1FVSVpaSU5HIiB2YWx1ZT0iVmVyZGFuYSw5LGZhbHNlLGZhbHNlLGZhbHNlIi8+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+DQoJCTx1aWZvbnQgbmFtZT0iRk9OVF9VVElMU01FTlUiIHZhbHVlPSJWZXJkYW5hLDksdHJ1ZSxmYWxzZSxmYWxzZSIvPg0KCQk8dWlmb250IG5hbWU9IkZPTlRfVEFCUyIgdmFsdWU9IlZlcmRhbmEsMTE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E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xMSxmYWxzZSxmYWxzZSx0cnVlIi8+DQoJCTx1aWZvbnQgbmFtZT0iRk9OVF9CSU9XSU4iIHZhbHVlPSJWZXJkYW5hLDExLGZhbHNlLGZhbHNlLGZhbHNlIi8+DQoJCTx1aWZvbnQgbmFtZT0iRk9OVF9MSVNUSEVBRElORyIgdmFsdWU9IlZlcmRhbmEsMTEsZmFsc2UsZmFsc2UsZmFsc2UiLz4NCgkJPHVpZm9udCBuYW1lPSJGT05UX1dJTlRJVExFIiB2YWx1ZT0iVmVyZGFuYSwxM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CEtLXF1aXogcG9kIGFuZCBtZXNzYWdlIGJveCB0ZXh0cy0tPg0KCQk8dWl0ZXh0IG5hbWU9IlFVSVpQT0RfUVVJWl9BVFRFTVBUIiB2YWx1ZT0i7YC07KaIIOyLnOuPhCDtmp/siJg6Ii8+DQoJCTx1aXRleHQgbmFtZT0iUVVJWlBPRF9RVUlaX0FUVEVNUFRfVkFMVUUiIHZhbHVlPSIlbi8ldCIvPg0KCQk8dWl0ZXh0IG5hbWU9IlFVSVpQT0RfUVVJWl9TQ09SRSIgdmFsdWU9IuuTneygkDoiLz4NCgkJPHVpdGV4dCBuYW1lPSJRVUlaUE9EX1FVSVpfUEFTU1NDT1JFIiB2YWx1ZT0i7Ya16rO8IOygkOyImDoiLz4NCgkJPHVpdGV4dCBuYW1lPSJRVUlaUE9EX1FVSVpfTUFYU0NPUkUiIHZhbHVlPSLstZzqs6Ag7KCQ7IiYOiIvPg0KCQk8dWl0ZXh0IG5hbWU9IlFVSVpQT0RfUVVFU0FUTVBUX1NUUiIgdmFsdWU9IuyLnOuPhCDtmp/siJg6ICVuLyV0Ii8+DQoJCTx1aXRleHQgbmFtZT0iUVVJWlBPRF9RVUVTVFlQRV9TVFIiIHZhbHVlPSLsnKDtmJU6ICVzIi8+DQoJCTx1aXRleHQgbmFtZT0iUVVJWlBPRF9RVUVTVFlQRV9HUkQiIHZhbHVlPSLsoJDsiJgg66ek6riw6riwIOyZhOujjCIvPg0KCQk8dWl0ZXh0IG5hbWU9IlFVSVpQT0RfUVVFU1RZUEVfU1ZZIiB2YWx1ZT0i7ISk66y4IOyhsOyCrCIvPg0KCQk8dWl0ZXh0IG5hbWU9IlFVSVpQT0RfUVVJWkFUTVBUX0lORiIgdmFsdWU9IuustO2VnCIvPg0KCQk8dWl0ZXh0IG5hbWU9IlFVSVpQT0RfUVVFU0FUTVBUX0lORiIgdmFsdWU9IuustO2VnCIvPg0KCQk8dWl0ZXh0IG5hbWU9IldBUk5JTkdNU0dfWUVTU1RSSU5HIiB2YWx1ZT0i7JiIIi8+DQoJCTx1aXRleHQgbmFtZT0iV0FSTklOR01TR19OT1NUUklORyIgdmFsdWU9IuyVhOuLiOyYpCIvPg0KCQk8dWl0ZXh0IG5hbWU9IldBUk5JTkdNU0dfVElUTEVTVFJJTkciIHZhbHVlPSLtgLTspogg64K067mE6rKM7J207IWYIOqyveqzoCIvPg0KCQk8dWl0ZXh0IG5hbWU9IldBUk5JTkdNU0dfTVNHU1RSSU5HIiB2YWx1ZT0i7J20IO2AtOymiOyXkOyEnCDsi5zrj4TtlZjsp4Ag7JWK7J2AIOyniOusuOydtCDsnojsirXri4jri6QuJiN4QTsmI3hBO+2AtOymiOulvCDsooXro4ztlZjroKTrqbQgW+yYiF3rpbwg7YG066at7ZWY6rOgLCDtgLTspojrpbwg6rOE7IaN7ZWY66Ck66m0IFvslYTri4jsmKRd66W8IO2BtOumre2VmOyLreyLnOyYpC4iLz4NCgkJPHVpdGV4dCBuYW1lPSJJTkZPUk1BVElPTl9IMjY0X0ZMQVNIUExBWUVSIiB2YWx1ZT0i7Iuc7Iqk7YWc7JeQIOyEpOy5mOuQmOyWtCDsnojripQg7ZiE7J6sIOuyhOyghOydmCBGbGFzaCBQbGF5ZXLripQg7J20IOu5hOuUlOyYpOulvCDsp4Dsm5DtlZjsp4Ag7JWK7Iq164uI64ukLiDstZzsi6AgRmxhc2ggUGxheWVy66W8IOuLpOyatOuhnOuTnO2VmOugpOuptCDruYTrlJTsmKQg7JiB7Jet7J2EIO2BtOumre2VmOyLreyLnOyYpC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7LC47Jes7J6Q7JeQ6rKMIOyEuOuhnCDrp4nrjIAg67O07J206riwIi8+DQoJCTx1aXRleHQgbmFtZT0iTVVURSIgdmFsdWU9IuydjOyGjOqxsCIvPg0KCQk8dWl0ZXh0IG5hbWU9IkRPQ1dSQVBfVElUTEUiIHZhbHVlPSJQcmVzZW50ZXIg7YyM7J28IOyyqOu2gCIvPg0KCQk8dWl0ZXh0IG5hbWU9IkRPQ1dSQVBfTVNHIiB2YWx1ZT0i64K0IOy7tO2TqO2EsOyXkCDsoIDsnqUiLz4NCgkJPHVpdGV4dCBuYW1lPSJET0NXUkFQX1BST01QVCIgdmFsdWU9Iu2BtOumre2VmOyXrCDri6TsmrTroZzrk5wiLz4NCgk8L2xhbmd1YWdlPg0KCTxsYW5ndWFnZSBpZD0iZXM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RGV0ZW5pZGEiLz4NCgkJPHVpdGV4dCBuYW1lPSJTQ1JVQkJBUlNUQVRVU19QTEFZSU5HIiB2YWx1ZT0iUmVwcm9kdWNpZW5kbyIvPg0KCQk8dWl0ZXh0IG5hbWU9IlNDUlVCQkFSU1RBVFVTX05PQVVESU8iIHZhbHVlPSJTaW4gc29uaWRvIi8+DQoJCTx1aXRleHQgbmFtZT0iU0NSVUJCQVJTVEFUVVNfVklEUExBWUlORyIgdmFsdWU9IlbDrWRlbyBlbiByZXByb2QuIi8+DQoJCTx1aXRleHQgbmFtZT0iU0NSVUJCQVJTVEFUVVNfTE9BRElORyIgdmFsdWU9IkNhcmdhbmRvIi8+DQoJCTx1aXRleHQgbmFtZT0iU0NSVUJCQVJTVEFUVVNfQlVGRkVSSU5HIiB2YWx1ZT0iQWxtYWNlbmFuZG8gZW4gYsO6ZmVyIi8+DQoJCTx1aXRleHQgbmFtZT0iU0NSVUJCQVJTVEFUVVNfUVVFU1RJT04iIHZhbHVlPSJDb250ZXN0YXIgcHJlZ3VudGEiLz4NCgkJPHVpdGV4dCBuYW1lPSJTQ1JVQkJBUlNUQVRVU19SRVZJRVdRVUlaIiB2YWx1ZT0iUmV2aXNhbmRvIHBydWViYSIvPg0KCQk8IS0tIHN1YnN0aXR1dGlvbjogJW0gPT0gbWludXRlcyByZW1haW5pbmcgLS0+DQoJCTwhLS0gc3Vic3RpdHV0aW9uOiAlcyA9PSBzZWNvbmRzIHJlbWFpbmluZyAtLT4NCgkJPHVpdGV4dCBuYW1lPSJFTEFQU0VEIiB2YWx1ZT0iJW0gbWludXRvcyAlcyBzZWd1bmRvcyByZXN0YW50ZXMiLz4NCgkJPHVpdGV4dCBuYW1lPSJOT1RGT1VORCIgdmFsdWU9Ik5vIHNlIGhhIGVuY29udHJhZG8gbmFkYSIvPg0KCQk8dWl0ZXh0IG5hbWU9IkFUVEFDSE1FTlRTIiB2YWx1ZT0iQXJjaGl2b3MgYWRqdW50b3MiLz4NCgkJPCEtLSBzdWJzdGl0dXRpb246ICVwID09IGN1cnJlbnQgc3BlYWtlcidzIHRpdGxlIC0tPg0KCQk8dWl0ZXh0IG5hbWU9IkJJT1dJTl9USVRMRSIgdmFsdWU9IkJpb2dyYWbDrWE6ICVwIi8+DQoJCTx1aXRleHQgbmFtZT0iQklPQlROX1RJVExFIiB2YWx1ZT0iQmlvZ3JhZsOtYSIvPg0KCQk8dWl0ZXh0IG5hbWU9IkRJVklERVJCVE5fVElUTEUiIHZhbHVlPSJ8Ii8+DQoJCTx1aXRleHQgbmFtZT0iQ09OVEFDVEJUTl9USVRMRSIgdmFsdWU9IkNvbnRhY3RvIi8+DQoJCTx1aXRleHQgbmFtZT0iVEFCX1FVSVoiIHZhbHVlPSJQcnVlYmEiLz4NCgkJPHVpdGV4dCBuYW1lPSJUQUJfT1VUTElORSIgdmFsdWU9IkNvbnRvcm5vIi8+DQoJCTx1aXRleHQgbmFtZT0iVEFCX1RIVU1CIiB2YWx1ZT0iTWluaWF0LiIvPg0KCQk8dWl0ZXh0IG5hbWU9IlRBQl9OT1RFUyIgdmFsdWU9Ik5vdGFzIi8+DQoJCTx1aXRleHQgbmFtZT0iVEFCX1NFQVJDSCIgdmFsdWU9IkJ1c2NhciIvPg0KCQk8dWl0ZXh0IG5hbWU9IlNMSURFX0hFQURJTkciIHZhbHVlPSJUw610dWxvIGRlIGRpYXBvc2l0aXZhIi8+DQoJCTx1aXRleHQgbmFtZT0iRFVSQVRJT05fSEVBRElORyIgdmFsdWU9IkR1cmFjLiIvPg0KCQk8dWl0ZXh0IG5hbWU9IlNFQVJDSF9IRUFESU5HIiB2YWx1ZT0iQnVzY2FyIHRleHRvOiIvPg0KCQk8dWl0ZXh0IG5hbWU9IlRIVU1CX0hFQURJTkciIHZhbHVlPSJEaWFwb3NpdGl2YSIvPg0KCQk8dWl0ZXh0IG5hbWU9IlRIVU1CX0lORk8iIHZhbHVlPSJEdXIuL1TDrXQuIGRpYXAuIi8+DQoJCTx1aXRleHQgbmFtZT0iQVRUQUNITkFNRV9IRUFESU5HIiB2YWx1ZT0iTm9tYnJlIGRlIGFyY2hpdm8iLz4NCgkJPHVpdGV4dCBuYW1lPSJBVFRBQ0hTSVpFX0hFQURJTkciIHZhbHVlPSJUYW1hw7FvIi8+DQoJCTx1aXRleHQgbmFtZT0iU0xJREVfTk9URVMiIHZhbHVlPSJOb3RhcyBkZSBkaWFwb3NpdGl2YS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lNpbGVuY2lhciIvPg0KCQk8dWl0ZXh0IG5hbWU9IkRPQ1dSQVBfVElUTEUiIHZhbHVlPSJBcmNoaXZvIGFkanVudG8gZGUgUHJlc2VudGVyIi8+DQoJCTx1aXRleHQgbmFtZT0iRE9DV1JBUF9NU0ciIHZhbHVlPSJHdWFyZGFyIGVuIE1pIFBDIi8+DQoJCTx1aXRleHQgbmFtZT0iRE9DV1JBUF9QUk9NUFQiIHZhbHVlPSJIYWdhIGNsaWMgZW4gRGVzY2FyZ2FyIi8+DQoJPC9sYW5ndWFnZT4NCgk8bGFuZ3VhZ2UgaWQ9InB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lNsaWRlICVuIi8+DQoJCTwhLS0gc3Vic3RpdHV0aW9uOiAlbiA9PSBzbGlkZSBudW1iZXIgLS0+DQoJCTwhLS0gc3Vic3RpdHV0aW9uOiAldCA9PSB0b3RhbCBzbGlkZSBjb3VudCAtLT4NCgkJPHVpdGV4dCBuYW1lPSJTQ1JVQkJBUlNUQVRVU19TTElERUlORk8iIHZhbHVlPSJTbGlkZSAlbiAvICV0IHwgIi8+DQoJCTx1aXRleHQgbmFtZT0iU0NSVUJCQVJTVEFUVVNfU1RPUFBFRCIgdmFsdWU9IlBhcmFkbyIvPg0KCQk8dWl0ZXh0IG5hbWU9IlNDUlVCQkFSU1RBVFVTX1BMQVlJTkciIHZhbHVlPSJSZXByb2R1emluZG8iLz4NCgkJPHVpdGV4dCBuYW1lPSJTQ1JVQkJBUlNUQVRVU19OT0FVRElPIiB2YWx1ZT0iU2VtIMOhdWRpbyIvPg0KCQk8dWl0ZXh0IG5hbWU9IlNDUlVCQkFSU1RBVFVTX1ZJRFBMQVlJTkciIHZhbHVlPSJWw61kZW8gZW0gcmVwcm9kdcOnw6NvIi8+DQoJCTx1aXRleHQgbmFtZT0iU0NSVUJCQVJTVEFUVVNfTE9BRElORyIgdmFsdWU9IkNhcnJlZ2FuZG8iLz4NCgkJPHVpdGV4dCBuYW1lPSJTQ1JVQkJBUlNUQVRVU19CVUZGRVJJTkciIHZhbHVlPSJBcm1hemVuYW5kbyBlbSBidWZmZXIiLz4NCgkJPHVpdGV4dCBuYW1lPSJTQ1JVQkJBUlNUQVRVU19RVUVTVElPTiIgdmFsdWU9IlJlc3BvbmRlciBwZXJndW50YSIvPg0KCQk8dWl0ZXh0IG5hbWU9IlNDUlVCQkFSU1RBVFVTX1JFVklFV1FVSVoiIHZhbHVlPSJSZXZpc2FuZG8gcXVlc3Rpb27DoXJpbyIvPg0KCQk8IS0tIHN1YnN0aXR1dGlvbjogJW0gPT0gbWludXRlcyByZW1haW5pbmcgLS0+DQoJCTwhLS0gc3Vic3RpdHV0aW9uOiAlcyA9PSBzZWNvbmRzIHJlbWFpbmluZyAtLT4NCgkJPHVpdGV4dCBuYW1lPSJFTEFQU0VEIiB2YWx1ZT0iJW0gbWludXRvcyAlcyBzZWd1bmRvcyByZXN0YW50ZXMiLz4NCgkJPHVpdGV4dCBuYW1lPSJOT1RGT1VORCIgdmFsdWU9Ik5hZGEgZW5jb250cmFkbyIvPg0KCQk8dWl0ZXh0IG5hbWU9IkFUVEFDSE1FTlRTIiB2YWx1ZT0iQW5leG9z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GF0byIvPg0KCQk8dWl0ZXh0IG5hbWU9IlRBQl9RVUlaIiB2YWx1ZT0iUXVlc3QuIi8+DQoJCTx1aXRleHQgbmFtZT0iVEFCX09VVExJTkUiIHZhbHVlPSJFc3F1ZW1hIi8+DQoJCTx1aXRleHQgbmFtZT0iVEFCX1RIVU1CIiB2YWx1ZT0iTWluaSIvPg0KCQk8dWl0ZXh0IG5hbWU9IlRBQl9OT1RFUyIgdmFsdWU9Ik5vdGFzIi8+DQoJCTx1aXRleHQgbmFtZT0iVEFCX1NFQVJDSCIgdmFsdWU9IkJ1c2NhIi8+DQoJCTx1aXRleHQgbmFtZT0iU0xJREVfSEVBRElORyIgdmFsdWU9IlTDrXR1bG8gZG8gc2xpZGUiLz4NCgkJPHVpdGV4dCBuYW1lPSJEVVJBVElPTl9IRUFESU5HIiB2YWx1ZT0iRHVyYcOnw6NvIi8+DQoJCTx1aXRleHQgbmFtZT0iU0VBUkNIX0hFQURJTkciIHZhbHVlPSJQcm9jdXJhciB0ZXh0bzoiLz4NCgkJPHVpdGV4dCBuYW1lPSJUSFVNQl9IRUFESU5HIiB2YWx1ZT0iU2xpZGUiLz4NCgkJPHVpdGV4dCBuYW1lPSJUSFVNQl9JTkZPIiB2YWx1ZT0iVMOtdHVsby9EdXJhw6fDo28gZG8gc2xpZGUiLz4NCgkJPHVpdGV4dCBuYW1lPSJBVFRBQ0hOQU1FX0hFQURJTkciIHZhbHVlPSJOb21lIGRvIGFycXVpdm8iLz4NCgkJPHVpdGV4dCBuYW1lPSJBVFRBQ0hTSVpFX0hFQURJTkciIHZhbHVlPSJUYW1hbmhvIi8+DQoJCTx1aXRleHQgbmFtZT0iU0xJREVfTk9URVMiIHZhbHVlPSJBbm90YcOnw7VlcyBkbyBzbGlkZS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CEtLXF1aXogcG9kIGFuZCBtZXNzYWdlIGJveCB0ZXh0cy0tPg0KCQk8dWl0ZXh0IG5hbWU9IlFVSVpQT0RfUVVJWl9BVFRFTVBUIiB2YWx1ZT0iVGVudGF0aXZvIHF1aXo6Ii8+DQoJCTx1aXRleHQgbmFtZT0iUVVJWlBPRF9RVUlaX0FUVEVNUFRfVkFMVUUiIHZhbHVlPSIlbiBkaSAldCIvPg0KCQk8dWl0ZXh0IG5hbWU9IlFVSVpQT0RfUVVJWl9TQ09SRSIgdmFsdWU9IlB1bnRlZ2dpbzoiLz4NCgkJPHVpdGV4dCBuYW1lPSJRVUlaUE9EX1FVSVpfUEFTU1NDT1JFIiB2YWx1ZT0iUHVudGVnZ2lvIG1pbmltbzoiLz4NCgkJPHVpdGV4dCBuYW1lPSJRVUlaUE9EX1FVSVpfTUFYU0NPUkUiIHZhbHVlPSJQdW50ZWdnaW8gbWFzc2ltbzoiLz4NCgkJPHVpdGV4dCBuYW1lPSJRVUlaUE9EX1FVRVNBVE1QVF9TVFIiIHZhbHVlPSJUZW50YXRpdm86ICVuIGRpICV0Ii8+DQoJCTx1aXRleHQgbmFtZT0iUVVJWlBPRF9RVUVTVFlQRV9TVFIiIHZhbHVlPSJUaXBvOiAlcyIvPg0KCQk8dWl0ZXh0IG5hbWU9IlFVSVpQT0RfUVVFU1RZUEVfR1JEIiB2YWx1ZT0iQ29uIHZhbHV0YXppb25lIi8+DQoJCTx1aXRleHQgbmFtZT0iUVVJWlBPRF9RVUVTVFlQRV9TVlkiIHZhbHVlPSJJbmRhZ2luZSIvPg0KCQk8dWl0ZXh0IG5hbWU9IlFVSVpQT0RfUVVJWkFUTVBUX0lORiIgdmFsdWU9IkluZmluaXRpIi8+DQoJCTx1aXRleHQgbmFtZT0iUVVJWlBPRF9RVUVTQVRNUFRfSU5GIiB2YWx1ZT0iSW5maW5pdGkiLz4NCgkJPHVpdGV4dCBuYW1lPSJXQVJOSU5HTVNHX1lFU1NUUklORyIgdmFsdWU9IlPDrCIvPg0KCQk8dWl0ZXh0IG5hbWU9IldBUk5JTkdNU0dfTk9TVFJJTkciIHZhbHVlPSJObyIvPg0KCQk8dWl0ZXh0IG5hbWU9IldBUk5JTkdNU0dfVElUTEVTVFJJTkciIHZhbHVlPSJBdnZlcnRlbnphIG5hdmlnYXppb25lIHF1aXoiLz4NCgkJPHVpdGV4dCBuYW1lPSJXQVJOSU5HTVNHX01TR1NUUklORyIgdmFsdWU9Ik9jY29ycmUgYW5jb3JhIHJpc3BvbmRlcmUgYWQgYWxjdW5lIGRvbWFuZGUgZGVsIHF1aXouJiN4QTsmI3hBO1NlIGZhdGUgY2xpYyBzdSBTw6wsIHVzY2lyZXRlIGRhbCBxdWl6LiBGYXRlIGNsaWMgc3UgTm8gcGVyIGNvbnRpbnVhcmUgaWwgcXVpei4iLz4NCgkJPHVpdGV4dCBuYW1lPSJJTkZPUk1BVElPTl9IMjY0X0ZMQVNIUExBWUVSIiB2YWx1ZT0iTGEgdmVyc2lvbmUgZGkgRmxhc2ggUGxheWVyIGF0dHVhbG1lbnRlIGluc3RhbGxhdGEgbm9uIHN1cHBvcnRhIHF1ZXN0byB2aWRlby4gRmF0ZSBjbGljIHN1bGwnYXJlYSBkZWwgdmlkZW8gcGVyIHNjYXJpY2FyZSBsJ3VsdGltYSB2ZXJzaW9uZSBka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SBiYXJyYSBsYXRlcmFsZSBhaSBwYXJ0ZWNpcGFudGkiLz4NCgkJPHVpdGV4dCBuYW1lPSJNVVRFIiB2YWx1ZT0iRGlzYXR0aXZhIGF1ZGlvIi8+DQoJCTx1aXRleHQgbmFtZT0iRE9DV1JBUF9USVRMRSIgdmFsdWU9IkFsbGVnYXRvIGZpbGUgUHJlc2VudGVyIi8+DQoJCTx1aXRleHQgbmFtZT0iRE9DV1JBUF9NU0ciIHZhbHVlPSJTYWx2YSBpbiBSaXNvcnNlIGRlbCBjb21wdXRlciIvPg0KCQk8dWl0ZXh0IG5hbWU9IkRPQ1dSQVBfUFJPTVBUIiB2YWx1ZT0iQ2xpYyBwZXIgc2NhcmljYXJlIi8+DQoJPC9sYW5ndWFnZT4NCgk8bGFuZ3VhZ2UgaWQ9Im5s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SAlbiIvPg0KCQk8IS0tIHN1YnN0aXR1dGlvbjogJW4gPT0gc2xpZGUgbnVtYmVyIC0tPg0KCQk8IS0tIHN1YnN0aXR1dGlvbjogJXQgPT0gdG90YWwgc2xpZGUgY291bnQgLS0+DQoJCTx1aXRleHQgbmFtZT0iU0NSVUJCQVJTVEFUVVNfU0xJREVJTkZPIiB2YWx1ZT0iRGlhICVuIC8gJXQgfCAiLz4NCgkJPHVpdGV4dCBuYW1lPSJTQ1JVQkJBUlNUQVRVU19TVE9QUEVEIiB2YWx1ZT0iR2VzdG9wdCIvPg0KCQk8dWl0ZXh0IG5hbWU9IlNDUlVCQkFSU1RBVFVTX1BMQVlJTkciIHZhbHVlPSJBZnNwZWxlbiIvPg0KCQk8dWl0ZXh0IG5hbWU9IlNDUlVCQkFSU1RBVFVTX05PQVVESU8iIHZhbHVlPSJHZWVuIGF1ZGlvIi8+DQoJCTx1aXRleHQgbmFtZT0iU0NSVUJCQVJTVEFUVVNfVklEUExBWUlORyIgdmFsdWU9IlZpZGVvIGFmc3BlbGVuIi8+DQoJCTx1aXRleHQgbmFtZT0iU0NSVUJCQVJTVEFUVVNfTE9BRElORyIgdmFsdWU9IkxhZGVuIi8+DQoJCTx1aXRleHQgbmFtZT0iU0NSVUJCQVJTVEFUVVNfQlVGRkVSSU5HIiB2YWx1ZT0iQnVmZmVyZW4iLz4NCgkJPHVpdGV4dCBuYW1lPSJTQ1JVQkJBUlNUQVRVU19RVUVTVElPTiIgdmFsdWU9IlZyYWFnIG1ldCBhbnR3b29yZCIvPg0KCQk8dWl0ZXh0IG5hbWU9IlNDUlVCQkFSU1RBVFVTX1JFVklFV1FVSVoiIHZhbHVlPSJRdWl6IGNvbnRyb2xlcmVuIi8+DQoJCTwhLS0gc3Vic3RpdHV0aW9uOiAlbSA9PSBtaW51dGVzIHJlbWFpbmluZyAtLT4NCgkJPCEtLSBzdWJzdGl0dXRpb246ICVzID09IHNlY29uZHMgcmVtYWluaW5nIC0tPg0KCQk8dWl0ZXh0IG5hbWU9IkVMQVBTRUQiIHZhbHVlPSJFciByZXN0ZXJlbiAlbSBtaW51dGVuICVzIHNlY29uZGVuIi8+DQoJCTx1aXRleHQgbmFtZT0iTk9URk9VTkQiIHZhbHVlPSJOaWV0cyBnZXZvbmRlbiIvPg0KCQk8dWl0ZXh0IG5hbWU9IkFUVEFDSE1FTlRTIiB2YWx1ZT0iQmlqbGFnZW4iLz4NCgkJPCEtLSBzdWJzdGl0dXRpb246ICVwID09IGN1cnJlbnQgc3BlYWtlcidzIHRpdGxlIC0tPg0KCQk8dWl0ZXh0IG5hbWU9IkJJT1dJTl9USVRMRSIgdmFsdWU9IkJpb2dyYWZpZTogJXAiLz4NCgkJPHVpdGV4dCBuYW1lPSJCSU9CVE5fVElUTEUiIHZhbHVlPSJCaW9ncmFmaWUiLz4NCgkJPHVpdGV4dCBuYW1lPSJESVZJREVSQlROX1RJVExFIiB2YWx1ZT0ifCIvPg0KCQk8dWl0ZXh0IG5hbWU9IkNPTlRBQ1RCVE5fVElUTEUiIHZhbHVlPSJDb250YWN0Ii8+DQoJCTx1aXRleHQgbmFtZT0iVEFCX1FVSVoiIHZhbHVlPSJRdWl6Ii8+DQoJCTx1aXRleHQgbmFtZT0iVEFCX09VVExJTkUiIHZhbHVlPSJPdmVyemljaHQiLz4NCgkJPHVpdGV4dCBuYW1lPSJUQUJfVEhVTUIiIHZhbHVlPSJNaW5pYXR1dXIiLz4NCgkJPHVpdGV4dCBuYW1lPSJUQUJfTk9URVMiIHZhbHVlPSJOb3RpdGllcyIvPg0KCQk8dWl0ZXh0IG5hbWU9IlRBQl9TRUFSQ0giIHZhbHVlPSJab2VrZW4iLz4NCgkJPHVpdGV4dCBuYW1lPSJTTElERV9IRUFESU5HIiB2YWx1ZT0iVGl0ZWwgdmFuIGRpYSIvPg0KCQk8dWl0ZXh0IG5hbWU9IkRVUkFUSU9OX0hFQURJTkciIHZhbHVlPSJEdXVyIi8+DQoJCTx1aXRleHQgbmFtZT0iU0VBUkNIX0hFQURJTkciIHZhbHVlPSJab2VrZW4gbmFhciB0ZWtzdDoiLz4NCgkJPHVpdGV4dCBuYW1lPSJUSFVNQl9IRUFESU5HIiB2YWx1ZT0iRGlhIi8+DQoJCTx1aXRleHQgbmFtZT0iVEhVTUJfSU5GTyIgdmFsdWU9IlRpdGVsL2R1dXIgdmFuIGRpYSIvPg0KCQk8dWl0ZXh0IG5hbWU9IkFUVEFDSE5BTUVfSEVBRElORyIgdmFsdWU9IkJlc3RhbmRzbmFhbSIvPg0KCQk8dWl0ZXh0IG5hbWU9IkFUVEFDSFNJWkVfSEVBRElORyIgdmFsdWU9Ikdyb290dGUiLz4NCgkJPHVpdGV4dCBuYW1lPSJTTElERV9OT1RFUyIgdmFsdWU9IkRpYW5vdGl0aWVzIi8+DQoJCTwhLS1xdWl6IHBvZCBhbmQgbWVzc2FnZSBib3ggdGV4dHMtLT4NCgkJPHVpdGV4dCBuYW1lPSJRVUlaUE9EX1FVSVpfQVRURU1QVCIgdmFsdWU9IlF1aXpwb2dpbmc6Ii8+DQoJCTx1aXRleHQgbmFtZT0iUVVJWlBPRF9RVUlaX0FUVEVNUFRfVkFMVUUiIHZhbHVlPSIlbiB2YW4gJXQiLz4NCgkJPHVpdGV4dCBuYW1lPSJRVUlaUE9EX1FVSVpfU0NPUkUiIHZhbHVlPSJCZWhhYWxkZSBzY29yZToiLz4NCgkJPHVpdGV4dCBuYW1lPSJRVUlaUE9EX1FVSVpfUEFTU1NDT1JFIiB2YWx1ZT0iVm9sZG9lbmRlIHNjb3JlOiIvPg0KCQk8dWl0ZXh0IG5hbWU9IlFVSVpQT0RfUVVJWl9NQVhTQ09SRSIgdmFsdWU9Ik1heGltYWFsIGhhYWxiYXJlIHNjb3JlOiIvPg0KCQk8dWl0ZXh0IG5hbWU9IlFVSVpQT0RfUVVFU0FUTVBUX1NUUiIgdmFsdWU9IlBvZ2luZzogJW4gdmFuICV0Ii8+DQoJCTx1aXRleHQgbmFtZT0iUVVJWlBPRF9RVUVTVFlQRV9TVFIiIHZhbHVlPSJUeXBlOiAlcyIvPg0KCQk8dWl0ZXh0IG5hbWU9IlFVSVpQT0RfUVVFU1RZUEVfR1JEIiB2YWx1ZT0iVGVsdCB2b29yIHNjb3JlIi8+DQoJCTx1aXRleHQgbmFtZT0iUVVJWlBPRF9RVUVTVFlQRV9TVlkiIHZhbHVlPSJFbnF1w6p0ZSIvPg0KCQk8dWl0ZXh0IG5hbWU9IlFVSVpQT0RfUVVJWkFUTVBUX0lORiIgdmFsdWU9Ik9uYmVwZXJrdCIvPg0KCQk8dWl0ZXh0IG5hbWU9IlFVSVpQT0RfUVVFU0FUTVBUX0lORiIgdmFsdWU9Ik9uYmVwZXJrdCIvPg0KCQk8dWl0ZXh0IG5hbWU9IldBUk5JTkdNU0dfWUVTU1RSSU5HIiB2YWx1ZT0iSmEiLz4NCgkJPHVpdGV4dCBuYW1lPSJXQVJOSU5HTVNHX05PU1RSSU5HIiB2YWx1ZT0iTmVlIi8+DQoJCTx1aXRleHQgbmFtZT0iV0FSTklOR01TR19USVRMRVNUUklORyIgdmFsdWU9IldhYXJzY2h1d2luZyBtZXQgYmV0cmVra2luZyB0b3QgcXVpem5hdmlnYXRpZSIvPg0KCQk8dWl0ZXh0IG5hbWU9IldBUk5JTkdNU0dfTVNHU1RSSU5HIiB2YWx1ZT0iVSBoZWJ0IG5pZXQgYWxsZSB2cmFnZW4gaW4gZGV6ZSBxdWl6IGJlYW50d29vcmQuJiN4QTsmI3hBO0tsaWsgb3AgSmEgb20gZGUgcXVpeiBhZiB0ZSBzbHVpdGVuLiBLbGlrIG9wIE5lZSBvbSBkZSBxdWl6IHZvb3J0IHRlIHpldHRlbi4iLz4NCgkJPHVpdGV4dCBuYW1lPSJJTkZPUk1BVElPTl9IMjY0X0ZMQVNIUExBWUVSIiB2YWx1ZT0iRGV6ZSB2aWRlbyB3b3JkdCBuaWV0IG9uZGVyc3RldW5kIGRvb3IgZGUgdmVyc2llIHZhbiBGbGFzaCBQbGF5ZXIgZGllIG1vbWVudGVlbCBvcCB1dyBjb21wdXRlciBpcyBnZcOvbnN0YWxsZWVyZC4gS2xpayBpbiBkZSB2aWRlbyBvbSBkZSBuaWV1d3N0ZSBGbGFzaCBQbGF5ZXIgdGUgZG93bmxv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WmlqcGFuZWVsIGFhbiBkZWVsbmVtZXJzIHdlZXJnZXZlbiIvPg0KCQk8dWl0ZXh0IG5hbWU9Ik1VVEUiIHZhbHVlPSJEZW1wZW4iLz4NCgkJPHVpdGV4dCBuYW1lPSJET0NXUkFQX1RJVExFIiB2YWx1ZT0iUHJlc2VudGVyLWJlc3RhbmRzYmlqbGFnZSIvPg0KCQk8dWl0ZXh0IG5hbWU9IkRPQ1dSQVBfTVNHIiB2YWx1ZT0iT3BzbGFhbiBpbiBEZXplIGNvbXB1dGVyIi8+DQoJCTx1aXRleHQgbmFtZT0iRE9DV1JBUF9QUk9NUFQiIHZhbHVlPSJLbGlrIG9tIHRlIGRvd25sb2FkZW4iLz4NCgk8L2xhbmd1YWdlPg0KCTxsYW5ndWFnZSBpZD0iY24iPg0KCQk8IS0tIGZvcm1hdCBmb3IgdWlmb250IHZhbHVlIGlzICJmb250LHNpemUsaXNib2xkLGlzaXRhbGljLGlzc2hhZG93ZWQiIC0tPg0KCQk8dWlmb250IG5hbWU9IkZPTlRfUVVJWlpJTkciIHZhbHVlPSLlrovkvZMtMTgwMzAsMTAsZmFsc2UsZmFsc2UsZmFsc2UiLz4NCgkJPHVpZm9udCBuYW1lPSJGT05UX1NDUlVCU1RBVFVTIiB2YWx1ZT0i5a6L5L2TLTE4MDMwLDEwLHRydWUsZmFsc2UsdHJ1ZSIvPg0KCQk8dWlmb250IG5hbWU9IkZPTlRfU0NSVUJUSU1FIiB2YWx1ZT0i5a6L5L2TLTE4MDMwLDEwLGZhbHNlLGZhbHNlLHRydWUiLz4NCgkJPHVpZm9udCBuYW1lPSJGT05UX0VMQVBTRURUSU1FIiB2YWx1ZT0i5a6L5L2TLTE4MDMwLDEwLHRydWUsZmFsc2UsdHJ1ZSIvPg0KCQk8dWlmb250IG5hbWU9IkZPTlRfVVRJTFNNRU5VIiB2YWx1ZT0i5a6L5L2TLTE4MDMwLDEwLHRydWUsZmFsc2UsZmFsc2UiLz4NCgkJPHVpZm9udCBuYW1lPSJGT05UX1RBQlMiIHZhbHVlPSLlrovkvZMtMTgwMzAsMTQsdHJ1ZSxmYWxzZSx0cnVlIi8+DQoJCTx1aWZvbnQgbmFtZT0iRk9OVF9QUkVTRU5UQVRJT05OQU1FIiB2YWx1ZT0i5a6L5L2TLTE4MDMwLDE0LGZhbHNlLGZhbHNlLHRydWUiLz4NCgkJPHVpZm9udCBuYW1lPSJGT05UX1BSRVNFTlRFUk5BTUUiIHZhbHVlPSLlrovkvZMtMTgwMzAsMTQsdHJ1ZSxmYWxzZSx0cnVlIi8+DQoJCTx1aWZvbnQgbmFtZT0iRk9OVF9QUkVTRU5URVJUSVRMRSIgdmFsdWU9IuWui+S9ky0xODAzMCwxMyxmYWxzZSxmYWxzZSx0cnVlIi8+DQoJCTx1aWZvbnQgbmFtZT0iRk9OVF9CSU9CVE4iIHZhbHVlPSLlrovkvZMtMTgwMzAsMTAsZmFsc2UsZmFsc2UsdHJ1ZSIvPg0KCQk8dWlmb250IG5hbWU9IkZPTlRfTk9URVMiIHZhbHVlPSLlrovkvZMtMTgwMzAsMTIsZmFsc2UsZmFsc2UsZmFsc2UiLz4NCgkJPHVpZm9udCBuYW1lPSJGT05UX09VVExJTkUiIHZhbHVlPSLlrovkvZMtMTgwMzAsMTIsZmFsc2UsZmFsc2UsdHJ1ZSIvPg0KCQk8dWlmb250IG5hbWU9IkZPTlRfU0VBUkNIIiB2YWx1ZT0i5a6L5L2TLTE4MDMwLDEyLGZhbHNlLGZhbHNlLHRydWUiLz4NCgkJPHVpZm9udCBuYW1lPSJGT05UX1RIVU1CIiB2YWx1ZT0i5a6L5L2TLTE4MDMwLDEwLGZhbHNlLGZhbHNlLHRydWUiLz4NCgkJPHVpZm9udCBuYW1lPSJGT05UX0JJT1dJTiIgdmFsdWU9IuWui+S9ky0xODAzMCwxMixmYWxzZSxmYWxzZSxmYWxzZSIvPg0KCQk8dWlmb250IG5hbWU9IkZPTlRfTElTVEhFQURJTkciIHZhbHVlPSLlrovkvZMtMTgwMzAsMTAsZmFsc2UsZmFsc2UsZmFsc2UiLz4NCgkJPHVpZm9udCBuYW1lPSJGT05UX1dJTlRJVExFIiB2YWx1ZT0i5a6L5L2TLTE4MDMwLDEwLGZhbHNlLGZhbHNlLHRydWUiLz4NCgkJPHVpZm9udCBuYW1lPSJGT05UX0FUVEFDSE1FTlRTIiB2YWx1ZT0i5a6L5L2TLTE4MDMwLDEyLGZhbHNlLGZhbHNlLHRydWUiLz4NCgkJPCEtLXF1aXogcG9kIGFuZCBtZXNzYWdlIGJveCB0ZXh0IGZvbnRzLS0+DQoJCTx1aWZvbnQgbmFtZT0iRk9OVF9NU0dCT1hfV0lOVElUTEUiIHZhbHVlPSLlrovkvZMtMTgwMzAsMTIsdHJ1ZSxmYWxzZSx0cnVlIi8+DQoJCTx1aWZvbnQgbmFtZT0iRk9OVF9NU0dCT1hfTVNHIiB2YWx1ZT0i5a6L5L2TLTE4MDMwLDEyLGZhbHNlLGZhbHNlLHRydWUiLz4NCgkJPHVpZm9udCBuYW1lPSJGT05UX01TR0JPWF9PUFRJT05TIiB2YWx1ZT0i5a6L5L2TLTE4MDMwLDEwLHRydWUsZmFsc2UsdHJ1ZSIvPg0KCQk8dWlmb250IG5hbWU9IkZPTlRfUVVJWlBPRF9RVUlaX1RJVExFIiB2YWx1ZT0i5a6L5L2TLTE4MDMwLDEyLHRydWUsZmFsc2UsdHJ1ZSIvPg0KCQk8dWlmb250IG5hbWU9IkZPTlRfUVVJWlBPRF9RVUlaX0FUVEVNUFQiIHZhbHVlPSLlrovkvZMtMTgwMzAsMTAsZmFsc2UsZmFsc2UsdHJ1ZSIvPg0KCQk8dWlmb250IG5hbWU9IkZPTlRfUVVJWlBPRF9RVUlaX0FUVEVNUFRfVkFMVUUiIHZhbHVlPSLlrovkvZMtMTgwMzAsMTAsdHJ1ZSxmYWxzZSx0cnVlIi8+DQoJCTx1aWZvbnQgbmFtZT0iRk9OVF9RVUlaUE9EX1FVRVNUSU9OX1NDT1JFIiB2YWx1ZT0i5a6L5L2TLTE4MDMwLDEwLGZhbHNlLGZhbHNlLHRydWUiLz4NCgkJPHVpZm9udCBuYW1lPSJGT05UX1FVSVpQT0RfUVVFU1RJT05fU0NPUkVfVkFMVUUiIHZhbHVlPSLlrovkvZMtMTgwMzAsMTAsdHJ1ZSxmYWxzZSx0cnVlIi8+DQoJCTx1aWZvbnQgbmFtZT0iRk9OVF9RVUlaUE9EX1FVRVNUSU9OX0FUVEVNUFQiIHZhbHVlPSLlrovkvZMtMTgwMzAsMTAsZmFsc2UsZmFsc2UsdHJ1ZSIvPg0KCQk8dWlmb250IG5hbWU9IkZPTlRfUVVJWlBPRF9RVUVTVElPTl9BVFRFTVBUX1ZBTFVFIiB2YWx1ZT0i5a6L5L2TLTE4MDMwLDEwLHRydWUsZmFsc2UsdHJ1ZSIvPg0KCQk8dWlmb250IG5hbWU9IkZPTlRfUVVJWlBPRF9RVUVTVElPTl9UQUciIHZhbHVlPSLlrovkvZMtMTgwMzAsMTIsdHJ1ZSxmYWxzZSx0cnVlIi8+DQoJCTx1aWZvbnQgbmFtZT0iRk9OVF9RVUlaUE9EX1FVSVpfUVVFU1RJT05fQ09VTlQiIHZhbHVlPSLlrovkvZMtMTgwMzAsMTAsZmFsc2UsZmFsc2UsdHJ1ZSIvPg0KCQk8dWlmb250IG5hbWU9IkZPTlRfUVVJWlBPRF9RVUlaX1FVRVNUSU9OX0NPVU5UX1ZBTFVFIiB2YWx1ZT0i5a6L5L2TLTE4MDMwLDEwLHRydWUsZmFsc2UsdHJ1ZSIvPg0KCQk8dWlmb250IG5hbWU9IkZPTlRfUVVJWlBPRF9RVUlaX1FVRVNUSU9OX0FUVEVNUFRFRCIgdmFsdWU9IuWui+S9ky0xODAzMCwxMCxmYWxzZSxmYWxzZSx0cnVlIi8+DQoJCTx1aWZvbnQgbmFtZT0iRk9OVF9RVUlaUE9EX1FVSVpfUVVFU1RJT05fQVRURU1QVEVEX1ZBTFVFIiB2YWx1ZT0i5a6L5L2TLTE4MDMwLDEwLHRydWUsZmFsc2UsdHJ1ZSIvPg0KCQk8dWlmb250IG5hbWU9IkZPTlRfUVVJWlBPRF9RVUlaX1NDT1JFX1RBRyIgdmFsdWU9IuWui+S9ky0xODAzMCwxMix0cnVlLGZhbHNlLHRydWUiLz4NCgkJPHVpZm9udCBuYW1lPSJGT05UX1FVSVpQT0RfUVVJWl9TQ09SRSIgdmFsdWU9IuWui+S9ky0xODAzMCwxMCxmYWxzZSxmYWxzZSx0cnVlIi8+DQoJCTx1aWZvbnQgbmFtZT0iRk9OVF9RVUlaUE9EX1FVSVpfU0NPUkVfVkFMVUUiIHZhbHVlPSLlrovkvZMtMTgwMzAsMTAsdHJ1ZSxmYWxzZSx0cnVlIi8+DQoJCTx1aWZvbnQgbmFtZT0iRk9OVF9RVUlaUE9EX1FVSVpfTUFYU0NPUkUiIHZhbHVlPSLlrovkvZMtMTgwMzAsMTAsZmFsc2UsZmFsc2UsdHJ1ZSIvPg0KCQk8dWlmb250IG5hbWU9IkZPTlRfUVVJWlBPRF9RVUlaX01BWFNDT1JFX1ZBTFVFIiB2YWx1ZT0i5a6L5L2TLTE4MDMwLDEwLHRydWUsZmFsc2UsdHJ1ZSIvPg0KCQk8dWlmb250IG5hbWU9IkZPTlRfUVVJWlBPRF9RVUlaX1BBU1NTQ09SRSIgdmFsdWU9IuWui+S9ky0xODAzMCwxMCxmYWxzZSxmYWxzZSx0cnVlIi8+DQoJCTx1aWZvbnQgbmFtZT0iRk9OVF9RVUlaUE9EX1FVSVpfUEFTU1NDT1JFX1ZBTFVFIiB2YWx1ZT0i5a6L5L2TLTE4MDMwLDEwLHRydWUsZmFsc2UsdHJ1ZSIvPg0KCQk8IS0tIHVpdGV4dCAtLT4NCgkJPCEtLSBzdWJzdGl0dXRpb246ICVuID09IHNsaWRlIG51bWJlciAtLT4NCgkJPHVpdGV4dCBuYW1lPSJVTk5BTUVEU0xJREVUSVRMRSIgdmFsdWU9IuW5u+eBr+eJhyAlbiIvPg0KCQk8IS0tIHN1YnN0aXR1dGlvbjogJW4gPT0gc2xpZGUgbnVtYmVyIC0tPg0KCQk8IS0tIHN1YnN0aXR1dGlvbjogJXQgPT0gdG90YWwgc2xpZGUgY291bnQgLS0+DQoJCTx1aXRleHQgbmFtZT0iU0NSVUJCQVJTVEFUVVNfU0xJREVJTkZPIiB2YWx1ZT0i5bm754Gv54mHICVuIC8gJXQgfCAiLz4NCgkJPHVpdGV4dCBuYW1lPSJTQ1JVQkJBUlNUQVRVU19TVE9QUEVEIiB2YWx1ZT0i5bey5YGc5q2iIi8+DQoJCTx1aXRleHQgbmFtZT0iU0NSVUJCQVJTVEFUVVNfUExBWUlORyIgdmFsdWU9Iuato+WcqOaSreaUviIvPg0KCQk8dWl0ZXh0IG5hbWU9IlNDUlVCQkFSU1RBVFVTX05PQVVESU8iIHZhbHVlPSLml6Dpn7PpopEiLz4NCgkJPHVpdGV4dCBuYW1lPSJTQ1JVQkJBUlNUQVRVU19WSURQTEFZSU5HIiB2YWx1ZT0i6KeG6aKR5pKt5pS+Ii8+DQoJCTx1aXRleHQgbmFtZT0iU0NSVUJCQVJTVEFUVVNfTE9BRElORyIgdmFsdWU9Iuato+WcqOi9veWFpSIvPg0KCQk8dWl0ZXh0IG5hbWU9IlNDUlVCQkFSU1RBVFVTX0JVRkZFUklORyIgdmFsdWU9Iuato+WcqOi/m+ihjOe8k+WGsuWkhOeQhiIvPg0KCQk8dWl0ZXh0IG5hbWU9IlNDUlVCQkFSU1RBVFVTX1FVRVNUSU9OIiB2YWx1ZT0i5Zue562U6Zeu6aKYIi8+DQoJCTx1aXRleHQgbmFtZT0iU0NSVUJCQVJTVEFUVVNfUkVWSUVXUVVJWiIgdmFsdWU9Iuato+WcqOWuoemYhea1i+mqjCIvPg0KCQk8IS0tIHN1YnN0aXR1dGlvbjogJW0gPT0gbWludXRlcyByZW1haW5pbmcgLS0+DQoJCTwhLS0gc3Vic3RpdHV0aW9uOiAlcyA9PSBzZWNvbmRzIHJlbWFpbmluZyAtLT4NCgkJPHVpdGV4dCBuYW1lPSJFTEFQU0VEIiB2YWx1ZT0i5Ymp5L2ZICVtIOWIhumSnyAlcyDnp5IiLz4NCgkJPHVpdGV4dCBuYW1lPSJOT1RGT1VORCIgdmFsdWU9IuacquaJvuWIsOS7u+S9leWGheWuuSIvPg0KCQk8dWl0ZXh0IG5hbWU9IkFUVEFDSE1FTlRTIiB2YWx1ZT0i6ZmE5Lu2Ii8+DQoJCTwhLS0gc3Vic3RpdHV0aW9uOiAlcCA9PSBjdXJyZW50IHNwZWFrZXIncyB0aXRsZSAtLT4NCgkJPHVpdGV4dCBuYW1lPSJCSU9XSU5fVElUTEUiIHZhbHVlPSLkuKrkurrnroDku4s6ICVwIi8+DQoJCTx1aXRleHQgbmFtZT0iQklPQlROX1RJVExFIiB2YWx1ZT0i5Liq5Lq6566A5LuLIi8+DQoJCTx1aXRleHQgbmFtZT0iRElWSURFUkJUTl9USVRMRSIgdmFsdWU9InwiLz4NCgkJPHVpdGV4dCBuYW1lPSJDT05UQUNUQlROX1RJVExFIiB2YWx1ZT0i6IGU57O75pa55byPIi8+DQoJCTx1aXRleHQgbmFtZT0iVEFCX1FVSVoiIHZhbHVlPSLmtYvpqowiLz4NCgkJPHVpdGV4dCBuYW1lPSJUQUJfT1VUTElORSIgdmFsdWU9IuWkp+e6siIvPg0KCQk8dWl0ZXh0IG5hbWU9IlRBQl9USFVNQiIgdmFsdWU9Iue8qeeVpeWbviIvPg0KCQk8dWl0ZXh0IG5hbWU9IlRBQl9OT1RFUyIgdmFsdWU9IuWkh+azqCIvPg0KCQk8dWl0ZXh0IG5hbWU9IlRBQl9TRUFSQ0giIHZhbHVlPSLmkJzntKIiLz4NCgkJPHVpdGV4dCBuYW1lPSJTTElERV9IRUFESU5HIiB2YWx1ZT0i5bm754Gv54mH5qCH6aKYIi8+DQoJCTx1aXRleHQgbmFtZT0iRFVSQVRJT05fSEVBRElORyIgdmFsdWU9IuaMgee7reaXtumXtCIvPg0KCQk8dWl0ZXh0IG5hbWU9IlNFQVJDSF9IRUFESU5HIiB2YWx1ZT0i5pCc57Si5paH5pysOiIvPg0KCQk8dWl0ZXh0IG5hbWU9IlRIVU1CX0hFQURJTkciIHZhbHVlPSLlubvnga/niYciLz4NCgkJPHVpdGV4dCBuYW1lPSJUSFVNQl9JTkZPIiB2YWx1ZT0i5bm754Gv54mH5qCH6aKYL+aMgee7reaXtumXtCIvPg0KCQk8dWl0ZXh0IG5hbWU9IkFUVEFDSE5BTUVfSEVBRElORyIgdmFsdWU9IuaWh+S7tuWQjSIvPg0KCQk8dWl0ZXh0IG5hbWU9IkFUVEFDSFNJWkVfSEVBRElORyIgdmFsdWU9IuWkp+WwjyIvPg0KCQk8dWl0ZXh0IG5hbWU9IlNMSURFX05PVEVTIiB2YWx1ZT0i5bm754Gv54mH5aSH5rOo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8L2NvbmZpZ3VyYXRpb24+DQo="/>
  <p:tag name="MMPROD_UIDATA" val="&lt;database version=&quot;7.0&quot;&gt;&lt;object type=&quot;1&quot; unique_id=&quot;10001&quot;&gt;&lt;property id=&quot;20141&quot; value=&quot;Test&quot;/&gt;&lt;property id=&quot;20144&quot; value=&quot;0&quot;/&gt;&lt;property id=&quot;20146&quot; value=&quot;0&quot;/&gt;&lt;property id=&quot;20147&quot; value=&quot;0&quot;/&gt;&lt;property id=&quot;20148&quot; value=&quot;0&quot;/&gt;&lt;property id=&quot;20180&quot; value=&quot;1&quot;/&gt;&lt;property id=&quot;20181&quot; value=&quot;1祡䘌໴챐ຸᄸ&quot;/&gt;&lt;property id=&quot;20182&quot; value=&quot;0&quot;/&gt;&lt;property id=&quot;20183&quot; value=&quot;1&quot;/&gt;&lt;property id=&quot;20184&quot; value=&quot;7&quot;/&gt;&lt;property id=&quot;20191&quot; value=&quot;McGill&quot;/&gt;&lt;property id=&quot;20192&quot; value=&quot;https://connect.mcgill.ca&quot;/&gt;&lt;property id=&quot;20193&quot; value=&quot;0&quot;/&gt;&lt;property id=&quot;20224&quot; value=&quot;C:\Users\jremil3.CAMPUS\Desktop\Untitled&quot;/&gt;&lt;property id=&quot;20226&quot; value=&quot;C:\Users\jremil3.CAMPUS\Documents\Test.pptx&quot;/&gt;&lt;property id=&quot;20250&quot; value=&quot;0&quot;/&gt;&lt;property id=&quot;20251&quot; value=&quot;0&quot;/&gt;&lt;property id=&quot;20259&quot; value=&quot;0&quot;/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2&quot; value=&quot;1&quot;/&gt;&lt;property id=&quot;20303&quot; value=&quot;-1&quot;/&gt;&lt;property id=&quot;20307&quot; value=&quot;256&quot;/&gt;&lt;property id=&quot;20309&quot; value=&quot;-1&quot;/&gt;&lt;/object&gt;&lt;/object&gt;&lt;object type=&quot;4&quot; unique_id=&quot;10282&quot;&gt;&lt;/object&gt;&lt;object type=&quot;10&quot; unique_id=&quot;10313&quot;&gt;&lt;object type=&quot;11&quot; unique_id=&quot;10314&quot;&gt;&lt;property id=&quot;20180&quot; value=&quot;1&quot;/&gt;&lt;property id=&quot;20181&quot; value=&quot;1祡䘌໴챐ຸᄸ&quot;/&gt;&lt;property id=&quot;20182&quot; value=&quot;0&quot;/&gt;&lt;property id=&quot;20183&quot; value=&quot;1&quot;/&gt;&lt;/object&gt;&lt;object type=&quot;12&quot; unique_id=&quot;10315&quot;&gt;&lt;/object&gt;&lt;/object&gt;&lt;/object&gt;&lt;/database&gt;"/>
  <p:tag name="SECTOMILLISECCONVERTED" val="1"/>
  <p:tag name="ARTICULATE_DESIGN_ID_3_BODY SLIDES" val="KxQTgtwD"/>
  <p:tag name="ARTICULATE_DESIGN_ID_SCS_INSTRUCTOR_TEMPLATE_FINAL_11JUL12" val="WjYDd5jC"/>
  <p:tag name="ARTICULATE_DESIGN_ID_2_COURSE INTRODUCTION SECTION SLIDES" val="2oyRvmTz"/>
  <p:tag name="ARTICULATE_DESIGN_ID_6_END SLIDE" val="e5N5rkiO"/>
  <p:tag name="ARTICULATE_DESIGN_ID_5_SUMMARY SLIDES" val="0yFMtatE"/>
  <p:tag name="ARTICULATE_DESIGN_ID_4_ACTIVITY SLIDES" val="3IO17py5"/>
  <p:tag name="ARTICULATE_SLIDE_COUNT" val="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3_Body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S_Instructor_Template_JAN-2016_01.potx" id="{B171CE54-E0B3-48DE-B5A6-CB6B870F1157}" vid="{F7B45810-D9B3-47F4-BC11-88D54CF40A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879ED8B4619441B91687DCDA02DA39" ma:contentTypeVersion="4" ma:contentTypeDescription="Create a new document." ma:contentTypeScope="" ma:versionID="e9f6abe488ccb30ede1a22ac04af6b8b">
  <xsd:schema xmlns:xsd="http://www.w3.org/2001/XMLSchema" xmlns:xs="http://www.w3.org/2001/XMLSchema" xmlns:p="http://schemas.microsoft.com/office/2006/metadata/properties" xmlns:ns2="21d99a6e-e1bc-4d91-b097-03191ed450e9" targetNamespace="http://schemas.microsoft.com/office/2006/metadata/properties" ma:root="true" ma:fieldsID="3456e5b705d00c9872288845cb9a19d4" ns2:_="">
    <xsd:import namespace="21d99a6e-e1bc-4d91-b097-03191ed450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d99a6e-e1bc-4d91-b097-03191ed450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0B557B7-572B-469E-8654-651CECEDBD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d99a6e-e1bc-4d91-b097-03191ed450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E3EF9B-59AC-447C-85F7-757DD6B349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C04534-A83D-479B-A773-C2FB7E41A064}">
  <ds:schemaRefs>
    <ds:schemaRef ds:uri="http://www.w3.org/XML/1998/namespace"/>
    <ds:schemaRef ds:uri="http://schemas.microsoft.com/office/2006/documentManagement/types"/>
    <ds:schemaRef ds:uri="http://purl.org/dc/dcmitype/"/>
    <ds:schemaRef ds:uri="dedabe45-036a-435e-993e-705e5b96e450"/>
    <ds:schemaRef ds:uri="bb4e6460-2876-4d3d-92e1-67f1bf6a2c5e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SCS_Instructor_Template_JAN-2016_final (002)</Template>
  <TotalTime>1466</TotalTime>
  <Words>1425</Words>
  <Application>Microsoft Macintosh PowerPoint</Application>
  <PresentationFormat>Widescreen</PresentationFormat>
  <Paragraphs>242</Paragraphs>
  <Slides>43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Britannic Bold</vt:lpstr>
      <vt:lpstr>Calibri</vt:lpstr>
      <vt:lpstr>Times New Roman</vt:lpstr>
      <vt:lpstr>Wingdings</vt:lpstr>
      <vt:lpstr>3_Body Slides</vt:lpstr>
      <vt:lpstr>Information System Security CMIS 422 Weaknesses in Programs Module 4   Mona Taghavi</vt:lpstr>
      <vt:lpstr>Session Overview</vt:lpstr>
      <vt:lpstr>Buffer Overflow</vt:lpstr>
      <vt:lpstr>Buffer Overflow </vt:lpstr>
      <vt:lpstr>Memory organization</vt:lpstr>
      <vt:lpstr>Where a buffer can overflow</vt:lpstr>
      <vt:lpstr>Time-of-Check to Time-of-Use</vt:lpstr>
      <vt:lpstr>Race Conditions</vt:lpstr>
      <vt:lpstr>Race Conditions</vt:lpstr>
      <vt:lpstr>Malware</vt:lpstr>
      <vt:lpstr>Malwares</vt:lpstr>
      <vt:lpstr>Malware Features</vt:lpstr>
      <vt:lpstr>Malware</vt:lpstr>
      <vt:lpstr>Virus Detection</vt:lpstr>
      <vt:lpstr>Malware</vt:lpstr>
      <vt:lpstr>Morris Worm (November 1988)</vt:lpstr>
      <vt:lpstr>Email Worms: Spreading as Email Attachments</vt:lpstr>
      <vt:lpstr>Malware</vt:lpstr>
      <vt:lpstr>Logic Bomb</vt:lpstr>
      <vt:lpstr>Adware</vt:lpstr>
      <vt:lpstr>Spyware</vt:lpstr>
      <vt:lpstr>Scareware</vt:lpstr>
      <vt:lpstr>PowerPoint Presentation</vt:lpstr>
      <vt:lpstr>Ransomware</vt:lpstr>
      <vt:lpstr>Countermeasures for Users</vt:lpstr>
      <vt:lpstr>Countermeasures for Developers</vt:lpstr>
      <vt:lpstr>Defensive Programming</vt:lpstr>
      <vt:lpstr>First Rule</vt:lpstr>
      <vt:lpstr>Input Validation</vt:lpstr>
      <vt:lpstr>Second Rule</vt:lpstr>
      <vt:lpstr>Magic Numbers</vt:lpstr>
      <vt:lpstr>Proper indentation</vt:lpstr>
      <vt:lpstr>Third Rule</vt:lpstr>
      <vt:lpstr>Refactoring</vt:lpstr>
      <vt:lpstr>Modularity</vt:lpstr>
      <vt:lpstr>Two Essential Properties</vt:lpstr>
      <vt:lpstr>Cohesion</vt:lpstr>
      <vt:lpstr>Coupling</vt:lpstr>
      <vt:lpstr>Tight or loose coupling?</vt:lpstr>
      <vt:lpstr>Information Hiding</vt:lpstr>
      <vt:lpstr>Data Encapsulation</vt:lpstr>
      <vt:lpstr>Data Encapsulation</vt:lpstr>
      <vt:lpstr>Session Summary</vt:lpstr>
    </vt:vector>
  </TitlesOfParts>
  <Company>McGill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Denise Quildon, Ms.</dc:creator>
  <cp:lastModifiedBy>Milad Taghavi</cp:lastModifiedBy>
  <cp:revision>54</cp:revision>
  <dcterms:created xsi:type="dcterms:W3CDTF">2016-01-22T14:51:00Z</dcterms:created>
  <dcterms:modified xsi:type="dcterms:W3CDTF">2024-09-19T13:06:28Z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0x01010059879ED8B4619441B91687DCDA02DA39</vt:lpwstr>
  </property>
  <property fmtid="{D5CDD505-2E9C-101B-9397-08002B2CF9AE}" pid="3" name="_dlc_DocIdItemGuid">
    <vt:lpwstr>7854b057-4ebf-435b-8657-63acaf55ccdc</vt:lpwstr>
  </property>
  <property fmtid="{D5CDD505-2E9C-101B-9397-08002B2CF9AE}" pid="4" name="ArticulateGUID">
    <vt:lpwstr>A7BECAEB-F12F-46DD-80CA-4A5D3808AE7C</vt:lpwstr>
  </property>
  <property fmtid="{D5CDD505-2E9C-101B-9397-08002B2CF9AE}" pid="5" name="ArticulatePath">
    <vt:lpwstr>CPD_Template_2019</vt:lpwstr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emplateUrl">
    <vt:lpwstr/>
  </property>
  <property fmtid="{D5CDD505-2E9C-101B-9397-08002B2CF9AE}" pid="9" name="ComplianceAssetId">
    <vt:lpwstr/>
  </property>
</Properties>
</file>