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35"/>
  </p:notesMasterIdLst>
  <p:handoutMasterIdLst>
    <p:handoutMasterId r:id="rId36"/>
  </p:handoutMasterIdLst>
  <p:sldIdLst>
    <p:sldId id="265" r:id="rId5"/>
    <p:sldId id="261" r:id="rId6"/>
    <p:sldId id="392" r:id="rId7"/>
    <p:sldId id="359" r:id="rId8"/>
    <p:sldId id="361" r:id="rId9"/>
    <p:sldId id="399" r:id="rId10"/>
    <p:sldId id="362" r:id="rId11"/>
    <p:sldId id="363" r:id="rId12"/>
    <p:sldId id="365" r:id="rId13"/>
    <p:sldId id="400" r:id="rId14"/>
    <p:sldId id="366" r:id="rId15"/>
    <p:sldId id="407" r:id="rId16"/>
    <p:sldId id="401" r:id="rId17"/>
    <p:sldId id="402" r:id="rId18"/>
    <p:sldId id="403" r:id="rId19"/>
    <p:sldId id="408" r:id="rId20"/>
    <p:sldId id="370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381" r:id="rId33"/>
    <p:sldId id="391" r:id="rId34"/>
  </p:sldIdLst>
  <p:sldSz cx="12192000" cy="6858000"/>
  <p:notesSz cx="6934200" cy="9220200"/>
  <p:custDataLst>
    <p:tags r:id="rId3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0" autoAdjust="0"/>
    <p:restoredTop sz="78728" autoAdjust="0"/>
  </p:normalViewPr>
  <p:slideViewPr>
    <p:cSldViewPr>
      <p:cViewPr varScale="1">
        <p:scale>
          <a:sx n="80" d="100"/>
          <a:sy n="80" d="100"/>
        </p:scale>
        <p:origin x="171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1632" y="24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48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0325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86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277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4914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16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4108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0EE5-BCAD-CCF4-4E14-B45A7922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852E1-0BA1-3E55-7566-BA52A3794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FB23E-047C-A9A3-7C8A-9E46EC374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96368-1E51-093B-8501-189234CD8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3470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26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91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65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00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7980-1346-279A-32F5-C70780FB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446B9-2FCC-27ED-B167-042D5B10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3566A-1E14-4AA6-E1C7-EBD08E306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1932A-4940-E7C6-99AF-29A37E4AA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87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70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2B4C-19F2-AE77-F1A5-D268DA5C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DDCCD-0B49-8D31-17EC-FCF3091AB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F6B8-4EFD-D63A-0CFD-AFE649012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7F14D-B93F-8D05-7458-F4FC3C00A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04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C98D-E4D7-7149-FA23-9F2AF656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549D-E8DD-5B34-84B1-E15C5DAD8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C9A1E-BA7C-FA8A-DF06-CEED38880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4D7F1-EDA8-3293-F61F-2BFA1FD3A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76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7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04B9-0645-4983-3C5D-F1AE3F64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F173F-5D1A-257E-9A85-9BFA38E80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9FA3D-DB3A-E25D-5DF3-C8EED1BCD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B78F7-6DB5-97C6-6AE6-F823A5916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58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4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53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9473-B25F-0338-A66C-A8C763BE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B92F2-C3F2-A9DB-7546-4292F65B3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C6017-D4F2-4EC3-2BFF-0DEF8D99C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D531C-4BCD-1A2E-C42D-1CA887E90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81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78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6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6F2D3D-CCF0-D346-87BD-D795F5DB6B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5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5941-A94D-4C48-AE4B-0688A7954B21}" type="datetime1">
              <a:rPr lang="en-US" smtClean="0">
                <a:latin typeface="Arial"/>
              </a:rPr>
              <a:t>10/14/24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From Security in Computing, Fifth Edition, </a:t>
            </a:r>
            <a:r>
              <a:rPr lang="en-US" dirty="0">
                <a:latin typeface="Arial"/>
              </a:rPr>
              <a:t>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506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1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 Security</a:t>
            </a:r>
            <a:br>
              <a:rPr lang="en-US" dirty="0"/>
            </a:br>
            <a:r>
              <a:rPr lang="en-US" dirty="0"/>
              <a:t>CMIS 422</a:t>
            </a:r>
            <a:br>
              <a:rPr lang="en-US" dirty="0"/>
            </a:br>
            <a:r>
              <a:rPr lang="en-US" dirty="0"/>
              <a:t>Operating Systems security</a:t>
            </a:r>
            <a:br>
              <a:rPr lang="en-US" dirty="0"/>
            </a:br>
            <a:r>
              <a:rPr lang="en-US" dirty="0"/>
              <a:t>Module 6</a:t>
            </a: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r>
              <a:rPr lang="en-US" sz="3100" dirty="0"/>
              <a:t>Mona Taghavi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Basic security functions provided by operating systems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resources that require operating system protection</a:t>
            </a:r>
          </a:p>
          <a:p>
            <a:pPr>
              <a:lnSpc>
                <a:spcPct val="150000"/>
              </a:lnSpc>
            </a:pPr>
            <a:r>
              <a:rPr lang="en-US" dirty="0"/>
              <a:t>Operating system design principles</a:t>
            </a:r>
          </a:p>
          <a:p>
            <a:pPr>
              <a:lnSpc>
                <a:spcPct val="150000"/>
              </a:lnSpc>
            </a:pPr>
            <a:r>
              <a:rPr lang="en-US" dirty="0"/>
              <a:t>How operating systems control access to resources</a:t>
            </a:r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422558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An operating system is an executive or supervisor for a piece of computing machinery.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an operating system? </a:t>
            </a:r>
          </a:p>
        </p:txBody>
      </p:sp>
    </p:spTree>
    <p:extLst>
      <p:ext uri="{BB962C8B-B14F-4D97-AF65-F5344CB8AC3E}">
        <p14:creationId xmlns:p14="http://schemas.microsoft.com/office/powerpoint/2010/main" val="422139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pic>
        <p:nvPicPr>
          <p:cNvPr id="5" name="Content Placeholder 4" descr="fig05-01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52" b="-453"/>
          <a:stretch/>
        </p:blipFill>
        <p:spPr>
          <a:xfrm>
            <a:off x="2761129" y="1010275"/>
            <a:ext cx="6669741" cy="480734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740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rise of multiprogramming meant that several aspects of a computing system required protection: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Memory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Sharable I/O devices, such as disks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Serially reusable I/O devices, such as printers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Sharable programs and </a:t>
            </a:r>
            <a:r>
              <a:rPr lang="en-US" dirty="0" err="1"/>
              <a:t>subprocedures</a:t>
            </a:r>
            <a:endParaRPr lang="en-US" dirty="0"/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Networks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Sharable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244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Operating System is designed to protect objects.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dirty="0"/>
              <a:t>Operating systems are not monolithic but are instead composed of many individual routines.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dirty="0"/>
              <a:t>A well-structured operating system also implements several levels of function and protection.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154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Layered Design</a:t>
            </a:r>
          </a:p>
        </p:txBody>
      </p:sp>
      <p:pic>
        <p:nvPicPr>
          <p:cNvPr id="5" name="Content Placeholder 4" descr="fig05-02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6" b="-464"/>
          <a:stretch/>
        </p:blipFill>
        <p:spPr>
          <a:xfrm>
            <a:off x="3352800" y="854135"/>
            <a:ext cx="5150998" cy="50292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123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Spanning Layers</a:t>
            </a:r>
          </a:p>
        </p:txBody>
      </p:sp>
      <p:pic>
        <p:nvPicPr>
          <p:cNvPr id="5" name="Content Placeholder 4" descr="fig05-03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26" b="-413"/>
          <a:stretch/>
        </p:blipFill>
        <p:spPr>
          <a:xfrm>
            <a:off x="3505200" y="990600"/>
            <a:ext cx="6813534" cy="496047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500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System tools to implement security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operating system must protect itself in order to protect its users and resources.</a:t>
            </a:r>
          </a:p>
          <a:p>
            <a:endParaRPr lang="en-US" sz="1000" dirty="0"/>
          </a:p>
          <a:p>
            <a:r>
              <a:rPr lang="en-US" dirty="0"/>
              <a:t>Operating system is design for self-protection.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Some of the tools and techniques that operating systems use to enforce protection: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Virtualization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Separation and Sharing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Hardware Protection of Memory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80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What is virtualization?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23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virtualization, the OS presents each user with just the resources that user should see</a:t>
            </a:r>
          </a:p>
          <a:p>
            <a:r>
              <a:rPr lang="en-US" dirty="0"/>
              <a:t>The user has access to a virtual machine (VM), which contains those resources</a:t>
            </a:r>
          </a:p>
          <a:p>
            <a:r>
              <a:rPr lang="en-US" dirty="0"/>
              <a:t>The user cannot access resources that are available to the OS but exist outside the VM</a:t>
            </a:r>
          </a:p>
          <a:p>
            <a:r>
              <a:rPr lang="en-US" b="1" dirty="0"/>
              <a:t>Virtualization: presenting a user the appearance of a system with only the resources the user is entitled to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550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BE29-EDD6-4BAD-9765-D1C14B55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AED4-0A73-42EE-8C75-321EEDC7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05B8-64A4-BC51-A4AE-8BB5F8D2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  <p:pic>
        <p:nvPicPr>
          <p:cNvPr id="1028" name="Picture 4" descr="Server virtualization explained">
            <a:extLst>
              <a:ext uri="{FF2B5EF4-FFF2-40B4-BE49-F238E27FC236}">
                <a16:creationId xmlns:a16="http://schemas.microsoft.com/office/drawing/2014/main" id="{54ADC3BF-BC28-B619-8027-2C3448E64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016000"/>
            <a:ext cx="107950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405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- Hypervisor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What is a Hypervisor?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5152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- sandbox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What is a Sandbox?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17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- honeypot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What is a Honeypot?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  <p:pic>
        <p:nvPicPr>
          <p:cNvPr id="3074" name="Picture 2" descr="HONEYPOT TECHNOLOGY">
            <a:extLst>
              <a:ext uri="{FF2B5EF4-FFF2-40B4-BE49-F238E27FC236}">
                <a16:creationId xmlns:a16="http://schemas.microsoft.com/office/drawing/2014/main" id="{C33D2649-9CF3-2752-0486-1AB6F0A9A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457743"/>
            <a:ext cx="4165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81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89B0-BF7C-E75F-B2B1-A648786E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Honeypot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05B8A-7F78-57C5-CB45-D2015095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  <p:pic>
        <p:nvPicPr>
          <p:cNvPr id="2050" name="Picture 2" descr="Flow based containerized honeypot approach for network traffic analysis: An  empirical study - ScienceDirect">
            <a:extLst>
              <a:ext uri="{FF2B5EF4-FFF2-40B4-BE49-F238E27FC236}">
                <a16:creationId xmlns:a16="http://schemas.microsoft.com/office/drawing/2014/main" id="{A2704BE7-8F14-3C75-02A4-BC7F840151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799" y="914400"/>
            <a:ext cx="8066637" cy="471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98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and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Separation Keep one user's objects separate from other users Methods of separation: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Physical</a:t>
            </a:r>
          </a:p>
          <a:p>
            <a:pPr lvl="2">
              <a:buClr>
                <a:srgbClr val="ED1B2F"/>
              </a:buClr>
            </a:pPr>
            <a:r>
              <a:rPr lang="en-US" sz="2800" dirty="0"/>
              <a:t>Use different physical resources for different users </a:t>
            </a:r>
          </a:p>
          <a:p>
            <a:pPr lvl="2">
              <a:buClr>
                <a:srgbClr val="ED1B2F"/>
              </a:buClr>
            </a:pPr>
            <a:r>
              <a:rPr lang="en-US" sz="2800" dirty="0"/>
              <a:t>Easy to implement, but expensive and inefficient 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Temporal</a:t>
            </a:r>
          </a:p>
          <a:p>
            <a:pPr lvl="2">
              <a:buClr>
                <a:srgbClr val="ED1B2F"/>
              </a:buClr>
            </a:pPr>
            <a:r>
              <a:rPr lang="en-US" sz="2800" dirty="0"/>
              <a:t>Execute different users' programs at different times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Logical</a:t>
            </a:r>
          </a:p>
          <a:p>
            <a:pPr lvl="2">
              <a:buClr>
                <a:srgbClr val="ED1B2F"/>
              </a:buClr>
            </a:pPr>
            <a:r>
              <a:rPr lang="en-US" sz="2800" dirty="0"/>
              <a:t>User is given the impression that no other users exist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Cryptographic</a:t>
            </a:r>
          </a:p>
          <a:p>
            <a:pPr lvl="2">
              <a:buClr>
                <a:srgbClr val="ED1B2F"/>
              </a:buClr>
            </a:pPr>
            <a:r>
              <a:rPr lang="en-US" sz="2800" dirty="0"/>
              <a:t>Encrypt data and make it unintelligible to outsiders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955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036A-C912-0E00-9CD0-5912942C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2674-ED39-E5A4-F819-481EF838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and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AB952-A9EB-8B5E-F9B3-CC28A2DD9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Methods of supporting separation/sharing: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Do not protect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Isolate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Share all or share nothing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Share but limit access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Limit use of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E8804-63EA-584F-F6CE-30B25EB6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6078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44240-C1DC-06D1-5C0B-51024ADA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protection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15C6-75FB-E3C4-AD39-E6CBAEEDD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protection implements both separation and sharing. </a:t>
            </a:r>
          </a:p>
          <a:p>
            <a:pPr lvl="1"/>
            <a:r>
              <a:rPr lang="en-US" dirty="0"/>
              <a:t>Fence </a:t>
            </a:r>
          </a:p>
          <a:p>
            <a:pPr lvl="1"/>
            <a:r>
              <a:rPr lang="en-US" dirty="0"/>
              <a:t>Base/Bound register</a:t>
            </a:r>
          </a:p>
          <a:p>
            <a:pPr lvl="1"/>
            <a:r>
              <a:rPr lang="en-US" dirty="0"/>
              <a:t>Tagged architecture</a:t>
            </a:r>
          </a:p>
          <a:p>
            <a:pPr lvl="1"/>
            <a:r>
              <a:rPr lang="en-US" dirty="0"/>
              <a:t>Segmentation </a:t>
            </a:r>
          </a:p>
          <a:p>
            <a:pPr lvl="1"/>
            <a:r>
              <a:rPr lang="en-US" dirty="0"/>
              <a:t>Paging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84CA1-805C-5EEF-C861-4B5DB5F7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076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14DD-89EC-5DEF-85DC-8CB4C6EC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1929-8702-7109-D6DC-3B731E5C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40C1BD-FC57-41C6-BD32-4BEFE68F5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7000" y="867063"/>
            <a:ext cx="6400800" cy="51238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867DB-5FBB-2F77-CD2D-2B64FED7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7665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E0DE-992A-FAEA-1715-6BA26A10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5A76-005F-EA6F-290E-592D6102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>
            <a:normAutofit/>
          </a:bodyPr>
          <a:lstStyle/>
          <a:p>
            <a:r>
              <a:rPr lang="en-US" dirty="0"/>
              <a:t>Fence Register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CA5F1-24E7-0779-672B-7F6E966D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21</a:t>
            </a:fld>
            <a:endParaRPr lang="en-US">
              <a:latin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7D38D-AC52-A36D-D610-CDEDBF1B5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04C90-02B7-6400-B6B8-4FA655BF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275" y="806224"/>
            <a:ext cx="7283450" cy="531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11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076B-8161-B183-548A-B19D4575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Base/Bounds Registers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F25DD-E013-1808-48F9-61DB80611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0" y="1003256"/>
            <a:ext cx="6642100" cy="4851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67B48-4C69-EF82-9D83-6B50FF5C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158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618C-D127-F9F4-D693-56B6FDF4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849D-0C60-B6DD-63BF-B16D1947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Pairs of Base/Bounds Registers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D75C-09D7-5C94-8E12-72F87F03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23</a:t>
            </a:fld>
            <a:endParaRPr lang="en-US">
              <a:latin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33F3F5-BED1-36A8-65D4-B77532D30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0100" y="719316"/>
            <a:ext cx="5956300" cy="528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25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F9FD-2AB3-EB2A-119A-1A15F8B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Tagged Architecture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23BA32-075F-2AB5-313F-1E4BFA7F1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0100" y="1113631"/>
            <a:ext cx="5511800" cy="4889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DA09A-85F8-A24F-7EE6-172A905D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3865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0738-A437-D5C3-ECB9-DF591DC1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20DBD2-D0FE-0B4E-6C4C-37837C177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5600" y="835127"/>
            <a:ext cx="5956300" cy="51877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9F5BF-F9B8-3A1F-2151-2A7DD74F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76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32BA-B089-552F-4458-2E41A87A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EB66-5B45-58DA-09CC-A9CBE2BF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A8927-5D4A-913D-857F-74398A20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26</a:t>
            </a:fld>
            <a:endParaRPr lang="en-US">
              <a:latin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0CE7A7-A3E8-DC25-090E-6CC3A5B60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8500" y="839904"/>
            <a:ext cx="6362700" cy="49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2EC2-BD41-1186-832D-BF99007C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94E77-67C3-3F6E-5E61-5F4D8FCC5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8499" y="914400"/>
            <a:ext cx="6266645" cy="48601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48D50-3EB7-3367-8731-FB29AD6B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9881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0D89-A2F5-7845-F783-38F0986F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Paged segmentation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0CD22-FA6E-6123-B3A1-195732FA7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8500" y="839904"/>
            <a:ext cx="6362700" cy="49346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D435-E28E-A1DB-2EE9-9FCBF534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4924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Secure OS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Simplicity of design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OSs are inherently complex, and any unnecessary complexity only makes them harder to understand and secure</a:t>
            </a:r>
          </a:p>
          <a:p>
            <a:pPr marL="0" indent="0">
              <a:buNone/>
            </a:pPr>
            <a:r>
              <a:rPr lang="en-US" dirty="0"/>
              <a:t>Layered design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Enables layered trust</a:t>
            </a:r>
          </a:p>
          <a:p>
            <a:pPr marL="0" indent="0">
              <a:buNone/>
            </a:pPr>
            <a:r>
              <a:rPr lang="en-US" dirty="0"/>
              <a:t>Layered trust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Layering is both a way to keep a design logical and understandable and a way to limit risk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Example: very tight access controls on critical OS functions, fewer access controls on important noncritical functions, and few if any access controls on functions that aren’t important to the 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8657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OSs have evolved from supporting single users and single programs to many users and programs at once</a:t>
            </a:r>
          </a:p>
          <a:p>
            <a:r>
              <a:rPr lang="en-US" dirty="0"/>
              <a:t>Resources that require OS protection: memory, I/O devices, programs, and networks</a:t>
            </a:r>
          </a:p>
          <a:p>
            <a:r>
              <a:rPr lang="en-US" dirty="0"/>
              <a:t>OSs use layered and modular designs for simplification and to separate critical functions from noncritical ones</a:t>
            </a:r>
          </a:p>
          <a:p>
            <a:r>
              <a:rPr lang="en-US" dirty="0"/>
              <a:t>Resource access control can be enforced in a number of ways, including virtualization, segmentation, hardware memory protection, and reference monitors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30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4560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879ED8B4619441B91687DCDA02DA39" ma:contentTypeVersion="4" ma:contentTypeDescription="Create a new document." ma:contentTypeScope="" ma:versionID="e9f6abe488ccb30ede1a22ac04af6b8b">
  <xsd:schema xmlns:xsd="http://www.w3.org/2001/XMLSchema" xmlns:xs="http://www.w3.org/2001/XMLSchema" xmlns:p="http://schemas.microsoft.com/office/2006/metadata/properties" xmlns:ns2="21d99a6e-e1bc-4d91-b097-03191ed450e9" targetNamespace="http://schemas.microsoft.com/office/2006/metadata/properties" ma:root="true" ma:fieldsID="3456e5b705d00c9872288845cb9a19d4" ns2:_="">
    <xsd:import namespace="21d99a6e-e1bc-4d91-b097-03191ed45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99a6e-e1bc-4d91-b097-03191ed45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B18C87-5492-46E7-AC12-0B14554527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99a6e-e1bc-4d91-b097-03191ed450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C04534-A83D-479B-A773-C2FB7E41A064}">
  <ds:schemaRefs>
    <ds:schemaRef ds:uri="http://schemas.microsoft.com/office/2006/documentManagement/types"/>
    <ds:schemaRef ds:uri="bb4e6460-2876-4d3d-92e1-67f1bf6a2c5e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edabe45-036a-435e-993e-705e5b96e45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7769</TotalTime>
  <Words>647</Words>
  <Application>Microsoft Macintosh PowerPoint</Application>
  <PresentationFormat>Widescreen</PresentationFormat>
  <Paragraphs>149</Paragraphs>
  <Slides>30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Britannic Bold</vt:lpstr>
      <vt:lpstr>Calibri</vt:lpstr>
      <vt:lpstr>3_Body Slides</vt:lpstr>
      <vt:lpstr>Information System Security CMIS 422 Operating Systems security Module 6   Mona Taghavi</vt:lpstr>
      <vt:lpstr>Session Overview</vt:lpstr>
      <vt:lpstr>Operating systems</vt:lpstr>
      <vt:lpstr>Operating System Functions</vt:lpstr>
      <vt:lpstr>Protected Objects</vt:lpstr>
      <vt:lpstr>Operating systems</vt:lpstr>
      <vt:lpstr>OS Layered Design</vt:lpstr>
      <vt:lpstr>Functions Spanning Layers</vt:lpstr>
      <vt:lpstr>Operating System tools to implement security function</vt:lpstr>
      <vt:lpstr>Virtualization</vt:lpstr>
      <vt:lpstr>Virtualization</vt:lpstr>
      <vt:lpstr>Virtualization</vt:lpstr>
      <vt:lpstr>Virtualization - Hypervisor</vt:lpstr>
      <vt:lpstr>Virtualization - sandbox</vt:lpstr>
      <vt:lpstr>Virtualization - honeypot</vt:lpstr>
      <vt:lpstr>Honeypot</vt:lpstr>
      <vt:lpstr>Separation and Sharing</vt:lpstr>
      <vt:lpstr>Separation and Sharing</vt:lpstr>
      <vt:lpstr>Memory protection </vt:lpstr>
      <vt:lpstr>Fence</vt:lpstr>
      <vt:lpstr>Fence Register</vt:lpstr>
      <vt:lpstr>Base/Bounds Registers </vt:lpstr>
      <vt:lpstr>Two Pairs of Base/Bounds Registers </vt:lpstr>
      <vt:lpstr>Tagged Architecture </vt:lpstr>
      <vt:lpstr>Segmentation</vt:lpstr>
      <vt:lpstr>Segmentation</vt:lpstr>
      <vt:lpstr>Paging</vt:lpstr>
      <vt:lpstr>Paged segmentation</vt:lpstr>
      <vt:lpstr>Principles of Secure OS Design</vt:lpstr>
      <vt:lpstr>Session Summary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Milad Taghavi</cp:lastModifiedBy>
  <cp:revision>62</cp:revision>
  <dcterms:created xsi:type="dcterms:W3CDTF">2016-01-22T14:51:00Z</dcterms:created>
  <dcterms:modified xsi:type="dcterms:W3CDTF">2024-10-15T00:49:19Z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0x01010059879ED8B4619441B91687DCDA02DA39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