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2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10" r:id="rId4"/>
  </p:sldMasterIdLst>
  <p:notesMasterIdLst>
    <p:notesMasterId r:id="rId69"/>
  </p:notesMasterIdLst>
  <p:handoutMasterIdLst>
    <p:handoutMasterId r:id="rId70"/>
  </p:handoutMasterIdLst>
  <p:sldIdLst>
    <p:sldId id="265" r:id="rId5"/>
    <p:sldId id="261" r:id="rId6"/>
    <p:sldId id="389" r:id="rId7"/>
    <p:sldId id="341" r:id="rId8"/>
    <p:sldId id="342" r:id="rId9"/>
    <p:sldId id="1235" r:id="rId10"/>
    <p:sldId id="1236" r:id="rId11"/>
    <p:sldId id="1237" r:id="rId12"/>
    <p:sldId id="394" r:id="rId13"/>
    <p:sldId id="1187" r:id="rId14"/>
    <p:sldId id="1188" r:id="rId15"/>
    <p:sldId id="1189" r:id="rId16"/>
    <p:sldId id="270" r:id="rId17"/>
    <p:sldId id="271" r:id="rId18"/>
    <p:sldId id="273" r:id="rId19"/>
    <p:sldId id="266" r:id="rId20"/>
    <p:sldId id="1190" r:id="rId21"/>
    <p:sldId id="1193" r:id="rId22"/>
    <p:sldId id="1194" r:id="rId23"/>
    <p:sldId id="1195" r:id="rId24"/>
    <p:sldId id="393" r:id="rId25"/>
    <p:sldId id="1196" r:id="rId26"/>
    <p:sldId id="365" r:id="rId27"/>
    <p:sldId id="1197" r:id="rId28"/>
    <p:sldId id="1198" r:id="rId29"/>
    <p:sldId id="1199" r:id="rId30"/>
    <p:sldId id="1200" r:id="rId31"/>
    <p:sldId id="1203" r:id="rId32"/>
    <p:sldId id="1205" r:id="rId33"/>
    <p:sldId id="1201" r:id="rId34"/>
    <p:sldId id="1207" r:id="rId35"/>
    <p:sldId id="1202" r:id="rId36"/>
    <p:sldId id="1208" r:id="rId37"/>
    <p:sldId id="1204" r:id="rId38"/>
    <p:sldId id="384" r:id="rId39"/>
    <p:sldId id="1209" r:id="rId40"/>
    <p:sldId id="1216" r:id="rId41"/>
    <p:sldId id="1217" r:id="rId42"/>
    <p:sldId id="1219" r:id="rId43"/>
    <p:sldId id="1220" r:id="rId44"/>
    <p:sldId id="1221" r:id="rId45"/>
    <p:sldId id="1222" r:id="rId46"/>
    <p:sldId id="1223" r:id="rId47"/>
    <p:sldId id="1224" r:id="rId48"/>
    <p:sldId id="1225" r:id="rId49"/>
    <p:sldId id="1212" r:id="rId50"/>
    <p:sldId id="1226" r:id="rId51"/>
    <p:sldId id="390" r:id="rId52"/>
    <p:sldId id="1227" r:id="rId53"/>
    <p:sldId id="1228" r:id="rId54"/>
    <p:sldId id="1229" r:id="rId55"/>
    <p:sldId id="1230" r:id="rId56"/>
    <p:sldId id="1231" r:id="rId57"/>
    <p:sldId id="1232" r:id="rId58"/>
    <p:sldId id="1233" r:id="rId59"/>
    <p:sldId id="1234" r:id="rId60"/>
    <p:sldId id="450" r:id="rId61"/>
    <p:sldId id="503" r:id="rId62"/>
    <p:sldId id="452" r:id="rId63"/>
    <p:sldId id="453" r:id="rId64"/>
    <p:sldId id="454" r:id="rId65"/>
    <p:sldId id="455" r:id="rId66"/>
    <p:sldId id="504" r:id="rId67"/>
    <p:sldId id="362" r:id="rId68"/>
  </p:sldIdLst>
  <p:sldSz cx="12192000" cy="6858000"/>
  <p:notesSz cx="6934200" cy="9220200"/>
  <p:custDataLst>
    <p:tags r:id="rId71"/>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904">
          <p15:clr>
            <a:srgbClr val="A4A3A4"/>
          </p15:clr>
        </p15:guide>
        <p15:guide id="2" pos="218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cademic Tablet" initials="AT" lastIdx="1" clrIdx="0"/>
  <p:cmAuthor id="1" name="Clarity" initials="CL" lastIdx="1" clrIdx="1"/>
  <p:cmAuthor id="2" name="Instructional Designer" initials="ID" lastIdx="11" clrIdx="2">
    <p:extLst>
      <p:ext uri="{19B8F6BF-5375-455C-9EA6-DF929625EA0E}">
        <p15:presenceInfo xmlns:p15="http://schemas.microsoft.com/office/powerpoint/2012/main" userId="S-1-5-21-2570627339-595396017-2782738742-11118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F0"/>
    <a:srgbClr val="91C8D7"/>
    <a:srgbClr val="ED1B2F"/>
    <a:srgbClr val="8C8C8C"/>
    <a:srgbClr val="E43029"/>
    <a:srgbClr val="FF0000"/>
    <a:srgbClr val="698335"/>
    <a:srgbClr val="DFF1CB"/>
    <a:srgbClr val="EF5F5F"/>
    <a:srgbClr val="E642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0" autoAdjust="0"/>
    <p:restoredTop sz="78022" autoAdjust="0"/>
  </p:normalViewPr>
  <p:slideViewPr>
    <p:cSldViewPr>
      <p:cViewPr varScale="1">
        <p:scale>
          <a:sx n="79" d="100"/>
          <a:sy n="79" d="100"/>
        </p:scale>
        <p:origin x="586" y="45"/>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p:cViewPr varScale="1">
        <p:scale>
          <a:sx n="51" d="100"/>
          <a:sy n="51" d="100"/>
        </p:scale>
        <p:origin x="1632" y="24"/>
      </p:cViewPr>
      <p:guideLst>
        <p:guide orient="horz" pos="2904"/>
        <p:guide pos="2184"/>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77"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handoutMaster" Target="handoutMasters/handoutMaster1.xml"/><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tags" Target="tags/tag1.xml"/><Relationship Id="rId2" Type="http://schemas.openxmlformats.org/officeDocument/2006/relationships/customXml" Target="../customXml/item2.xml"/><Relationship Id="rId29" Type="http://schemas.openxmlformats.org/officeDocument/2006/relationships/slide" Target="slides/slide2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na Taghavi" userId="cdd0f8e6-fa0c-4861-85ac-fabaa218fd0b" providerId="ADAL" clId="{5121C717-9A10-4572-8C9C-CA176A7F5BAD}"/>
    <pc:docChg chg="delSld">
      <pc:chgData name="Mona Taghavi" userId="cdd0f8e6-fa0c-4861-85ac-fabaa218fd0b" providerId="ADAL" clId="{5121C717-9A10-4572-8C9C-CA176A7F5BAD}" dt="2024-10-31T05:56:23.053" v="0" actId="2696"/>
      <pc:docMkLst>
        <pc:docMk/>
      </pc:docMkLst>
      <pc:sldChg chg="del">
        <pc:chgData name="Mona Taghavi" userId="cdd0f8e6-fa0c-4861-85ac-fabaa218fd0b" providerId="ADAL" clId="{5121C717-9A10-4572-8C9C-CA176A7F5BAD}" dt="2024-10-31T05:56:23.053" v="0" actId="2696"/>
        <pc:sldMkLst>
          <pc:docMk/>
          <pc:sldMk cId="2035102120" sldId="35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xfrm>
            <a:off x="0" y="1"/>
            <a:ext cx="3005121" cy="460400"/>
          </a:xfrm>
          <a:prstGeom prst="rect">
            <a:avLst/>
          </a:prstGeom>
          <a:noFill/>
          <a:ln w="9525">
            <a:noFill/>
            <a:miter lim="800000"/>
            <a:headEnd/>
            <a:tailEnd/>
          </a:ln>
          <a:effectLst/>
        </p:spPr>
        <p:txBody>
          <a:bodyPr vert="horz" wrap="square" lIns="87316" tIns="43658" rIns="87316" bIns="43658" numCol="1" anchor="t" anchorCtr="0" compatLnSpc="1">
            <a:prstTxWarp prst="textNoShape">
              <a:avLst/>
            </a:prstTxWarp>
          </a:bodyPr>
          <a:lstStyle>
            <a:lvl1pPr>
              <a:defRPr sz="1100"/>
            </a:lvl1pPr>
          </a:lstStyle>
          <a:p>
            <a:endParaRPr lang="en-US"/>
          </a:p>
        </p:txBody>
      </p:sp>
      <p:sp>
        <p:nvSpPr>
          <p:cNvPr id="70659" name="Rectangle 3"/>
          <p:cNvSpPr>
            <a:spLocks noGrp="1" noChangeArrowheads="1"/>
          </p:cNvSpPr>
          <p:nvPr>
            <p:ph type="dt" sz="quarter" idx="1"/>
          </p:nvPr>
        </p:nvSpPr>
        <p:spPr bwMode="auto">
          <a:xfrm>
            <a:off x="3927574" y="1"/>
            <a:ext cx="3005121" cy="460400"/>
          </a:xfrm>
          <a:prstGeom prst="rect">
            <a:avLst/>
          </a:prstGeom>
          <a:noFill/>
          <a:ln w="9525">
            <a:noFill/>
            <a:miter lim="800000"/>
            <a:headEnd/>
            <a:tailEnd/>
          </a:ln>
          <a:effectLst/>
        </p:spPr>
        <p:txBody>
          <a:bodyPr vert="horz" wrap="square" lIns="87316" tIns="43658" rIns="87316" bIns="43658" numCol="1" anchor="t" anchorCtr="0" compatLnSpc="1">
            <a:prstTxWarp prst="textNoShape">
              <a:avLst/>
            </a:prstTxWarp>
          </a:bodyPr>
          <a:lstStyle>
            <a:lvl1pPr algn="r">
              <a:defRPr sz="1100"/>
            </a:lvl1pPr>
          </a:lstStyle>
          <a:p>
            <a:endParaRPr lang="en-US"/>
          </a:p>
        </p:txBody>
      </p:sp>
      <p:sp>
        <p:nvSpPr>
          <p:cNvPr id="70660" name="Rectangle 4"/>
          <p:cNvSpPr>
            <a:spLocks noGrp="1" noChangeArrowheads="1"/>
          </p:cNvSpPr>
          <p:nvPr>
            <p:ph type="ftr" sz="quarter" idx="2"/>
          </p:nvPr>
        </p:nvSpPr>
        <p:spPr bwMode="auto">
          <a:xfrm>
            <a:off x="0" y="8758276"/>
            <a:ext cx="3005121" cy="460400"/>
          </a:xfrm>
          <a:prstGeom prst="rect">
            <a:avLst/>
          </a:prstGeom>
          <a:noFill/>
          <a:ln w="9525">
            <a:noFill/>
            <a:miter lim="800000"/>
            <a:headEnd/>
            <a:tailEnd/>
          </a:ln>
          <a:effectLst/>
        </p:spPr>
        <p:txBody>
          <a:bodyPr vert="horz" wrap="square" lIns="87316" tIns="43658" rIns="87316" bIns="43658" numCol="1" anchor="b" anchorCtr="0" compatLnSpc="1">
            <a:prstTxWarp prst="textNoShape">
              <a:avLst/>
            </a:prstTxWarp>
          </a:bodyPr>
          <a:lstStyle>
            <a:lvl1pPr>
              <a:defRPr sz="1100"/>
            </a:lvl1pPr>
          </a:lstStyle>
          <a:p>
            <a:endParaRPr lang="en-US"/>
          </a:p>
        </p:txBody>
      </p:sp>
      <p:sp>
        <p:nvSpPr>
          <p:cNvPr id="70661" name="Rectangle 5"/>
          <p:cNvSpPr>
            <a:spLocks noGrp="1" noChangeArrowheads="1"/>
          </p:cNvSpPr>
          <p:nvPr>
            <p:ph type="sldNum" sz="quarter" idx="3"/>
          </p:nvPr>
        </p:nvSpPr>
        <p:spPr bwMode="auto">
          <a:xfrm>
            <a:off x="3927574" y="8758276"/>
            <a:ext cx="3005121" cy="460400"/>
          </a:xfrm>
          <a:prstGeom prst="rect">
            <a:avLst/>
          </a:prstGeom>
          <a:noFill/>
          <a:ln w="9525">
            <a:noFill/>
            <a:miter lim="800000"/>
            <a:headEnd/>
            <a:tailEnd/>
          </a:ln>
          <a:effectLst/>
        </p:spPr>
        <p:txBody>
          <a:bodyPr vert="horz" wrap="square" lIns="87316" tIns="43658" rIns="87316" bIns="43658" numCol="1" anchor="b" anchorCtr="0" compatLnSpc="1">
            <a:prstTxWarp prst="textNoShape">
              <a:avLst/>
            </a:prstTxWarp>
          </a:bodyPr>
          <a:lstStyle>
            <a:lvl1pPr algn="r">
              <a:defRPr sz="1100"/>
            </a:lvl1pPr>
          </a:lstStyle>
          <a:p>
            <a:fld id="{DD28354E-E48C-49CC-8370-7D038345486C}" type="slidenum">
              <a:rPr lang="en-US"/>
              <a:pPr/>
              <a:t>‹#›</a:t>
            </a:fld>
            <a:endParaRPr lang="en-US"/>
          </a:p>
        </p:txBody>
      </p:sp>
    </p:spTree>
    <p:extLst>
      <p:ext uri="{BB962C8B-B14F-4D97-AF65-F5344CB8AC3E}">
        <p14:creationId xmlns:p14="http://schemas.microsoft.com/office/powerpoint/2010/main" val="40903845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p:cNvSpPr>
            <a:spLocks noGrp="1" noChangeArrowheads="1"/>
          </p:cNvSpPr>
          <p:nvPr>
            <p:ph type="hdr" sz="quarter"/>
          </p:nvPr>
        </p:nvSpPr>
        <p:spPr bwMode="auto">
          <a:xfrm>
            <a:off x="0" y="1"/>
            <a:ext cx="3005121" cy="460400"/>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lvl1pPr defTabSz="923186">
              <a:defRPr sz="1200"/>
            </a:lvl1pPr>
          </a:lstStyle>
          <a:p>
            <a:endParaRPr lang="en-US"/>
          </a:p>
        </p:txBody>
      </p:sp>
      <p:sp>
        <p:nvSpPr>
          <p:cNvPr id="31747" name="Rectangle 3"/>
          <p:cNvSpPr>
            <a:spLocks noGrp="1" noChangeArrowheads="1"/>
          </p:cNvSpPr>
          <p:nvPr>
            <p:ph type="dt" idx="1"/>
          </p:nvPr>
        </p:nvSpPr>
        <p:spPr bwMode="auto">
          <a:xfrm>
            <a:off x="3927574" y="1"/>
            <a:ext cx="3005121" cy="460400"/>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lvl1pPr algn="r" defTabSz="923186">
              <a:defRPr sz="1200"/>
            </a:lvl1pPr>
          </a:lstStyle>
          <a:p>
            <a:endParaRPr lang="en-US"/>
          </a:p>
        </p:txBody>
      </p:sp>
      <p:sp>
        <p:nvSpPr>
          <p:cNvPr id="31748" name="Rectangle 4"/>
          <p:cNvSpPr>
            <a:spLocks noGrp="1" noRot="1" noChangeAspect="1" noChangeArrowheads="1" noTextEdit="1"/>
          </p:cNvSpPr>
          <p:nvPr>
            <p:ph type="sldImg" idx="2"/>
          </p:nvPr>
        </p:nvSpPr>
        <p:spPr bwMode="auto">
          <a:xfrm>
            <a:off x="393700" y="692150"/>
            <a:ext cx="6146800" cy="3457575"/>
          </a:xfrm>
          <a:prstGeom prst="rect">
            <a:avLst/>
          </a:prstGeom>
          <a:noFill/>
          <a:ln w="9525">
            <a:solidFill>
              <a:srgbClr val="000000"/>
            </a:solidFill>
            <a:miter lim="800000"/>
            <a:headEnd/>
            <a:tailEnd/>
          </a:ln>
          <a:effectLst/>
        </p:spPr>
      </p:sp>
      <p:sp>
        <p:nvSpPr>
          <p:cNvPr id="31749" name="Rectangle 5"/>
          <p:cNvSpPr>
            <a:spLocks noGrp="1" noChangeArrowheads="1"/>
          </p:cNvSpPr>
          <p:nvPr>
            <p:ph type="body" sz="quarter" idx="3"/>
          </p:nvPr>
        </p:nvSpPr>
        <p:spPr bwMode="auto">
          <a:xfrm>
            <a:off x="693722" y="4379901"/>
            <a:ext cx="5546758" cy="4148175"/>
          </a:xfrm>
          <a:prstGeom prst="rect">
            <a:avLst/>
          </a:prstGeom>
          <a:noFill/>
          <a:ln w="9525">
            <a:noFill/>
            <a:miter lim="800000"/>
            <a:headEnd/>
            <a:tailEnd/>
          </a:ln>
          <a:effectLst/>
        </p:spPr>
        <p:txBody>
          <a:bodyPr vert="horz" wrap="square" lIns="92302" tIns="46151" rIns="92302" bIns="4615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1750" name="Rectangle 6"/>
          <p:cNvSpPr>
            <a:spLocks noGrp="1" noChangeArrowheads="1"/>
          </p:cNvSpPr>
          <p:nvPr>
            <p:ph type="ftr" sz="quarter" idx="4"/>
          </p:nvPr>
        </p:nvSpPr>
        <p:spPr bwMode="auto">
          <a:xfrm>
            <a:off x="0" y="8758276"/>
            <a:ext cx="3005121" cy="460400"/>
          </a:xfrm>
          <a:prstGeom prst="rect">
            <a:avLst/>
          </a:prstGeom>
          <a:noFill/>
          <a:ln w="9525">
            <a:noFill/>
            <a:miter lim="800000"/>
            <a:headEnd/>
            <a:tailEnd/>
          </a:ln>
          <a:effectLst/>
        </p:spPr>
        <p:txBody>
          <a:bodyPr vert="horz" wrap="square" lIns="92302" tIns="46151" rIns="92302" bIns="46151" numCol="1" anchor="b" anchorCtr="0" compatLnSpc="1">
            <a:prstTxWarp prst="textNoShape">
              <a:avLst/>
            </a:prstTxWarp>
          </a:bodyPr>
          <a:lstStyle>
            <a:lvl1pPr defTabSz="923186">
              <a:defRPr sz="1200"/>
            </a:lvl1pPr>
          </a:lstStyle>
          <a:p>
            <a:endParaRPr lang="en-US"/>
          </a:p>
        </p:txBody>
      </p:sp>
      <p:sp>
        <p:nvSpPr>
          <p:cNvPr id="31751" name="Rectangle 7"/>
          <p:cNvSpPr>
            <a:spLocks noGrp="1" noChangeArrowheads="1"/>
          </p:cNvSpPr>
          <p:nvPr>
            <p:ph type="sldNum" sz="quarter" idx="5"/>
          </p:nvPr>
        </p:nvSpPr>
        <p:spPr bwMode="auto">
          <a:xfrm>
            <a:off x="3927574" y="8758276"/>
            <a:ext cx="3005121" cy="460400"/>
          </a:xfrm>
          <a:prstGeom prst="rect">
            <a:avLst/>
          </a:prstGeom>
          <a:noFill/>
          <a:ln w="9525">
            <a:noFill/>
            <a:miter lim="800000"/>
            <a:headEnd/>
            <a:tailEnd/>
          </a:ln>
          <a:effectLst/>
        </p:spPr>
        <p:txBody>
          <a:bodyPr vert="horz" wrap="square" lIns="92302" tIns="46151" rIns="92302" bIns="46151" numCol="1" anchor="b" anchorCtr="0" compatLnSpc="1">
            <a:prstTxWarp prst="textNoShape">
              <a:avLst/>
            </a:prstTxWarp>
          </a:bodyPr>
          <a:lstStyle>
            <a:lvl1pPr algn="r" defTabSz="923186">
              <a:defRPr sz="1200"/>
            </a:lvl1pPr>
          </a:lstStyle>
          <a:p>
            <a:fld id="{87F161E8-846D-4747-B53A-F633A57CCB41}" type="slidenum">
              <a:rPr lang="en-US"/>
              <a:pPr/>
              <a:t>‹#›</a:t>
            </a:fld>
            <a:endParaRPr lang="en-US"/>
          </a:p>
        </p:txBody>
      </p:sp>
    </p:spTree>
    <p:extLst>
      <p:ext uri="{BB962C8B-B14F-4D97-AF65-F5344CB8AC3E}">
        <p14:creationId xmlns:p14="http://schemas.microsoft.com/office/powerpoint/2010/main" val="323901115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6</a:t>
            </a:fld>
            <a:endParaRPr lang="en-US"/>
          </a:p>
        </p:txBody>
      </p:sp>
    </p:spTree>
    <p:extLst>
      <p:ext uri="{BB962C8B-B14F-4D97-AF65-F5344CB8AC3E}">
        <p14:creationId xmlns:p14="http://schemas.microsoft.com/office/powerpoint/2010/main" val="1003729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7</a:t>
            </a:fld>
            <a:endParaRPr lang="en-US"/>
          </a:p>
        </p:txBody>
      </p:sp>
    </p:spTree>
    <p:extLst>
      <p:ext uri="{BB962C8B-B14F-4D97-AF65-F5344CB8AC3E}">
        <p14:creationId xmlns:p14="http://schemas.microsoft.com/office/powerpoint/2010/main" val="10703416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charset="0"/>
                <a:ea typeface="+mn-ea"/>
                <a:cs typeface="+mn-cs"/>
              </a:rPr>
              <a:t>As we described both link and end-to-end encryption, the data portion of the communication</a:t>
            </a:r>
          </a:p>
          <a:p>
            <a:r>
              <a:rPr lang="en-US" sz="1200" b="0" i="0" u="none" strike="noStrike" kern="1200" baseline="0" dirty="0">
                <a:solidFill>
                  <a:schemeClr val="tx1"/>
                </a:solidFill>
                <a:latin typeface="Arial" charset="0"/>
                <a:ea typeface="+mn-ea"/>
                <a:cs typeface="+mn-cs"/>
              </a:rPr>
              <a:t>was secured for confidentiality. However, the addressing data were exposed.</a:t>
            </a:r>
          </a:p>
          <a:p>
            <a:r>
              <a:rPr lang="en-US" sz="1200" b="0" i="0" u="none" strike="noStrike" kern="1200" baseline="0" dirty="0">
                <a:solidFill>
                  <a:schemeClr val="tx1"/>
                </a:solidFill>
                <a:latin typeface="Arial" charset="0"/>
                <a:ea typeface="+mn-ea"/>
                <a:cs typeface="+mn-cs"/>
              </a:rPr>
              <a:t>Thus, someone monitoring traffic between points A and B would know the volume of</a:t>
            </a:r>
          </a:p>
          <a:p>
            <a:r>
              <a:rPr lang="en-US" sz="1200" b="0" i="0" u="none" strike="noStrike" kern="1200" baseline="0" dirty="0">
                <a:solidFill>
                  <a:schemeClr val="tx1"/>
                </a:solidFill>
                <a:latin typeface="Arial" charset="0"/>
                <a:ea typeface="+mn-ea"/>
                <a:cs typeface="+mn-cs"/>
              </a:rPr>
              <a:t>traffic communicated.</a:t>
            </a:r>
          </a:p>
          <a:p>
            <a:r>
              <a:rPr lang="en-US" sz="1200" b="0" i="0" u="none" strike="noStrike" kern="1200" baseline="0" dirty="0">
                <a:solidFill>
                  <a:schemeClr val="tx1"/>
                </a:solidFill>
                <a:latin typeface="Arial" charset="0"/>
                <a:ea typeface="+mn-ea"/>
                <a:cs typeface="+mn-cs"/>
              </a:rPr>
              <a:t>Paul </a:t>
            </a:r>
            <a:r>
              <a:rPr lang="en-US" sz="1200" b="0" i="0" u="none" strike="noStrike" kern="1200" baseline="0" dirty="0" err="1">
                <a:solidFill>
                  <a:schemeClr val="tx1"/>
                </a:solidFill>
                <a:latin typeface="Arial" charset="0"/>
                <a:ea typeface="+mn-ea"/>
                <a:cs typeface="+mn-cs"/>
              </a:rPr>
              <a:t>Syverson</a:t>
            </a:r>
            <a:r>
              <a:rPr lang="en-US" sz="1200" b="0" i="0" u="none" strike="noStrike" kern="1200" baseline="0" dirty="0">
                <a:solidFill>
                  <a:schemeClr val="tx1"/>
                </a:solidFill>
                <a:latin typeface="Arial" charset="0"/>
                <a:ea typeface="+mn-ea"/>
                <a:cs typeface="+mn-cs"/>
              </a:rPr>
              <a:t> and colleagues [SYV97] introduced the concept of </a:t>
            </a:r>
            <a:r>
              <a:rPr lang="en-US" sz="1200" b="1" i="0" u="none" strike="noStrike" kern="1200" baseline="0" dirty="0">
                <a:solidFill>
                  <a:schemeClr val="tx1"/>
                </a:solidFill>
                <a:latin typeface="Arial" charset="0"/>
                <a:ea typeface="+mn-ea"/>
                <a:cs typeface="+mn-cs"/>
              </a:rPr>
              <a:t>onion routing</a:t>
            </a:r>
            <a:r>
              <a:rPr lang="en-US" sz="1200" b="0" i="0" u="none" strike="noStrike" kern="1200" baseline="0" dirty="0">
                <a:solidFill>
                  <a:schemeClr val="tx1"/>
                </a:solidFill>
                <a:latin typeface="Arial" charset="0"/>
                <a:ea typeface="+mn-ea"/>
                <a:cs typeface="+mn-cs"/>
              </a:rPr>
              <a:t>.</a:t>
            </a:r>
          </a:p>
          <a:p>
            <a:r>
              <a:rPr lang="en-US" sz="1200" b="0" i="0" u="none" strike="noStrike" kern="1200" baseline="0" dirty="0">
                <a:solidFill>
                  <a:schemeClr val="tx1"/>
                </a:solidFill>
                <a:latin typeface="Arial" charset="0"/>
                <a:ea typeface="+mn-ea"/>
                <a:cs typeface="+mn-cs"/>
              </a:rPr>
              <a:t>That model uses a collection of forwarding hosts, each of which knows only from where</a:t>
            </a:r>
          </a:p>
          <a:p>
            <a:r>
              <a:rPr lang="en-US" sz="1200" b="0" i="0" u="none" strike="noStrike" kern="1200" baseline="0" dirty="0">
                <a:solidFill>
                  <a:schemeClr val="tx1"/>
                </a:solidFill>
                <a:latin typeface="Arial" charset="0"/>
                <a:ea typeface="+mn-ea"/>
                <a:cs typeface="+mn-cs"/>
              </a:rPr>
              <a:t>a communication was received and to where to send it next. Thus, to send untraceable</a:t>
            </a:r>
          </a:p>
          <a:p>
            <a:r>
              <a:rPr lang="en-US" sz="1200" b="0" i="0" u="none" strike="noStrike" kern="1200" baseline="0" dirty="0">
                <a:solidFill>
                  <a:schemeClr val="tx1"/>
                </a:solidFill>
                <a:latin typeface="Arial" charset="0"/>
                <a:ea typeface="+mn-ea"/>
                <a:cs typeface="+mn-cs"/>
              </a:rPr>
              <a:t>data from A to B, A picks some number of forwarding hosts, call them X, Y, and Z.</a:t>
            </a:r>
          </a:p>
          <a:p>
            <a:r>
              <a:rPr lang="en-US" sz="1200" b="0" i="0" u="none" strike="noStrike" kern="1200" baseline="0" dirty="0">
                <a:solidFill>
                  <a:schemeClr val="tx1"/>
                </a:solidFill>
                <a:latin typeface="Arial" charset="0"/>
                <a:ea typeface="+mn-ea"/>
                <a:cs typeface="+mn-cs"/>
              </a:rPr>
              <a:t>A begins by encrypting the communication under B’s public key. A then appends a</a:t>
            </a:r>
          </a:p>
          <a:p>
            <a:r>
              <a:rPr lang="en-US" sz="1200" b="0" i="0" u="none" strike="noStrike" kern="1200" baseline="0" dirty="0">
                <a:solidFill>
                  <a:schemeClr val="tx1"/>
                </a:solidFill>
                <a:latin typeface="Arial" charset="0"/>
                <a:ea typeface="+mn-ea"/>
                <a:cs typeface="+mn-cs"/>
              </a:rPr>
              <a:t>header from Z to B and encrypts the result under Z’s public key. A then puts a header</a:t>
            </a:r>
          </a:p>
          <a:p>
            <a:r>
              <a:rPr lang="en-US" sz="1200" b="0" i="0" u="none" strike="noStrike" kern="1200" baseline="0" dirty="0">
                <a:solidFill>
                  <a:schemeClr val="tx1"/>
                </a:solidFill>
                <a:latin typeface="Arial" charset="0"/>
                <a:ea typeface="+mn-ea"/>
                <a:cs typeface="+mn-cs"/>
              </a:rPr>
              <a:t>on that from Y to Z and encrypts that under Y’s public key. A then puts a header on that Upon receiving the package, X decrypts it and finds instructions to forward the inner</a:t>
            </a:r>
          </a:p>
          <a:p>
            <a:r>
              <a:rPr lang="en-US" sz="1200" b="0" i="0" u="none" strike="noStrike" kern="1200" baseline="0" dirty="0">
                <a:solidFill>
                  <a:schemeClr val="tx1"/>
                </a:solidFill>
                <a:latin typeface="Arial" charset="0"/>
                <a:ea typeface="+mn-ea"/>
                <a:cs typeface="+mn-cs"/>
              </a:rPr>
              <a:t>package to Y. Y then decrypts it and finds instructions to forward the inner package to Z.</a:t>
            </a:r>
          </a:p>
          <a:p>
            <a:r>
              <a:rPr lang="en-US" sz="1200" b="0" i="0" u="none" strike="noStrike" kern="1200" baseline="0" dirty="0">
                <a:solidFill>
                  <a:schemeClr val="tx1"/>
                </a:solidFill>
                <a:latin typeface="Arial" charset="0"/>
                <a:ea typeface="+mn-ea"/>
                <a:cs typeface="+mn-cs"/>
              </a:rPr>
              <a:t>Z then decrypts it and finds instructions to forward the inner package to B. The package</a:t>
            </a:r>
          </a:p>
          <a:p>
            <a:r>
              <a:rPr lang="en-US" sz="1200" b="0" i="0" u="none" strike="noStrike" kern="1200" baseline="0" dirty="0">
                <a:solidFill>
                  <a:schemeClr val="tx1"/>
                </a:solidFill>
                <a:latin typeface="Arial" charset="0"/>
                <a:ea typeface="+mn-ea"/>
                <a:cs typeface="+mn-cs"/>
              </a:rPr>
              <a:t>is deconstructed like peeling the layers from an onion, which is why this technique is</a:t>
            </a:r>
          </a:p>
          <a:p>
            <a:r>
              <a:rPr lang="en-US" sz="1200" b="0" i="0" u="none" strike="noStrike" kern="1200" baseline="0" dirty="0">
                <a:solidFill>
                  <a:schemeClr val="tx1"/>
                </a:solidFill>
                <a:latin typeface="Arial" charset="0"/>
                <a:ea typeface="+mn-ea"/>
                <a:cs typeface="+mn-cs"/>
              </a:rPr>
              <a:t>called onion routing.</a:t>
            </a:r>
            <a:endParaRPr lang="en-US" dirty="0"/>
          </a:p>
        </p:txBody>
      </p:sp>
      <p:sp>
        <p:nvSpPr>
          <p:cNvPr id="4" name="Slide Number Placeholder 3"/>
          <p:cNvSpPr>
            <a:spLocks noGrp="1"/>
          </p:cNvSpPr>
          <p:nvPr>
            <p:ph type="sldNum" sz="quarter" idx="10"/>
          </p:nvPr>
        </p:nvSpPr>
        <p:spPr/>
        <p:txBody>
          <a:bodyPr/>
          <a:lstStyle/>
          <a:p>
            <a:fld id="{4CA7DEB1-D7C8-3B49-8A71-75AFCE089D88}" type="slidenum">
              <a:rPr lang="en-US" smtClean="0"/>
              <a:t>8</a:t>
            </a:fld>
            <a:endParaRPr lang="en-US"/>
          </a:p>
        </p:txBody>
      </p:sp>
    </p:spTree>
    <p:extLst>
      <p:ext uri="{BB962C8B-B14F-4D97-AF65-F5344CB8AC3E}">
        <p14:creationId xmlns:p14="http://schemas.microsoft.com/office/powerpoint/2010/main" val="2174175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CA7DEB1-D7C8-3B49-8A71-75AFCE089D88}" type="slidenum">
              <a:rPr lang="en-US" smtClean="0"/>
              <a:t>9</a:t>
            </a:fld>
            <a:endParaRPr lang="en-US"/>
          </a:p>
        </p:txBody>
      </p:sp>
    </p:spTree>
    <p:extLst>
      <p:ext uri="{BB962C8B-B14F-4D97-AF65-F5344CB8AC3E}">
        <p14:creationId xmlns:p14="http://schemas.microsoft.com/office/powerpoint/2010/main" val="3800714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E61C8-F738-4637-918C-657F9664EA52}" type="slidenum">
              <a:rPr lang="en-US" smtClean="0"/>
              <a:t>15</a:t>
            </a:fld>
            <a:endParaRPr lang="en-US"/>
          </a:p>
        </p:txBody>
      </p:sp>
    </p:spTree>
    <p:extLst>
      <p:ext uri="{BB962C8B-B14F-4D97-AF65-F5344CB8AC3E}">
        <p14:creationId xmlns:p14="http://schemas.microsoft.com/office/powerpoint/2010/main" val="26007105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US" dirty="0"/>
          </a:p>
        </p:txBody>
      </p:sp>
      <p:sp>
        <p:nvSpPr>
          <p:cNvPr id="4" name="Slide Number Placeholder 3"/>
          <p:cNvSpPr>
            <a:spLocks noGrp="1"/>
          </p:cNvSpPr>
          <p:nvPr>
            <p:ph type="sldNum" sz="quarter" idx="10"/>
          </p:nvPr>
        </p:nvSpPr>
        <p:spPr/>
        <p:txBody>
          <a:bodyPr/>
          <a:lstStyle/>
          <a:p>
            <a:fld id="{AE6EF5E0-C2FA-5142-86EE-14490FC049AF}" type="slidenum">
              <a:rPr lang="en-US" smtClean="0">
                <a:solidFill>
                  <a:prstClr val="black"/>
                </a:solidFill>
                <a:latin typeface="Calibri"/>
              </a:rPr>
              <a:pPr/>
              <a:t>23</a:t>
            </a:fld>
            <a:endParaRPr lang="en-US">
              <a:solidFill>
                <a:prstClr val="black"/>
              </a:solidFill>
              <a:latin typeface="Calibri"/>
            </a:endParaRPr>
          </a:p>
        </p:txBody>
      </p:sp>
    </p:spTree>
    <p:extLst>
      <p:ext uri="{BB962C8B-B14F-4D97-AF65-F5344CB8AC3E}">
        <p14:creationId xmlns:p14="http://schemas.microsoft.com/office/powerpoint/2010/main" val="21430674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E61C8-F738-4637-918C-657F9664EA52}" type="slidenum">
              <a:rPr lang="en-US" smtClean="0"/>
              <a:t>37</a:t>
            </a:fld>
            <a:endParaRPr lang="en-US"/>
          </a:p>
        </p:txBody>
      </p:sp>
    </p:spTree>
    <p:extLst>
      <p:ext uri="{BB962C8B-B14F-4D97-AF65-F5344CB8AC3E}">
        <p14:creationId xmlns:p14="http://schemas.microsoft.com/office/powerpoint/2010/main" val="36628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E61C8-F738-4637-918C-657F9664EA52}" type="slidenum">
              <a:rPr lang="en-US" smtClean="0"/>
              <a:t>38</a:t>
            </a:fld>
            <a:endParaRPr lang="en-US"/>
          </a:p>
        </p:txBody>
      </p:sp>
    </p:spTree>
    <p:extLst>
      <p:ext uri="{BB962C8B-B14F-4D97-AF65-F5344CB8AC3E}">
        <p14:creationId xmlns:p14="http://schemas.microsoft.com/office/powerpoint/2010/main" val="2133573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76E61C8-F738-4637-918C-657F9664EA52}" type="slidenum">
              <a:rPr lang="en-US" smtClean="0"/>
              <a:t>41</a:t>
            </a:fld>
            <a:endParaRPr lang="en-US"/>
          </a:p>
        </p:txBody>
      </p:sp>
    </p:spTree>
    <p:extLst>
      <p:ext uri="{BB962C8B-B14F-4D97-AF65-F5344CB8AC3E}">
        <p14:creationId xmlns:p14="http://schemas.microsoft.com/office/powerpoint/2010/main" val="4239328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48</a:t>
            </a:fld>
            <a:endParaRPr lang="en-US"/>
          </a:p>
        </p:txBody>
      </p:sp>
    </p:spTree>
    <p:extLst>
      <p:ext uri="{BB962C8B-B14F-4D97-AF65-F5344CB8AC3E}">
        <p14:creationId xmlns:p14="http://schemas.microsoft.com/office/powerpoint/2010/main" val="1918813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49</a:t>
            </a:fld>
            <a:endParaRPr lang="en-US"/>
          </a:p>
        </p:txBody>
      </p:sp>
    </p:spTree>
    <p:extLst>
      <p:ext uri="{BB962C8B-B14F-4D97-AF65-F5344CB8AC3E}">
        <p14:creationId xmlns:p14="http://schemas.microsoft.com/office/powerpoint/2010/main" val="11853878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50</a:t>
            </a:fld>
            <a:endParaRPr lang="en-US"/>
          </a:p>
        </p:txBody>
      </p:sp>
    </p:spTree>
    <p:extLst>
      <p:ext uri="{BB962C8B-B14F-4D97-AF65-F5344CB8AC3E}">
        <p14:creationId xmlns:p14="http://schemas.microsoft.com/office/powerpoint/2010/main" val="2547387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51</a:t>
            </a:fld>
            <a:endParaRPr lang="en-US"/>
          </a:p>
        </p:txBody>
      </p:sp>
    </p:spTree>
    <p:extLst>
      <p:ext uri="{BB962C8B-B14F-4D97-AF65-F5344CB8AC3E}">
        <p14:creationId xmlns:p14="http://schemas.microsoft.com/office/powerpoint/2010/main" val="3702052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52</a:t>
            </a:fld>
            <a:endParaRPr lang="en-US"/>
          </a:p>
        </p:txBody>
      </p:sp>
    </p:spTree>
    <p:extLst>
      <p:ext uri="{BB962C8B-B14F-4D97-AF65-F5344CB8AC3E}">
        <p14:creationId xmlns:p14="http://schemas.microsoft.com/office/powerpoint/2010/main" val="225942004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53</a:t>
            </a:fld>
            <a:endParaRPr lang="en-US"/>
          </a:p>
        </p:txBody>
      </p:sp>
    </p:spTree>
    <p:extLst>
      <p:ext uri="{BB962C8B-B14F-4D97-AF65-F5344CB8AC3E}">
        <p14:creationId xmlns:p14="http://schemas.microsoft.com/office/powerpoint/2010/main" val="23418891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54</a:t>
            </a:fld>
            <a:endParaRPr lang="en-US"/>
          </a:p>
        </p:txBody>
      </p:sp>
    </p:spTree>
    <p:extLst>
      <p:ext uri="{BB962C8B-B14F-4D97-AF65-F5344CB8AC3E}">
        <p14:creationId xmlns:p14="http://schemas.microsoft.com/office/powerpoint/2010/main" val="36826497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55</a:t>
            </a:fld>
            <a:endParaRPr lang="en-US"/>
          </a:p>
        </p:txBody>
      </p:sp>
    </p:spTree>
    <p:extLst>
      <p:ext uri="{BB962C8B-B14F-4D97-AF65-F5344CB8AC3E}">
        <p14:creationId xmlns:p14="http://schemas.microsoft.com/office/powerpoint/2010/main" val="30088209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F161E8-846D-4747-B53A-F633A57CCB41}" type="slidenum">
              <a:rPr lang="en-US" smtClean="0"/>
              <a:pPr/>
              <a:t>56</a:t>
            </a:fld>
            <a:endParaRPr lang="en-US"/>
          </a:p>
        </p:txBody>
      </p:sp>
    </p:spTree>
    <p:extLst>
      <p:ext uri="{BB962C8B-B14F-4D97-AF65-F5344CB8AC3E}">
        <p14:creationId xmlns:p14="http://schemas.microsoft.com/office/powerpoint/2010/main" val="39340735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Ddos</a:t>
            </a:r>
            <a:r>
              <a:rPr lang="en-US" dirty="0"/>
              <a:t> requires huge </a:t>
            </a:r>
            <a:r>
              <a:rPr lang="en-US" dirty="0" err="1"/>
              <a:t>bandwith</a:t>
            </a:r>
            <a:endParaRPr lang="en-US" dirty="0"/>
          </a:p>
        </p:txBody>
      </p:sp>
      <p:sp>
        <p:nvSpPr>
          <p:cNvPr id="4" name="Slide Number Placeholder 3"/>
          <p:cNvSpPr>
            <a:spLocks noGrp="1"/>
          </p:cNvSpPr>
          <p:nvPr>
            <p:ph type="sldNum" sz="quarter" idx="5"/>
          </p:nvPr>
        </p:nvSpPr>
        <p:spPr/>
        <p:txBody>
          <a:bodyPr/>
          <a:lstStyle/>
          <a:p>
            <a:fld id="{576E61C8-F738-4637-918C-657F9664EA52}" type="slidenum">
              <a:rPr lang="en-US" smtClean="0"/>
              <a:t>57</a:t>
            </a:fld>
            <a:endParaRPr lang="en-US"/>
          </a:p>
        </p:txBody>
      </p:sp>
    </p:spTree>
    <p:extLst>
      <p:ext uri="{BB962C8B-B14F-4D97-AF65-F5344CB8AC3E}">
        <p14:creationId xmlns:p14="http://schemas.microsoft.com/office/powerpoint/2010/main" val="25054973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sp>
        <p:nvSpPr>
          <p:cNvPr id="5" name="Rectangle 4"/>
          <p:cNvSpPr/>
          <p:nvPr userDrawn="1"/>
        </p:nvSpPr>
        <p:spPr>
          <a:xfrm>
            <a:off x="11049000" y="6400800"/>
            <a:ext cx="914400" cy="381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6" name="Picture 5">
            <a:extLst>
              <a:ext uri="{FF2B5EF4-FFF2-40B4-BE49-F238E27FC236}">
                <a16:creationId xmlns:a16="http://schemas.microsoft.com/office/drawing/2014/main" id="{653468EA-74BA-7E40-BA51-C1DD4585DF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654"/>
            <a:ext cx="12192000" cy="6854691"/>
          </a:xfrm>
          <a:prstGeom prst="rect">
            <a:avLst/>
          </a:prstGeom>
        </p:spPr>
      </p:pic>
      <p:sp>
        <p:nvSpPr>
          <p:cNvPr id="2" name="Title 1"/>
          <p:cNvSpPr>
            <a:spLocks noGrp="1"/>
          </p:cNvSpPr>
          <p:nvPr>
            <p:ph type="title" hasCustomPrompt="1"/>
          </p:nvPr>
        </p:nvSpPr>
        <p:spPr>
          <a:xfrm>
            <a:off x="0" y="-24384"/>
            <a:ext cx="9372600" cy="5053584"/>
          </a:xfrm>
          <a:noFill/>
        </p:spPr>
        <p:txBody>
          <a:bodyPr/>
          <a:lstStyle/>
          <a:p>
            <a:pPr lvl="0"/>
            <a:r>
              <a:rPr lang="en-US" dirty="0"/>
              <a:t>Click </a:t>
            </a:r>
            <a:r>
              <a:rPr lang="en-US" sz="3600" b="1" dirty="0" err="1">
                <a:solidFill>
                  <a:schemeClr val="tx1"/>
                </a:solidFill>
                <a:latin typeface="+mj-lt"/>
              </a:rPr>
              <a:t>Click</a:t>
            </a:r>
            <a:r>
              <a:rPr lang="en-US" sz="3600" b="1" dirty="0">
                <a:solidFill>
                  <a:schemeClr val="tx1"/>
                </a:solidFill>
                <a:latin typeface="+mj-lt"/>
              </a:rPr>
              <a:t> and type the Course Title</a:t>
            </a:r>
            <a:br>
              <a:rPr lang="en-US" sz="3600" b="1" dirty="0">
                <a:solidFill>
                  <a:schemeClr val="tx1"/>
                </a:solidFill>
                <a:latin typeface="+mj-lt"/>
              </a:rPr>
            </a:br>
            <a:r>
              <a:rPr lang="en-US" sz="3600" b="1" dirty="0">
                <a:solidFill>
                  <a:schemeClr val="tx1"/>
                </a:solidFill>
                <a:latin typeface="+mj-lt"/>
              </a:rPr>
              <a:t>Course Number</a:t>
            </a:r>
            <a:br>
              <a:rPr lang="en-US" sz="3600" b="1" dirty="0">
                <a:solidFill>
                  <a:schemeClr val="tx1"/>
                </a:solidFill>
                <a:latin typeface="+mj-lt"/>
              </a:rPr>
            </a:br>
            <a:r>
              <a:rPr lang="en-US" sz="3600" b="1" dirty="0">
                <a:solidFill>
                  <a:schemeClr val="tx1"/>
                </a:solidFill>
                <a:latin typeface="+mj-lt"/>
              </a:rPr>
              <a:t>Session Title</a:t>
            </a:r>
            <a:br>
              <a:rPr lang="en-US" sz="3600" b="1" dirty="0">
                <a:solidFill>
                  <a:schemeClr val="tx1"/>
                </a:solidFill>
                <a:latin typeface="+mj-lt"/>
              </a:rPr>
            </a:br>
            <a:r>
              <a:rPr lang="en-US" sz="3600" b="1" dirty="0">
                <a:solidFill>
                  <a:schemeClr val="tx1"/>
                </a:solidFill>
                <a:latin typeface="+mj-lt"/>
              </a:rPr>
              <a:t>Instructor Name</a:t>
            </a:r>
          </a:p>
        </p:txBody>
      </p:sp>
    </p:spTree>
    <p:custDataLst>
      <p:tags r:id="rId1"/>
    </p:custDataLst>
    <p:extLst>
      <p:ext uri="{BB962C8B-B14F-4D97-AF65-F5344CB8AC3E}">
        <p14:creationId xmlns:p14="http://schemas.microsoft.com/office/powerpoint/2010/main" val="1819375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opic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600" y="990600"/>
            <a:ext cx="10972800" cy="51355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Char char="•"/>
              <a:tabLst/>
              <a:defRPr baseline="0"/>
            </a:lvl1pPr>
          </a:lstStyle>
          <a:p>
            <a:pPr lvl="0"/>
            <a:r>
              <a:rPr lang="en-US" dirty="0"/>
              <a:t>Click and type text</a:t>
            </a:r>
          </a:p>
          <a:p>
            <a:pPr lvl="1"/>
            <a:r>
              <a:rPr lang="en-US" dirty="0"/>
              <a:t>Second level</a:t>
            </a:r>
          </a:p>
          <a:p>
            <a:pPr lvl="2"/>
            <a:r>
              <a:rPr lang="en-US" dirty="0"/>
              <a:t>Third level</a:t>
            </a:r>
          </a:p>
          <a:p>
            <a:pPr lvl="0"/>
            <a:endParaRPr lang="en-US" dirty="0"/>
          </a:p>
        </p:txBody>
      </p:sp>
      <p:sp>
        <p:nvSpPr>
          <p:cNvPr id="4"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1079258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609600" y="2286001"/>
            <a:ext cx="10972800" cy="38401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Char char="•"/>
              <a:tabLst/>
              <a:defRPr baseline="0"/>
            </a:lvl1pPr>
          </a:lstStyle>
          <a:p>
            <a:pPr lvl="0"/>
            <a:r>
              <a:rPr lang="en-US" dirty="0"/>
              <a:t>Click and type text</a:t>
            </a:r>
          </a:p>
          <a:p>
            <a:pPr lvl="1"/>
            <a:r>
              <a:rPr lang="en-US" dirty="0"/>
              <a:t>Second level</a:t>
            </a:r>
          </a:p>
          <a:p>
            <a:pPr lvl="2"/>
            <a:r>
              <a:rPr lang="en-US" dirty="0"/>
              <a:t>Third level</a:t>
            </a:r>
          </a:p>
          <a:p>
            <a:pPr lvl="0"/>
            <a:endParaRPr lang="en-US" dirty="0"/>
          </a:p>
        </p:txBody>
      </p:sp>
      <p:sp>
        <p:nvSpPr>
          <p:cNvPr id="8" name="Text Placeholder 2"/>
          <p:cNvSpPr>
            <a:spLocks noGrp="1"/>
          </p:cNvSpPr>
          <p:nvPr>
            <p:ph type="body" idx="13" hasCustomPrompt="1"/>
          </p:nvPr>
        </p:nvSpPr>
        <p:spPr>
          <a:xfrm>
            <a:off x="508000" y="914400"/>
            <a:ext cx="10972800" cy="1143000"/>
          </a:xfrm>
          <a:prstGeom prst="rect">
            <a:avLst/>
          </a:prstGeom>
        </p:spPr>
        <p:txBody>
          <a:bodyPr anchor="t" anchorCtr="0">
            <a:normAutofit/>
          </a:bodyPr>
          <a:lstStyle>
            <a:lvl1pPr marL="0" indent="0" algn="l">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0047641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_Content with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766733" y="990600"/>
            <a:ext cx="6815667" cy="513556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and type text</a:t>
            </a:r>
          </a:p>
          <a:p>
            <a:pPr lvl="1"/>
            <a:r>
              <a:rPr lang="en-US" dirty="0"/>
              <a:t>Second level</a:t>
            </a:r>
          </a:p>
          <a:p>
            <a:pPr lvl="2"/>
            <a:r>
              <a:rPr lang="en-US" dirty="0"/>
              <a:t>Third level</a:t>
            </a:r>
          </a:p>
        </p:txBody>
      </p:sp>
      <p:sp>
        <p:nvSpPr>
          <p:cNvPr id="4" name="Text Placeholder 3"/>
          <p:cNvSpPr>
            <a:spLocks noGrp="1"/>
          </p:cNvSpPr>
          <p:nvPr>
            <p:ph type="body" sz="half" idx="2" hasCustomPrompt="1"/>
          </p:nvPr>
        </p:nvSpPr>
        <p:spPr>
          <a:xfrm>
            <a:off x="609601" y="990600"/>
            <a:ext cx="4011084" cy="5135563"/>
          </a:xfrm>
          <a:prstGeom prst="rect">
            <a:avLst/>
          </a:prstGeom>
        </p:spPr>
        <p:txBody>
          <a:bodyPr>
            <a:normAutofit/>
          </a:bodyPr>
          <a:lstStyle>
            <a:lvl1pPr marL="0" indent="0">
              <a:buNone/>
              <a:defRPr sz="2400"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caption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641215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_Content with Caption w Subtitle">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4766733" y="2362201"/>
            <a:ext cx="6815667" cy="3763963"/>
          </a:xfrm>
          <a:prstGeom prst="rect">
            <a:avLst/>
          </a:prstGeom>
        </p:spPr>
        <p:txBody>
          <a:bodyPr/>
          <a:lstStyle>
            <a:lvl1pPr>
              <a:defRPr sz="3200" baseline="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and type text</a:t>
            </a:r>
          </a:p>
          <a:p>
            <a:pPr lvl="1"/>
            <a:r>
              <a:rPr lang="en-US" dirty="0"/>
              <a:t>Second level</a:t>
            </a:r>
          </a:p>
          <a:p>
            <a:pPr lvl="2"/>
            <a:r>
              <a:rPr lang="en-US" dirty="0"/>
              <a:t>Third level</a:t>
            </a:r>
          </a:p>
        </p:txBody>
      </p:sp>
      <p:sp>
        <p:nvSpPr>
          <p:cNvPr id="4" name="Text Placeholder 3"/>
          <p:cNvSpPr>
            <a:spLocks noGrp="1"/>
          </p:cNvSpPr>
          <p:nvPr>
            <p:ph type="body" sz="half" idx="2" hasCustomPrompt="1"/>
          </p:nvPr>
        </p:nvSpPr>
        <p:spPr>
          <a:xfrm>
            <a:off x="609601" y="2362201"/>
            <a:ext cx="4011084" cy="3763963"/>
          </a:xfrm>
          <a:prstGeom prst="rect">
            <a:avLst/>
          </a:prstGeom>
        </p:spPr>
        <p:txBody>
          <a:bodyPr>
            <a:normAutofit/>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caption text</a:t>
            </a:r>
          </a:p>
        </p:txBody>
      </p:sp>
      <p:sp>
        <p:nvSpPr>
          <p:cNvPr id="8" name="Text Placeholder 2"/>
          <p:cNvSpPr>
            <a:spLocks noGrp="1"/>
          </p:cNvSpPr>
          <p:nvPr>
            <p:ph type="body" idx="13" hasCustomPrompt="1"/>
          </p:nvPr>
        </p:nvSpPr>
        <p:spPr>
          <a:xfrm>
            <a:off x="508000" y="914400"/>
            <a:ext cx="10972800" cy="1143000"/>
          </a:xfrm>
          <a:prstGeom prst="rect">
            <a:avLst/>
          </a:prstGeom>
        </p:spPr>
        <p:txBody>
          <a:bodyPr anchor="t" anchorCtr="0">
            <a:normAutofit/>
          </a:bodyPr>
          <a:lstStyle>
            <a:lvl1pPr marL="0" indent="0" algn="l">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6"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3002501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_Picture with Caption">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2438400" y="914400"/>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and add picture</a:t>
            </a:r>
            <a:endParaRPr lang="en-CA" dirty="0"/>
          </a:p>
        </p:txBody>
      </p:sp>
      <p:sp>
        <p:nvSpPr>
          <p:cNvPr id="4" name="Text Placeholder 3"/>
          <p:cNvSpPr>
            <a:spLocks noGrp="1"/>
          </p:cNvSpPr>
          <p:nvPr>
            <p:ph type="body" sz="half" idx="2" hasCustomPrompt="1"/>
          </p:nvPr>
        </p:nvSpPr>
        <p:spPr>
          <a:xfrm>
            <a:off x="711200" y="5367338"/>
            <a:ext cx="10668000" cy="804862"/>
          </a:xfrm>
          <a:prstGeom prst="rect">
            <a:avLst/>
          </a:prstGeom>
        </p:spPr>
        <p:txBody>
          <a:bodyPr>
            <a:normAutofit/>
          </a:bodyPr>
          <a:lstStyle>
            <a:lvl1pPr marL="0" indent="0">
              <a:buNone/>
              <a:defRPr sz="2400" baseline="0">
                <a:solidFill>
                  <a:srgbClr val="E43029"/>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628875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_Picture w subtitle">
    <p:spTree>
      <p:nvGrpSpPr>
        <p:cNvPr id="1" name=""/>
        <p:cNvGrpSpPr/>
        <p:nvPr/>
      </p:nvGrpSpPr>
      <p:grpSpPr>
        <a:xfrm>
          <a:off x="0" y="0"/>
          <a:ext cx="0" cy="0"/>
          <a:chOff x="0" y="0"/>
          <a:chExt cx="0" cy="0"/>
        </a:xfrm>
      </p:grpSpPr>
      <p:sp>
        <p:nvSpPr>
          <p:cNvPr id="3" name="Picture Placeholder 2"/>
          <p:cNvSpPr>
            <a:spLocks noGrp="1"/>
          </p:cNvSpPr>
          <p:nvPr>
            <p:ph type="pic" idx="1" hasCustomPrompt="1"/>
          </p:nvPr>
        </p:nvSpPr>
        <p:spPr>
          <a:xfrm>
            <a:off x="2438400" y="2133600"/>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and add picture</a:t>
            </a:r>
            <a:endParaRPr lang="en-CA" dirty="0"/>
          </a:p>
        </p:txBody>
      </p:sp>
      <p:sp>
        <p:nvSpPr>
          <p:cNvPr id="8" name="Text Placeholder 2"/>
          <p:cNvSpPr>
            <a:spLocks noGrp="1"/>
          </p:cNvSpPr>
          <p:nvPr>
            <p:ph type="body" idx="13" hasCustomPrompt="1"/>
          </p:nvPr>
        </p:nvSpPr>
        <p:spPr>
          <a:xfrm>
            <a:off x="508000" y="914400"/>
            <a:ext cx="10972800" cy="1143000"/>
          </a:xfrm>
          <a:prstGeom prst="rect">
            <a:avLst/>
          </a:prstGeom>
        </p:spPr>
        <p:txBody>
          <a:bodyPr anchor="t" anchorCtr="0">
            <a:normAutofit/>
          </a:bodyPr>
          <a:lstStyle>
            <a:lvl1pPr marL="0" indent="0" algn="l">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181943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9" name="Picture Placeholder 8"/>
          <p:cNvSpPr>
            <a:spLocks noGrp="1"/>
          </p:cNvSpPr>
          <p:nvPr>
            <p:ph type="pic" sz="quarter" idx="14" hasCustomPrompt="1"/>
          </p:nvPr>
        </p:nvSpPr>
        <p:spPr>
          <a:xfrm>
            <a:off x="6299200" y="3505200"/>
            <a:ext cx="5283200" cy="2590800"/>
          </a:xfrm>
          <a:prstGeom prst="rect">
            <a:avLst/>
          </a:prstGeom>
        </p:spPr>
        <p:txBody>
          <a:bodyPr/>
          <a:lstStyle>
            <a:lvl1pPr marL="0" indent="0">
              <a:buNone/>
              <a:defRPr/>
            </a:lvl1pPr>
          </a:lstStyle>
          <a:p>
            <a:r>
              <a:rPr lang="en-US" dirty="0"/>
              <a:t>Click and add picture</a:t>
            </a:r>
          </a:p>
        </p:txBody>
      </p:sp>
      <p:sp>
        <p:nvSpPr>
          <p:cNvPr id="8" name="Text Placeholder 3"/>
          <p:cNvSpPr>
            <a:spLocks noGrp="1"/>
          </p:cNvSpPr>
          <p:nvPr>
            <p:ph type="body" sz="half" idx="2" hasCustomPrompt="1"/>
          </p:nvPr>
        </p:nvSpPr>
        <p:spPr>
          <a:xfrm>
            <a:off x="609600" y="990601"/>
            <a:ext cx="11074400" cy="2286000"/>
          </a:xfrm>
          <a:prstGeom prst="rect">
            <a:avLst/>
          </a:prstGeom>
        </p:spPr>
        <p:txBody>
          <a:bodyPr>
            <a:normAutofit/>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text</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584580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609600" y="990600"/>
            <a:ext cx="5384800" cy="5135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and type text</a:t>
            </a:r>
          </a:p>
          <a:p>
            <a:pPr lvl="1"/>
            <a:r>
              <a:rPr lang="en-US" dirty="0"/>
              <a:t>Second level</a:t>
            </a:r>
          </a:p>
          <a:p>
            <a:pPr lvl="2"/>
            <a:r>
              <a:rPr lang="en-US" dirty="0"/>
              <a:t>Third level</a:t>
            </a:r>
          </a:p>
        </p:txBody>
      </p:sp>
      <p:sp>
        <p:nvSpPr>
          <p:cNvPr id="4" name="Content Placeholder 3"/>
          <p:cNvSpPr>
            <a:spLocks noGrp="1"/>
          </p:cNvSpPr>
          <p:nvPr>
            <p:ph sz="half" idx="2" hasCustomPrompt="1"/>
          </p:nvPr>
        </p:nvSpPr>
        <p:spPr>
          <a:xfrm>
            <a:off x="6197600" y="990600"/>
            <a:ext cx="5384800" cy="51355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and type text</a:t>
            </a:r>
          </a:p>
          <a:p>
            <a:pPr lvl="1"/>
            <a:r>
              <a:rPr lang="en-US" dirty="0"/>
              <a:t>Second level</a:t>
            </a:r>
          </a:p>
          <a:p>
            <a:pPr lvl="2"/>
            <a:r>
              <a:rPr lang="en-US" dirty="0"/>
              <a:t>Third level</a:t>
            </a:r>
          </a:p>
        </p:txBody>
      </p:sp>
      <p:sp>
        <p:nvSpPr>
          <p:cNvPr id="5"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3857655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508000" y="914400"/>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4" name="Content Placeholder 3"/>
          <p:cNvSpPr>
            <a:spLocks noGrp="1"/>
          </p:cNvSpPr>
          <p:nvPr>
            <p:ph sz="half" idx="2" hasCustomPrompt="1"/>
          </p:nvPr>
        </p:nvSpPr>
        <p:spPr>
          <a:xfrm>
            <a:off x="609600" y="1752601"/>
            <a:ext cx="5386917" cy="43735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and type text</a:t>
            </a:r>
          </a:p>
          <a:p>
            <a:pPr lvl="1"/>
            <a:r>
              <a:rPr lang="en-US" dirty="0"/>
              <a:t>Second level</a:t>
            </a:r>
          </a:p>
          <a:p>
            <a:pPr lvl="2"/>
            <a:r>
              <a:rPr lang="en-US" dirty="0"/>
              <a:t>Third level</a:t>
            </a:r>
          </a:p>
        </p:txBody>
      </p:sp>
      <p:sp>
        <p:nvSpPr>
          <p:cNvPr id="5" name="Text Placeholder 4"/>
          <p:cNvSpPr>
            <a:spLocks noGrp="1"/>
          </p:cNvSpPr>
          <p:nvPr>
            <p:ph type="body" sz="quarter" idx="3" hasCustomPrompt="1"/>
          </p:nvPr>
        </p:nvSpPr>
        <p:spPr>
          <a:xfrm>
            <a:off x="6197601" y="914400"/>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and type subtitle text</a:t>
            </a:r>
          </a:p>
        </p:txBody>
      </p:sp>
      <p:sp>
        <p:nvSpPr>
          <p:cNvPr id="6" name="Content Placeholder 5"/>
          <p:cNvSpPr>
            <a:spLocks noGrp="1"/>
          </p:cNvSpPr>
          <p:nvPr>
            <p:ph sz="quarter" idx="4" hasCustomPrompt="1"/>
          </p:nvPr>
        </p:nvSpPr>
        <p:spPr>
          <a:xfrm>
            <a:off x="6193368" y="1752601"/>
            <a:ext cx="5389033" cy="437356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and type text</a:t>
            </a:r>
          </a:p>
          <a:p>
            <a:pPr lvl="1"/>
            <a:r>
              <a:rPr lang="en-US" dirty="0"/>
              <a:t>Second level</a:t>
            </a:r>
          </a:p>
          <a:p>
            <a:pPr lvl="2"/>
            <a:r>
              <a:rPr lang="en-US" dirty="0"/>
              <a:t>Third level</a:t>
            </a:r>
          </a:p>
        </p:txBody>
      </p:sp>
      <p:sp>
        <p:nvSpPr>
          <p:cNvPr id="7"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0779060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0" y="0"/>
            <a:ext cx="12192000" cy="684000"/>
          </a:xfrm>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17731589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Tree>
    <p:custDataLst>
      <p:tags r:id="rId1"/>
    </p:custDataLst>
    <p:extLst>
      <p:ext uri="{BB962C8B-B14F-4D97-AF65-F5344CB8AC3E}">
        <p14:creationId xmlns:p14="http://schemas.microsoft.com/office/powerpoint/2010/main" val="2274430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p:cNvSpPr/>
          <p:nvPr userDrawn="1"/>
        </p:nvSpPr>
        <p:spPr>
          <a:xfrm>
            <a:off x="0" y="6400800"/>
            <a:ext cx="1219200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7" name="Picture 6">
            <a:extLst>
              <a:ext uri="{FF2B5EF4-FFF2-40B4-BE49-F238E27FC236}">
                <a16:creationId xmlns:a16="http://schemas.microsoft.com/office/drawing/2014/main" id="{653468EA-74BA-7E40-BA51-C1DD4585DF5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1654"/>
            <a:ext cx="12192000" cy="6854691"/>
          </a:xfrm>
          <a:prstGeom prst="rect">
            <a:avLst/>
          </a:prstGeom>
        </p:spPr>
      </p:pic>
      <p:sp>
        <p:nvSpPr>
          <p:cNvPr id="3" name="Title Placeholder 1"/>
          <p:cNvSpPr>
            <a:spLocks noGrp="1"/>
          </p:cNvSpPr>
          <p:nvPr>
            <p:ph type="title"/>
          </p:nvPr>
        </p:nvSpPr>
        <p:spPr>
          <a:xfrm>
            <a:off x="685800" y="609600"/>
            <a:ext cx="10668000" cy="1411560"/>
          </a:xfrm>
          <a:prstGeom prst="rect">
            <a:avLst/>
          </a:prstGeom>
          <a:noFill/>
        </p:spPr>
        <p:txBody>
          <a:bodyPr vert="horz" lIns="91440" tIns="45720" rIns="91440" bIns="45720" rtlCol="0" anchor="ctr">
            <a:normAutofit/>
          </a:bodyPr>
          <a:lstStyle>
            <a:lvl1pPr>
              <a:defRPr>
                <a:solidFill>
                  <a:srgbClr val="024F6D"/>
                </a:solidFill>
              </a:defRPr>
            </a:lvl1pPr>
          </a:lstStyle>
          <a:p>
            <a:r>
              <a:rPr lang="en-US" dirty="0"/>
              <a:t>Click to edit Master title style</a:t>
            </a:r>
          </a:p>
        </p:txBody>
      </p:sp>
    </p:spTree>
    <p:custDataLst>
      <p:tags r:id="rId1"/>
    </p:custDataLst>
    <p:extLst>
      <p:ext uri="{BB962C8B-B14F-4D97-AF65-F5344CB8AC3E}">
        <p14:creationId xmlns:p14="http://schemas.microsoft.com/office/powerpoint/2010/main" val="9257908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and discussion question">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609600" y="990601"/>
            <a:ext cx="11074400" cy="2286000"/>
          </a:xfrm>
          <a:prstGeom prst="rect">
            <a:avLst/>
          </a:prstGeom>
        </p:spPr>
        <p:txBody>
          <a:bodyPr>
            <a:normAutofit/>
          </a:bodyPr>
          <a:lstStyle>
            <a:lvl1pPr marL="0" indent="0">
              <a:buNone/>
              <a:defRPr sz="2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Discussion text</a:t>
            </a:r>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8001" y="3322027"/>
            <a:ext cx="6515100" cy="3228975"/>
          </a:xfrm>
          <a:prstGeom prst="rect">
            <a:avLst/>
          </a:prstGeom>
        </p:spPr>
      </p:pic>
      <p:sp>
        <p:nvSpPr>
          <p:cNvPr id="13" name="Rounded Rectangular Callout 12"/>
          <p:cNvSpPr/>
          <p:nvPr userDrawn="1"/>
        </p:nvSpPr>
        <p:spPr>
          <a:xfrm>
            <a:off x="3009900" y="3273595"/>
            <a:ext cx="8026400" cy="1600200"/>
          </a:xfrm>
          <a:prstGeom prst="wedgeRoundRectCallout">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1" name="TextBox 10"/>
          <p:cNvSpPr txBox="1"/>
          <p:nvPr userDrawn="1"/>
        </p:nvSpPr>
        <p:spPr>
          <a:xfrm>
            <a:off x="3009900" y="3133217"/>
            <a:ext cx="1016000" cy="923330"/>
          </a:xfrm>
          <a:prstGeom prst="rect">
            <a:avLst/>
          </a:prstGeom>
          <a:noFill/>
        </p:spPr>
        <p:txBody>
          <a:bodyPr wrap="square" rtlCol="0">
            <a:spAutoFit/>
          </a:bodyPr>
          <a:lstStyle/>
          <a:p>
            <a:r>
              <a:rPr lang="en-CA" sz="54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4" name="Text Placeholder 3"/>
          <p:cNvSpPr>
            <a:spLocks noGrp="1"/>
          </p:cNvSpPr>
          <p:nvPr>
            <p:ph type="body" sz="half" idx="14" hasCustomPrompt="1"/>
          </p:nvPr>
        </p:nvSpPr>
        <p:spPr>
          <a:xfrm>
            <a:off x="3814109" y="3407226"/>
            <a:ext cx="7057092" cy="1240974"/>
          </a:xfrm>
          <a:prstGeom prst="rect">
            <a:avLst/>
          </a:prstGeom>
        </p:spPr>
        <p:txBody>
          <a:bodyPr>
            <a:normAutofit/>
          </a:bodyPr>
          <a:lstStyle>
            <a:lvl1pPr marL="0" indent="0">
              <a:buNone/>
              <a:defRPr sz="32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question text.</a:t>
            </a:r>
          </a:p>
        </p:txBody>
      </p:sp>
      <p:sp>
        <p:nvSpPr>
          <p:cNvPr id="9"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310088518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se example text and question">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609600" y="990600"/>
            <a:ext cx="11074400" cy="3505200"/>
          </a:xfrm>
          <a:prstGeom prst="rect">
            <a:avLst/>
          </a:prstGeom>
        </p:spPr>
        <p:txBody>
          <a:bodyPr>
            <a:normAutofit/>
          </a:bodyPr>
          <a:lstStyle>
            <a:lvl1pPr marL="0" indent="0">
              <a:buNone/>
              <a:defRPr sz="2400" baseline="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Case Example text</a:t>
            </a:r>
          </a:p>
        </p:txBody>
      </p:sp>
      <p:sp>
        <p:nvSpPr>
          <p:cNvPr id="13" name="Rounded Rectangular Callout 12"/>
          <p:cNvSpPr/>
          <p:nvPr userDrawn="1"/>
        </p:nvSpPr>
        <p:spPr>
          <a:xfrm>
            <a:off x="609600" y="4572000"/>
            <a:ext cx="8026400" cy="1359578"/>
          </a:xfrm>
          <a:prstGeom prst="wedgeRoundRectCallout">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1" name="TextBox 10"/>
          <p:cNvSpPr txBox="1"/>
          <p:nvPr userDrawn="1"/>
        </p:nvSpPr>
        <p:spPr>
          <a:xfrm>
            <a:off x="609600" y="4495801"/>
            <a:ext cx="1016000" cy="830997"/>
          </a:xfrm>
          <a:prstGeom prst="rect">
            <a:avLst/>
          </a:prstGeom>
          <a:noFill/>
        </p:spPr>
        <p:txBody>
          <a:bodyPr wrap="square" rtlCol="0">
            <a:spAutoFit/>
          </a:bodyPr>
          <a:lstStyle/>
          <a:p>
            <a:r>
              <a:rPr lang="en-CA" sz="48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4" name="Text Placeholder 3"/>
          <p:cNvSpPr>
            <a:spLocks noGrp="1"/>
          </p:cNvSpPr>
          <p:nvPr>
            <p:ph type="body" sz="half" idx="14" hasCustomPrompt="1"/>
          </p:nvPr>
        </p:nvSpPr>
        <p:spPr>
          <a:xfrm>
            <a:off x="1219201" y="4652664"/>
            <a:ext cx="7251700" cy="1138536"/>
          </a:xfrm>
          <a:prstGeom prst="rect">
            <a:avLst/>
          </a:prstGeom>
        </p:spPr>
        <p:txBody>
          <a:bodyPr>
            <a:normAutofit/>
          </a:bodyPr>
          <a:lstStyle>
            <a:lvl1pPr marL="0" indent="0">
              <a:buNone/>
              <a:defRPr sz="28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question text.</a:t>
            </a:r>
          </a:p>
        </p:txBody>
      </p:sp>
      <p:sp>
        <p:nvSpPr>
          <p:cNvPr id="7"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19907389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hort question">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08001" y="3322027"/>
            <a:ext cx="6515100" cy="3228975"/>
          </a:xfrm>
          <a:prstGeom prst="rect">
            <a:avLst/>
          </a:prstGeom>
        </p:spPr>
      </p:pic>
      <p:sp>
        <p:nvSpPr>
          <p:cNvPr id="12" name="Rounded Rectangular Callout 11"/>
          <p:cNvSpPr/>
          <p:nvPr userDrawn="1"/>
        </p:nvSpPr>
        <p:spPr>
          <a:xfrm>
            <a:off x="1237129" y="1519536"/>
            <a:ext cx="9144000" cy="2819382"/>
          </a:xfrm>
          <a:prstGeom prst="wedgeRoundRectCallout">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3" name="TextBox 12"/>
          <p:cNvSpPr txBox="1"/>
          <p:nvPr userDrawn="1"/>
        </p:nvSpPr>
        <p:spPr>
          <a:xfrm>
            <a:off x="1320800" y="1447800"/>
            <a:ext cx="1016000" cy="923330"/>
          </a:xfrm>
          <a:prstGeom prst="rect">
            <a:avLst/>
          </a:prstGeom>
          <a:noFill/>
        </p:spPr>
        <p:txBody>
          <a:bodyPr wrap="square" rtlCol="0">
            <a:spAutoFit/>
          </a:bodyPr>
          <a:lstStyle/>
          <a:p>
            <a:r>
              <a:rPr lang="en-CA" sz="54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4" name="Text Placeholder 3"/>
          <p:cNvSpPr>
            <a:spLocks noGrp="1"/>
          </p:cNvSpPr>
          <p:nvPr>
            <p:ph type="body" sz="half" idx="14" hasCustomPrompt="1"/>
          </p:nvPr>
        </p:nvSpPr>
        <p:spPr>
          <a:xfrm>
            <a:off x="2032000" y="1696286"/>
            <a:ext cx="8026400" cy="2418514"/>
          </a:xfrm>
          <a:prstGeom prst="rect">
            <a:avLst/>
          </a:prstGeom>
        </p:spPr>
        <p:txBody>
          <a:bodyPr>
            <a:normAutofit/>
          </a:bodyPr>
          <a:lstStyle>
            <a:lvl1pPr marL="0" indent="0">
              <a:buNone/>
              <a:defRPr sz="32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question text.</a:t>
            </a:r>
          </a:p>
        </p:txBody>
      </p:sp>
      <p:sp>
        <p:nvSpPr>
          <p:cNvPr id="7"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2799599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estion and Response">
    <p:spTree>
      <p:nvGrpSpPr>
        <p:cNvPr id="1" name=""/>
        <p:cNvGrpSpPr/>
        <p:nvPr/>
      </p:nvGrpSpPr>
      <p:grpSpPr>
        <a:xfrm>
          <a:off x="0" y="0"/>
          <a:ext cx="0" cy="0"/>
          <a:chOff x="0" y="0"/>
          <a:chExt cx="0" cy="0"/>
        </a:xfrm>
      </p:grpSpPr>
      <p:sp>
        <p:nvSpPr>
          <p:cNvPr id="11" name="Rounded Rectangular Callout 10"/>
          <p:cNvSpPr/>
          <p:nvPr userDrawn="1"/>
        </p:nvSpPr>
        <p:spPr>
          <a:xfrm>
            <a:off x="505288" y="916594"/>
            <a:ext cx="7825913" cy="2128813"/>
          </a:xfrm>
          <a:prstGeom prst="wedgeRoundRectCallout">
            <a:avLst>
              <a:gd name="adj1" fmla="val -3023"/>
              <a:gd name="adj2" fmla="val 84693"/>
              <a:gd name="adj3" fmla="val 16667"/>
            </a:avLst>
          </a:prstGeom>
          <a:gradFill>
            <a:gsLst>
              <a:gs pos="0">
                <a:srgbClr val="EF5F5F">
                  <a:alpha val="79000"/>
                </a:srgbClr>
              </a:gs>
              <a:gs pos="80000">
                <a:srgbClr val="E64242">
                  <a:alpha val="87000"/>
                </a:srgbClr>
              </a:gs>
              <a:gs pos="100000">
                <a:srgbClr val="D01212"/>
              </a:gs>
            </a:gsLst>
          </a:gradFill>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pic>
        <p:nvPicPr>
          <p:cNvPr id="10" name="Picture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816101" y="3322027"/>
            <a:ext cx="6515100" cy="3228975"/>
          </a:xfrm>
          <a:prstGeom prst="rect">
            <a:avLst/>
          </a:prstGeom>
        </p:spPr>
      </p:pic>
      <p:sp>
        <p:nvSpPr>
          <p:cNvPr id="13" name="TextBox 12"/>
          <p:cNvSpPr txBox="1"/>
          <p:nvPr userDrawn="1"/>
        </p:nvSpPr>
        <p:spPr>
          <a:xfrm>
            <a:off x="609600" y="838201"/>
            <a:ext cx="1016000" cy="646331"/>
          </a:xfrm>
          <a:prstGeom prst="rect">
            <a:avLst/>
          </a:prstGeom>
          <a:noFill/>
        </p:spPr>
        <p:txBody>
          <a:bodyPr wrap="square" rtlCol="0">
            <a:spAutoFit/>
          </a:bodyPr>
          <a:lstStyle/>
          <a:p>
            <a:r>
              <a:rPr lang="en-CA" sz="3600" dirty="0">
                <a:solidFill>
                  <a:schemeClr val="bg1"/>
                </a:solidFill>
                <a:effectLst>
                  <a:outerShdw blurRad="38100" dist="38100" dir="2700000" algn="tl">
                    <a:srgbClr val="000000">
                      <a:alpha val="43137"/>
                    </a:srgbClr>
                  </a:outerShdw>
                </a:effectLst>
                <a:latin typeface="Britannic Bold" pitchFamily="34" charset="0"/>
              </a:rPr>
              <a:t>Q</a:t>
            </a:r>
          </a:p>
        </p:txBody>
      </p:sp>
      <p:sp>
        <p:nvSpPr>
          <p:cNvPr id="17" name="Rounded Rectangular Callout 16"/>
          <p:cNvSpPr/>
          <p:nvPr userDrawn="1"/>
        </p:nvSpPr>
        <p:spPr>
          <a:xfrm>
            <a:off x="2743201" y="2200669"/>
            <a:ext cx="8872071" cy="2676692"/>
          </a:xfrm>
          <a:prstGeom prst="wedgeRoundRectCallout">
            <a:avLst/>
          </a:prstGeom>
          <a:gradFill>
            <a:gsLst>
              <a:gs pos="0">
                <a:srgbClr val="DFF1CB"/>
              </a:gs>
              <a:gs pos="80000">
                <a:schemeClr val="accent3"/>
              </a:gs>
              <a:gs pos="100000">
                <a:schemeClr val="accent3"/>
              </a:gs>
            </a:gsLst>
          </a:gradFill>
          <a:ln>
            <a:solidFill>
              <a:srgbClr val="698335"/>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CA"/>
          </a:p>
        </p:txBody>
      </p:sp>
      <p:sp>
        <p:nvSpPr>
          <p:cNvPr id="15" name="TextBox 14"/>
          <p:cNvSpPr txBox="1"/>
          <p:nvPr userDrawn="1"/>
        </p:nvSpPr>
        <p:spPr>
          <a:xfrm>
            <a:off x="2844800" y="2124670"/>
            <a:ext cx="1016000" cy="923330"/>
          </a:xfrm>
          <a:prstGeom prst="rect">
            <a:avLst/>
          </a:prstGeom>
          <a:noFill/>
        </p:spPr>
        <p:txBody>
          <a:bodyPr wrap="square" rtlCol="0">
            <a:spAutoFit/>
          </a:bodyPr>
          <a:lstStyle/>
          <a:p>
            <a:r>
              <a:rPr lang="en-CA" sz="5400" dirty="0">
                <a:solidFill>
                  <a:schemeClr val="bg1"/>
                </a:solidFill>
                <a:effectLst>
                  <a:outerShdw blurRad="38100" dist="38100" dir="2700000" algn="tl">
                    <a:srgbClr val="000000">
                      <a:alpha val="43137"/>
                    </a:srgbClr>
                  </a:outerShdw>
                </a:effectLst>
                <a:latin typeface="Britannic Bold" pitchFamily="34" charset="0"/>
              </a:rPr>
              <a:t>A</a:t>
            </a:r>
          </a:p>
        </p:txBody>
      </p:sp>
      <p:sp>
        <p:nvSpPr>
          <p:cNvPr id="14" name="Text Placeholder 3"/>
          <p:cNvSpPr>
            <a:spLocks noGrp="1"/>
          </p:cNvSpPr>
          <p:nvPr>
            <p:ph type="body" sz="half" idx="14" hasCustomPrompt="1"/>
          </p:nvPr>
        </p:nvSpPr>
        <p:spPr>
          <a:xfrm>
            <a:off x="3588871" y="2438400"/>
            <a:ext cx="7587129" cy="2286000"/>
          </a:xfrm>
          <a:prstGeom prst="rect">
            <a:avLst/>
          </a:prstGeom>
        </p:spPr>
        <p:txBody>
          <a:bodyPr>
            <a:normAutofit/>
          </a:bodyPr>
          <a:lstStyle>
            <a:lvl1pPr marL="0" indent="0">
              <a:buNone/>
              <a:defRPr sz="3200" baseline="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correct response.</a:t>
            </a:r>
          </a:p>
        </p:txBody>
      </p:sp>
      <p:sp>
        <p:nvSpPr>
          <p:cNvPr id="18" name="Text Placeholder 3"/>
          <p:cNvSpPr>
            <a:spLocks noGrp="1"/>
          </p:cNvSpPr>
          <p:nvPr>
            <p:ph type="body" sz="half" idx="2" hasCustomPrompt="1"/>
          </p:nvPr>
        </p:nvSpPr>
        <p:spPr>
          <a:xfrm>
            <a:off x="1105648" y="1004651"/>
            <a:ext cx="7022353" cy="1196019"/>
          </a:xfrm>
          <a:prstGeom prst="rect">
            <a:avLst/>
          </a:prstGeom>
        </p:spPr>
        <p:txBody>
          <a:bodyPr>
            <a:normAutofit/>
          </a:bodyPr>
          <a:lstStyle>
            <a:lvl1pPr marL="0" indent="0">
              <a:buNone/>
              <a:defRPr sz="2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and type original question text.</a:t>
            </a:r>
          </a:p>
        </p:txBody>
      </p:sp>
      <p:sp>
        <p:nvSpPr>
          <p:cNvPr id="16" name="Title Placeholder 1"/>
          <p:cNvSpPr>
            <a:spLocks noGrp="1"/>
          </p:cNvSpPr>
          <p:nvPr>
            <p:ph type="title"/>
          </p:nvPr>
        </p:nvSpPr>
        <p:spPr>
          <a:xfrm>
            <a:off x="0" y="0"/>
            <a:ext cx="12192000" cy="684000"/>
          </a:xfrm>
          <a:prstGeom prst="rect">
            <a:avLst/>
          </a:prstGeom>
          <a:solidFill>
            <a:schemeClr val="bg1">
              <a:lumMod val="95000"/>
            </a:schemeClr>
          </a:solidFill>
        </p:spPr>
        <p:txBody>
          <a:bodyPr vert="horz" lIns="91440" tIns="45720" rIns="91440" bIns="45720" rtlCol="0" anchor="ctr">
            <a:normAutofit/>
          </a:bodyPr>
          <a:lstStyle/>
          <a:p>
            <a:r>
              <a:rPr lang="en-US" dirty="0"/>
              <a:t>Click to edit Master title style</a:t>
            </a:r>
            <a:endParaRPr lang="en-CA" dirty="0"/>
          </a:p>
        </p:txBody>
      </p:sp>
    </p:spTree>
    <p:custDataLst>
      <p:tags r:id="rId1"/>
    </p:custDataLst>
    <p:extLst>
      <p:ext uri="{BB962C8B-B14F-4D97-AF65-F5344CB8AC3E}">
        <p14:creationId xmlns:p14="http://schemas.microsoft.com/office/powerpoint/2010/main" val="93781320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reak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35200" y="1752600"/>
            <a:ext cx="7620000" cy="3921919"/>
          </a:xfrm>
          <a:prstGeom prst="rect">
            <a:avLst/>
          </a:prstGeom>
        </p:spPr>
      </p:pic>
      <p:sp>
        <p:nvSpPr>
          <p:cNvPr id="8" name="Text Placeholder 8"/>
          <p:cNvSpPr txBox="1">
            <a:spLocks/>
          </p:cNvSpPr>
          <p:nvPr userDrawn="1"/>
        </p:nvSpPr>
        <p:spPr>
          <a:xfrm>
            <a:off x="304800" y="76200"/>
            <a:ext cx="11582400" cy="609600"/>
          </a:xfrm>
          <a:prstGeom prst="rect">
            <a:avLst/>
          </a:prstGeom>
        </p:spPr>
        <p:txBody>
          <a:bodyPr>
            <a:noAutofit/>
          </a:bodyPr>
          <a:lstStyle>
            <a:lvl1pPr marL="0" indent="0" algn="ctr" defTabSz="914400" rtl="0" eaLnBrk="1" latinLnBrk="0" hangingPunct="1">
              <a:lnSpc>
                <a:spcPct val="80000"/>
              </a:lnSpc>
              <a:spcBef>
                <a:spcPct val="20000"/>
              </a:spcBef>
              <a:buFont typeface="Arial" pitchFamily="34" charset="0"/>
              <a:buNone/>
              <a:defRPr lang="en-US" sz="3700" b="1" kern="1200" baseline="0" dirty="0">
                <a:solidFill>
                  <a:schemeClr val="tx1">
                    <a:lumMod val="50000"/>
                    <a:lumOff val="50000"/>
                  </a:schemeClr>
                </a:solidFill>
                <a:latin typeface="+mj-lt"/>
                <a:ea typeface="+mn-ea"/>
                <a:cs typeface="Verdana"/>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700" dirty="0">
                <a:solidFill>
                  <a:schemeClr val="bg1"/>
                </a:solidFill>
              </a:rPr>
              <a:t>Break</a:t>
            </a:r>
            <a:endParaRPr lang="en-US" sz="3600" dirty="0">
              <a:solidFill>
                <a:schemeClr val="bg1"/>
              </a:solidFill>
            </a:endParaRPr>
          </a:p>
        </p:txBody>
      </p:sp>
    </p:spTree>
    <p:custDataLst>
      <p:tags r:id="rId1"/>
    </p:custDataLst>
    <p:extLst>
      <p:ext uri="{BB962C8B-B14F-4D97-AF65-F5344CB8AC3E}">
        <p14:creationId xmlns:p14="http://schemas.microsoft.com/office/powerpoint/2010/main" val="135347765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F5F5941-A94D-4C48-AE4B-0688A7954B21}" type="datetime1">
              <a:rPr lang="en-US" smtClean="0">
                <a:latin typeface="Arial"/>
              </a:rPr>
              <a:t>10/31/2024</a:t>
            </a:fld>
            <a:endParaRPr lang="en-US">
              <a:latin typeface="Arial"/>
            </a:endParaRPr>
          </a:p>
        </p:txBody>
      </p:sp>
      <p:sp>
        <p:nvSpPr>
          <p:cNvPr id="5" name="Footer Placeholder 4"/>
          <p:cNvSpPr>
            <a:spLocks noGrp="1"/>
          </p:cNvSpPr>
          <p:nvPr>
            <p:ph type="ftr" sz="quarter" idx="11"/>
          </p:nvPr>
        </p:nvSpPr>
        <p:spPr/>
        <p:txBody>
          <a:bodyPr/>
          <a:lstStyle/>
          <a:p>
            <a:r>
              <a:rPr lang="en-US">
                <a:latin typeface="Arial"/>
              </a:rPr>
              <a:t>From Security in Computing, Fifth Edition, </a:t>
            </a:r>
            <a:r>
              <a:rPr lang="en-US" dirty="0">
                <a:latin typeface="Arial"/>
              </a:rPr>
              <a:t>by Charles P. </a:t>
            </a:r>
            <a:r>
              <a:rPr lang="en-US" dirty="0" err="1">
                <a:latin typeface="Arial"/>
              </a:rPr>
              <a:t>Pfleeger</a:t>
            </a:r>
            <a:r>
              <a:rPr lang="en-US" dirty="0">
                <a:latin typeface="Arial"/>
              </a:rPr>
              <a:t>, et al. (ISBN: 9780134085043). Copyright 2015 by Pearson Education, Inc. All rights reserved.</a:t>
            </a:r>
          </a:p>
        </p:txBody>
      </p:sp>
      <p:sp>
        <p:nvSpPr>
          <p:cNvPr id="6" name="Slide Number Placeholder 5"/>
          <p:cNvSpPr>
            <a:spLocks noGrp="1"/>
          </p:cNvSpPr>
          <p:nvPr>
            <p:ph type="sldNum" sz="quarter" idx="12"/>
          </p:nvPr>
        </p:nvSpPr>
        <p:spPr/>
        <p:txBody>
          <a:bodyPr/>
          <a:lstStyle/>
          <a:p>
            <a:fld id="{5BFA158B-7C94-F543-87DB-41F59EA4FAFA}" type="slidenum">
              <a:rPr lang="en-US" smtClean="0">
                <a:latin typeface="Arial"/>
              </a:rPr>
              <a:pPr/>
              <a:t>‹#›</a:t>
            </a:fld>
            <a:endParaRPr lang="en-US">
              <a:latin typeface="Arial"/>
            </a:endParaRPr>
          </a:p>
        </p:txBody>
      </p:sp>
    </p:spTree>
    <p:extLst>
      <p:ext uri="{BB962C8B-B14F-4D97-AF65-F5344CB8AC3E}">
        <p14:creationId xmlns:p14="http://schemas.microsoft.com/office/powerpoint/2010/main" val="1890044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2" name="Title 1"/>
          <p:cNvSpPr txBox="1">
            <a:spLocks/>
          </p:cNvSpPr>
          <p:nvPr userDrawn="1"/>
        </p:nvSpPr>
        <p:spPr>
          <a:xfrm>
            <a:off x="394770" y="936056"/>
            <a:ext cx="11402460" cy="5157240"/>
          </a:xfrm>
          <a:prstGeom prst="rect">
            <a:avLst/>
          </a:prstGeom>
          <a:solidFill>
            <a:schemeClr val="bg1">
              <a:alpha val="84000"/>
            </a:schemeClr>
          </a:solidFill>
          <a:ln w="38100" cmpd="sng">
            <a:noFill/>
            <a:prstDash val="solid"/>
          </a:ln>
        </p:spPr>
        <p:txBody>
          <a:bodyPr vert="horz" lIns="91440" tIns="45720" rIns="91440" bIns="45720" rtlCol="0" anchor="ctr">
            <a:noAutofit/>
          </a:bodyPr>
          <a:lstStyle>
            <a:lvl1pPr algn="ctr" defTabSz="914400" rtl="0" eaLnBrk="1" latinLnBrk="0" hangingPunct="1">
              <a:spcBef>
                <a:spcPct val="0"/>
              </a:spcBef>
              <a:buNone/>
              <a:defRPr sz="4400" kern="1200" baseline="0">
                <a:solidFill>
                  <a:srgbClr val="ED1529"/>
                </a:solidFill>
                <a:effectLst/>
                <a:latin typeface="+mj-lt"/>
                <a:ea typeface="+mj-ea"/>
                <a:cs typeface="+mj-cs"/>
              </a:defRPr>
            </a:lvl1pPr>
          </a:lstStyle>
          <a:p>
            <a:endParaRPr lang="en-CA" sz="1800" b="1" dirty="0"/>
          </a:p>
        </p:txBody>
      </p:sp>
      <p:sp>
        <p:nvSpPr>
          <p:cNvPr id="24" name="Title 1"/>
          <p:cNvSpPr txBox="1">
            <a:spLocks/>
          </p:cNvSpPr>
          <p:nvPr userDrawn="1"/>
        </p:nvSpPr>
        <p:spPr>
          <a:xfrm>
            <a:off x="0" y="6316809"/>
            <a:ext cx="12192000" cy="540000"/>
          </a:xfrm>
          <a:prstGeom prst="rect">
            <a:avLst/>
          </a:prstGeom>
          <a:solidFill>
            <a:srgbClr val="F0F0F0"/>
          </a:solidFill>
          <a:ln w="38100" cmpd="sng">
            <a:noFill/>
            <a:prstDash val="solid"/>
          </a:ln>
        </p:spPr>
        <p:txBody>
          <a:bodyPr vert="horz" lIns="91440" tIns="45720" rIns="91440" bIns="45720" rtlCol="0" anchor="ctr">
            <a:normAutofit fontScale="92500" lnSpcReduction="20000"/>
          </a:bodyPr>
          <a:lstStyle>
            <a:lvl1pPr algn="ctr" defTabSz="914400" rtl="0" eaLnBrk="1" latinLnBrk="0" hangingPunct="1">
              <a:spcBef>
                <a:spcPct val="0"/>
              </a:spcBef>
              <a:buNone/>
              <a:defRPr sz="4400" kern="1200" baseline="0">
                <a:solidFill>
                  <a:srgbClr val="ED1529"/>
                </a:solidFill>
                <a:effectLst/>
                <a:latin typeface="+mj-lt"/>
                <a:ea typeface="+mj-ea"/>
                <a:cs typeface="+mj-cs"/>
              </a:defRPr>
            </a:lvl1pPr>
          </a:lstStyle>
          <a:p>
            <a:endParaRPr lang="en-CA" sz="3600" b="1" dirty="0"/>
          </a:p>
        </p:txBody>
      </p:sp>
      <p:pic>
        <p:nvPicPr>
          <p:cNvPr id="25" name="Picture 24"/>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310164" y="6453336"/>
            <a:ext cx="3298816" cy="306637"/>
          </a:xfrm>
          <a:prstGeom prst="rect">
            <a:avLst/>
          </a:prstGeom>
        </p:spPr>
      </p:pic>
      <p:sp>
        <p:nvSpPr>
          <p:cNvPr id="26" name="Title Placeholder 1"/>
          <p:cNvSpPr>
            <a:spLocks noGrp="1"/>
          </p:cNvSpPr>
          <p:nvPr>
            <p:ph type="title"/>
          </p:nvPr>
        </p:nvSpPr>
        <p:spPr>
          <a:xfrm>
            <a:off x="0" y="0"/>
            <a:ext cx="12192000" cy="684000"/>
          </a:xfrm>
          <a:prstGeom prst="rect">
            <a:avLst/>
          </a:prstGeom>
          <a:solidFill>
            <a:srgbClr val="F0F0F0"/>
          </a:solidFill>
        </p:spPr>
        <p:txBody>
          <a:bodyPr vert="horz" lIns="91440" tIns="45720" rIns="91440" bIns="45720" rtlCol="0" anchor="ctr">
            <a:normAutofit/>
          </a:bodyPr>
          <a:lstStyle/>
          <a:p>
            <a:r>
              <a:rPr lang="en-US" dirty="0"/>
              <a:t>Click to edit Master title style</a:t>
            </a:r>
            <a:endParaRPr lang="en-CA" dirty="0"/>
          </a:p>
        </p:txBody>
      </p:sp>
      <p:sp>
        <p:nvSpPr>
          <p:cNvPr id="27" name="Text Placeholder 2"/>
          <p:cNvSpPr>
            <a:spLocks noGrp="1"/>
          </p:cNvSpPr>
          <p:nvPr>
            <p:ph type="body" idx="1"/>
          </p:nvPr>
        </p:nvSpPr>
        <p:spPr>
          <a:xfrm>
            <a:off x="609600" y="990600"/>
            <a:ext cx="10972800" cy="51355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30" name="TextBox 29"/>
          <p:cNvSpPr txBox="1"/>
          <p:nvPr userDrawn="1"/>
        </p:nvSpPr>
        <p:spPr>
          <a:xfrm>
            <a:off x="11424592" y="6351711"/>
            <a:ext cx="839416" cy="461665"/>
          </a:xfrm>
          <a:prstGeom prst="rect">
            <a:avLst/>
          </a:prstGeom>
          <a:noFill/>
        </p:spPr>
        <p:txBody>
          <a:bodyPr wrap="square" rtlCol="0">
            <a:spAutoFit/>
          </a:bodyPr>
          <a:lstStyle/>
          <a:p>
            <a:pPr marL="0" marR="0" indent="0" algn="l" defTabSz="914400" rtl="0" eaLnBrk="1" fontAlgn="base" latinLnBrk="0" hangingPunct="1">
              <a:lnSpc>
                <a:spcPct val="100000"/>
              </a:lnSpc>
              <a:spcBef>
                <a:spcPct val="0"/>
              </a:spcBef>
              <a:spcAft>
                <a:spcPct val="0"/>
              </a:spcAft>
              <a:buClrTx/>
              <a:buSzTx/>
              <a:buFontTx/>
              <a:buNone/>
              <a:tabLst/>
              <a:defRPr/>
            </a:pPr>
            <a:fld id="{E7FB1D6B-A3F5-4E70-95BC-32D49588B2FD}" type="slidenum">
              <a:rPr lang="en-US" sz="2400" b="1" smtClean="0">
                <a:solidFill>
                  <a:schemeClr val="tx1">
                    <a:lumMod val="50000"/>
                    <a:lumOff val="50000"/>
                  </a:schemeClr>
                </a:solidFill>
                <a:latin typeface="Calibri" pitchFamily="34" charset="0"/>
                <a:cs typeface="Calibri" pitchFamily="34" charset="0"/>
              </a:rPr>
              <a:pPr marL="0" marR="0" indent="0" algn="l" defTabSz="914400" rtl="0" eaLnBrk="1" fontAlgn="base" latinLnBrk="0" hangingPunct="1">
                <a:lnSpc>
                  <a:spcPct val="100000"/>
                </a:lnSpc>
                <a:spcBef>
                  <a:spcPct val="0"/>
                </a:spcBef>
                <a:spcAft>
                  <a:spcPct val="0"/>
                </a:spcAft>
                <a:buClrTx/>
                <a:buSzTx/>
                <a:buFontTx/>
                <a:buNone/>
                <a:tabLst/>
                <a:defRPr/>
              </a:pPr>
              <a:t>‹#›</a:t>
            </a:fld>
            <a:endParaRPr lang="en-US" sz="2400" b="1" dirty="0">
              <a:solidFill>
                <a:schemeClr val="tx1">
                  <a:lumMod val="50000"/>
                  <a:lumOff val="50000"/>
                </a:schemeClr>
              </a:solidFill>
              <a:latin typeface="Calibri" pitchFamily="34" charset="0"/>
              <a:cs typeface="Calibri" pitchFamily="34" charset="0"/>
            </a:endParaRPr>
          </a:p>
        </p:txBody>
      </p:sp>
      <p:cxnSp>
        <p:nvCxnSpPr>
          <p:cNvPr id="31" name="Straight Connector 30"/>
          <p:cNvCxnSpPr/>
          <p:nvPr userDrawn="1"/>
        </p:nvCxnSpPr>
        <p:spPr>
          <a:xfrm>
            <a:off x="11280576" y="6427886"/>
            <a:ext cx="0" cy="317847"/>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custDataLst>
      <p:tags r:id="rId21"/>
    </p:custDataLst>
    <p:extLst>
      <p:ext uri="{BB962C8B-B14F-4D97-AF65-F5344CB8AC3E}">
        <p14:creationId xmlns:p14="http://schemas.microsoft.com/office/powerpoint/2010/main" val="3195656259"/>
      </p:ext>
    </p:extLst>
  </p:cSld>
  <p:clrMap bg1="lt1" tx1="dk1" bg2="lt2" tx2="dk2" accent1="accent1" accent2="accent2" accent3="accent3" accent4="accent4" accent5="accent5" accent6="accent6" hlink="hlink" folHlink="folHlink"/>
  <p:sldLayoutIdLst>
    <p:sldLayoutId id="2147483874" r:id="rId1"/>
    <p:sldLayoutId id="2147483814" r:id="rId2"/>
    <p:sldLayoutId id="2147483857" r:id="rId3"/>
    <p:sldLayoutId id="2147483855" r:id="rId4"/>
    <p:sldLayoutId id="2147483858" r:id="rId5"/>
    <p:sldLayoutId id="2147483856" r:id="rId6"/>
    <p:sldLayoutId id="2147483859" r:id="rId7"/>
    <p:sldLayoutId id="2147483840" r:id="rId8"/>
    <p:sldLayoutId id="2147483815" r:id="rId9"/>
    <p:sldLayoutId id="2147483818" r:id="rId10"/>
    <p:sldLayoutId id="2147483816" r:id="rId11"/>
    <p:sldLayoutId id="2147483876" r:id="rId12"/>
    <p:sldLayoutId id="2147483878" r:id="rId13"/>
    <p:sldLayoutId id="2147483879" r:id="rId14"/>
    <p:sldLayoutId id="2147483880" r:id="rId15"/>
    <p:sldLayoutId id="2147483881" r:id="rId16"/>
    <p:sldLayoutId id="2147483882" r:id="rId17"/>
    <p:sldLayoutId id="2147483883" r:id="rId18"/>
    <p:sldLayoutId id="2147483884" r:id="rId19"/>
  </p:sldLayoutIdLst>
  <p:hf hdr="0" ftr="0" dt="0"/>
  <p:txStyles>
    <p:titleStyle>
      <a:lvl1pPr algn="ctr" defTabSz="914400" rtl="0" eaLnBrk="1" latinLnBrk="0" hangingPunct="1">
        <a:spcBef>
          <a:spcPct val="0"/>
        </a:spcBef>
        <a:buNone/>
        <a:defRPr sz="3600" b="1" kern="1200">
          <a:solidFill>
            <a:schemeClr val="tx1">
              <a:lumMod val="85000"/>
              <a:lumOff val="15000"/>
            </a:schemeClr>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9.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9.xml"/></Relationships>
</file>

<file path=ppt/slides/_rels/slide4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9.xml"/></Relationships>
</file>

<file path=ppt/slides/_rels/slide5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5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9.xml"/></Relationships>
</file>

<file path=ppt/slides/_rels/slide5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9.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5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6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1.xml"/><Relationship Id="rId4" Type="http://schemas.openxmlformats.org/officeDocument/2006/relationships/image" Target="../media/image29.png"/></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11.xml"/><Relationship Id="rId4" Type="http://schemas.openxmlformats.org/officeDocument/2006/relationships/image" Target="../media/image28.png"/></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9.png"/><Relationship Id="rId1" Type="http://schemas.openxmlformats.org/officeDocument/2006/relationships/slideLayout" Target="../slideLayouts/slideLayout11.xml"/><Relationship Id="rId4" Type="http://schemas.openxmlformats.org/officeDocument/2006/relationships/image" Target="../media/image28.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Information System Security</a:t>
            </a:r>
            <a:br>
              <a:rPr lang="en-US" dirty="0"/>
            </a:br>
            <a:r>
              <a:rPr lang="en-US" dirty="0"/>
              <a:t>CMIS 422</a:t>
            </a:r>
            <a:br>
              <a:rPr lang="en-US" dirty="0"/>
            </a:br>
            <a:r>
              <a:rPr lang="en-CA" dirty="0"/>
              <a:t>Strategic network defenses </a:t>
            </a:r>
            <a:br>
              <a:rPr lang="en-US" dirty="0"/>
            </a:br>
            <a:r>
              <a:rPr lang="en-US" dirty="0"/>
              <a:t>Module 8</a:t>
            </a:r>
            <a:br>
              <a:rPr lang="en-US" dirty="0"/>
            </a:br>
            <a:br>
              <a:rPr lang="en-US" dirty="0"/>
            </a:br>
            <a:br>
              <a:rPr lang="en-US" sz="3100" dirty="0"/>
            </a:br>
            <a:r>
              <a:rPr lang="en-US" sz="3100" dirty="0"/>
              <a:t>Mona Taghavi</a:t>
            </a:r>
            <a:endParaRPr lang="en-CA" dirty="0"/>
          </a:p>
        </p:txBody>
      </p:sp>
    </p:spTree>
    <p:custDataLst>
      <p:tags r:id="rId1"/>
    </p:custDataLst>
    <p:extLst>
      <p:ext uri="{BB962C8B-B14F-4D97-AF65-F5344CB8AC3E}">
        <p14:creationId xmlns:p14="http://schemas.microsoft.com/office/powerpoint/2010/main" val="20867462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371600"/>
            <a:ext cx="10972800" cy="3962400"/>
          </a:xfrm>
        </p:spPr>
        <p:txBody>
          <a:bodyPr>
            <a:normAutofit/>
          </a:bodyPr>
          <a:lstStyle/>
          <a:p>
            <a:endParaRPr lang="en-US" sz="1000" dirty="0"/>
          </a:p>
          <a:p>
            <a:r>
              <a:rPr lang="en-US" dirty="0"/>
              <a:t>Network encryption concepts and tools</a:t>
            </a:r>
          </a:p>
          <a:p>
            <a:r>
              <a:rPr lang="en-US" dirty="0"/>
              <a:t>SSL and TSL</a:t>
            </a:r>
          </a:p>
          <a:p>
            <a:r>
              <a:rPr lang="en-US" dirty="0"/>
              <a:t>Types of firewalls and what they do</a:t>
            </a:r>
          </a:p>
          <a:p>
            <a:endParaRPr lang="en-US" sz="1000" dirty="0"/>
          </a:p>
          <a:p>
            <a:r>
              <a:rPr lang="en-US" dirty="0"/>
              <a:t>Intrusion detection and prevention systems</a:t>
            </a:r>
          </a:p>
          <a:p>
            <a:endParaRPr lang="en-US" sz="1000" dirty="0"/>
          </a:p>
          <a:p>
            <a:r>
              <a:rPr lang="en-US" dirty="0"/>
              <a:t>Denial-of-service attacks</a:t>
            </a:r>
          </a:p>
          <a:p>
            <a:endParaRPr lang="en-US" sz="1000" dirty="0"/>
          </a:p>
        </p:txBody>
      </p:sp>
      <p:sp>
        <p:nvSpPr>
          <p:cNvPr id="2" name="Title 1"/>
          <p:cNvSpPr>
            <a:spLocks noGrp="1"/>
          </p:cNvSpPr>
          <p:nvPr>
            <p:ph type="title"/>
          </p:nvPr>
        </p:nvSpPr>
        <p:spPr/>
        <p:txBody>
          <a:bodyPr/>
          <a:lstStyle/>
          <a:p>
            <a:r>
              <a:rPr lang="en-US" dirty="0"/>
              <a:t>Session Overview</a:t>
            </a:r>
          </a:p>
        </p:txBody>
      </p:sp>
    </p:spTree>
    <p:extLst>
      <p:ext uri="{BB962C8B-B14F-4D97-AF65-F5344CB8AC3E}">
        <p14:creationId xmlns:p14="http://schemas.microsoft.com/office/powerpoint/2010/main" val="4225582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Strategic Defenses: Security Countermeasures</a:t>
            </a:r>
          </a:p>
        </p:txBody>
      </p:sp>
      <p:sp>
        <p:nvSpPr>
          <p:cNvPr id="3" name="Content Placeholder 2"/>
          <p:cNvSpPr>
            <a:spLocks noGrp="1"/>
          </p:cNvSpPr>
          <p:nvPr>
            <p:ph idx="1"/>
          </p:nvPr>
        </p:nvSpPr>
        <p:spPr/>
        <p:txBody>
          <a:bodyPr>
            <a:normAutofit lnSpcReduction="10000"/>
          </a:bodyPr>
          <a:lstStyle/>
          <a:p>
            <a:r>
              <a:rPr lang="en-US" dirty="0"/>
              <a:t>Encryption is a strong tool for preserving both confidentiality and integrity in networks. </a:t>
            </a:r>
          </a:p>
          <a:p>
            <a:pPr lvl="1"/>
            <a:r>
              <a:rPr lang="en-US" dirty="0"/>
              <a:t>two specific applications of cryptography to networking: </a:t>
            </a:r>
          </a:p>
          <a:p>
            <a:pPr lvl="2"/>
            <a:r>
              <a:rPr lang="en-US" dirty="0"/>
              <a:t>encrypted communication between a browser and its websites, called SSL/TLS encryption</a:t>
            </a:r>
          </a:p>
          <a:p>
            <a:pPr lvl="2"/>
            <a:r>
              <a:rPr lang="en-US" dirty="0"/>
              <a:t>encrypted links within a network, called a virtual private network or VPN. </a:t>
            </a:r>
          </a:p>
          <a:p>
            <a:r>
              <a:rPr lang="en-US" dirty="0"/>
              <a:t>Firewall is a network-protection tool which is really just an instantiation of the familiar reference monitor. </a:t>
            </a:r>
          </a:p>
          <a:p>
            <a:r>
              <a:rPr lang="en-US" dirty="0"/>
              <a:t>An intrusion detection or protection system monitors network traffic to identify and counter specific malicious network threats, such as DoS and DDoS.</a:t>
            </a:r>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3</a:t>
            </a:fld>
            <a:endParaRPr lang="en-US">
              <a:latin typeface="Arial"/>
            </a:endParaRPr>
          </a:p>
        </p:txBody>
      </p:sp>
    </p:spTree>
    <p:extLst>
      <p:ext uri="{BB962C8B-B14F-4D97-AF65-F5344CB8AC3E}">
        <p14:creationId xmlns:p14="http://schemas.microsoft.com/office/powerpoint/2010/main" val="1166030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and Browser Encryption</a:t>
            </a:r>
          </a:p>
        </p:txBody>
      </p:sp>
      <p:sp>
        <p:nvSpPr>
          <p:cNvPr id="3" name="Content Placeholder 2"/>
          <p:cNvSpPr>
            <a:spLocks noGrp="1"/>
          </p:cNvSpPr>
          <p:nvPr>
            <p:ph idx="1"/>
          </p:nvPr>
        </p:nvSpPr>
        <p:spPr>
          <a:xfrm>
            <a:off x="609600" y="1447800"/>
            <a:ext cx="10972800" cy="5135563"/>
          </a:xfrm>
        </p:spPr>
        <p:txBody>
          <a:bodyPr>
            <a:normAutofit/>
          </a:bodyPr>
          <a:lstStyle/>
          <a:p>
            <a:r>
              <a:rPr lang="en-US" dirty="0"/>
              <a:t>Encryption protects only what is encrypted</a:t>
            </a:r>
          </a:p>
          <a:p>
            <a:pPr marL="914400" lvl="2" indent="0">
              <a:buNone/>
            </a:pPr>
            <a:endParaRPr lang="en-US" sz="2800" dirty="0"/>
          </a:p>
          <a:p>
            <a:r>
              <a:rPr lang="en-US" dirty="0"/>
              <a:t>Encryption is no more secure than its key management. </a:t>
            </a:r>
          </a:p>
          <a:p>
            <a:pPr marL="457200" lvl="1" indent="0">
              <a:buNone/>
            </a:pPr>
            <a:endParaRPr lang="en-US" dirty="0"/>
          </a:p>
          <a:p>
            <a:r>
              <a:rPr lang="en-US" dirty="0"/>
              <a:t>Encryption is not a silver bullet. </a:t>
            </a:r>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4</a:t>
            </a:fld>
            <a:endParaRPr lang="en-US">
              <a:latin typeface="Arial"/>
            </a:endParaRPr>
          </a:p>
        </p:txBody>
      </p:sp>
    </p:spTree>
    <p:extLst>
      <p:ext uri="{BB962C8B-B14F-4D97-AF65-F5344CB8AC3E}">
        <p14:creationId xmlns:p14="http://schemas.microsoft.com/office/powerpoint/2010/main" val="36508623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Modes of Network Encryption</a:t>
            </a:r>
          </a:p>
        </p:txBody>
      </p:sp>
      <p:sp>
        <p:nvSpPr>
          <p:cNvPr id="3" name="Content Placeholder 2"/>
          <p:cNvSpPr>
            <a:spLocks noGrp="1"/>
          </p:cNvSpPr>
          <p:nvPr>
            <p:ph idx="1"/>
          </p:nvPr>
        </p:nvSpPr>
        <p:spPr/>
        <p:txBody>
          <a:bodyPr/>
          <a:lstStyle/>
          <a:p>
            <a:endParaRPr lang="en-US" dirty="0"/>
          </a:p>
          <a:p>
            <a:r>
              <a:rPr lang="en-US" dirty="0"/>
              <a:t>Encryption can be employed in a network through two general modes: link and end-to-end.</a:t>
            </a:r>
          </a:p>
          <a:p>
            <a:endParaRPr lang="en-US" dirty="0"/>
          </a:p>
          <a:p>
            <a:r>
              <a:rPr lang="en-US" dirty="0"/>
              <a:t>We start with basic discussion of link encryption and end-to-end encryption, and then go into various tools that are commonly used for implementing network encryption.</a:t>
            </a:r>
          </a:p>
          <a:p>
            <a:endParaRPr lang="en-US" dirty="0"/>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5</a:t>
            </a:fld>
            <a:endParaRPr lang="en-US">
              <a:latin typeface="Arial"/>
            </a:endParaRPr>
          </a:p>
        </p:txBody>
      </p:sp>
    </p:spTree>
    <p:extLst>
      <p:ext uri="{BB962C8B-B14F-4D97-AF65-F5344CB8AC3E}">
        <p14:creationId xmlns:p14="http://schemas.microsoft.com/office/powerpoint/2010/main" val="3992522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Link Encryption</a:t>
            </a:r>
          </a:p>
        </p:txBody>
      </p:sp>
      <p:pic>
        <p:nvPicPr>
          <p:cNvPr id="4" name="Content Placeholder 3">
            <a:extLst>
              <a:ext uri="{FF2B5EF4-FFF2-40B4-BE49-F238E27FC236}">
                <a16:creationId xmlns:a16="http://schemas.microsoft.com/office/drawing/2014/main" id="{D4E30263-6885-42C0-8B32-21AF4D6051BB}"/>
              </a:ext>
            </a:extLst>
          </p:cNvPr>
          <p:cNvPicPr>
            <a:picLocks noGrp="1" noChangeAspect="1"/>
          </p:cNvPicPr>
          <p:nvPr>
            <p:ph idx="1"/>
          </p:nvPr>
        </p:nvPicPr>
        <p:blipFill>
          <a:blip r:embed="rId3"/>
          <a:stretch>
            <a:fillRect/>
          </a:stretch>
        </p:blipFill>
        <p:spPr>
          <a:xfrm>
            <a:off x="2752403" y="990600"/>
            <a:ext cx="6687194" cy="5135563"/>
          </a:xfrm>
          <a:prstGeom prst="rect">
            <a:avLst/>
          </a:prstGeom>
        </p:spPr>
      </p:pic>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6</a:t>
            </a:fld>
            <a:endParaRPr lang="en-US">
              <a:latin typeface="Arial"/>
            </a:endParaRPr>
          </a:p>
        </p:txBody>
      </p:sp>
    </p:spTree>
    <p:extLst>
      <p:ext uri="{BB962C8B-B14F-4D97-AF65-F5344CB8AC3E}">
        <p14:creationId xmlns:p14="http://schemas.microsoft.com/office/powerpoint/2010/main" val="3010903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End-to-End Encryption</a:t>
            </a:r>
          </a:p>
        </p:txBody>
      </p:sp>
      <p:sp>
        <p:nvSpPr>
          <p:cNvPr id="5" name="Slide Number Placeholder 4"/>
          <p:cNvSpPr>
            <a:spLocks noGrp="1"/>
          </p:cNvSpPr>
          <p:nvPr>
            <p:ph type="sldNum" sz="quarter" idx="12"/>
          </p:nvPr>
        </p:nvSpPr>
        <p:spPr/>
        <p:txBody>
          <a:bodyPr/>
          <a:lstStyle/>
          <a:p>
            <a:fld id="{5BFA158B-7C94-F543-87DB-41F59EA4FAFA}" type="slidenum">
              <a:rPr lang="en-US" smtClean="0">
                <a:latin typeface="Arial"/>
              </a:rPr>
              <a:pPr/>
              <a:t>7</a:t>
            </a:fld>
            <a:endParaRPr lang="en-US">
              <a:latin typeface="Arial"/>
            </a:endParaRPr>
          </a:p>
        </p:txBody>
      </p:sp>
      <p:pic>
        <p:nvPicPr>
          <p:cNvPr id="7" name="Content Placeholder 6">
            <a:extLst>
              <a:ext uri="{FF2B5EF4-FFF2-40B4-BE49-F238E27FC236}">
                <a16:creationId xmlns:a16="http://schemas.microsoft.com/office/drawing/2014/main" id="{AD4997C6-6898-43D5-8762-C8EE5854D7E5}"/>
              </a:ext>
            </a:extLst>
          </p:cNvPr>
          <p:cNvPicPr>
            <a:picLocks noGrp="1" noChangeAspect="1"/>
          </p:cNvPicPr>
          <p:nvPr>
            <p:ph idx="1"/>
          </p:nvPr>
        </p:nvPicPr>
        <p:blipFill>
          <a:blip r:embed="rId3"/>
          <a:stretch>
            <a:fillRect/>
          </a:stretch>
        </p:blipFill>
        <p:spPr>
          <a:xfrm>
            <a:off x="2611450" y="990600"/>
            <a:ext cx="6969100" cy="5135563"/>
          </a:xfrm>
          <a:prstGeom prst="rect">
            <a:avLst/>
          </a:prstGeom>
        </p:spPr>
      </p:pic>
    </p:spTree>
    <p:extLst>
      <p:ext uri="{BB962C8B-B14F-4D97-AF65-F5344CB8AC3E}">
        <p14:creationId xmlns:p14="http://schemas.microsoft.com/office/powerpoint/2010/main" val="32208065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Onion Routing</a:t>
            </a:r>
          </a:p>
        </p:txBody>
      </p:sp>
      <p:sp>
        <p:nvSpPr>
          <p:cNvPr id="3" name="Content Placeholder 2"/>
          <p:cNvSpPr>
            <a:spLocks noGrp="1"/>
          </p:cNvSpPr>
          <p:nvPr>
            <p:ph idx="1"/>
          </p:nvPr>
        </p:nvSpPr>
        <p:spPr>
          <a:xfrm>
            <a:off x="609600" y="914400"/>
            <a:ext cx="10972800" cy="5135563"/>
          </a:xfrm>
        </p:spPr>
        <p:txBody>
          <a:bodyPr>
            <a:normAutofit lnSpcReduction="10000"/>
          </a:bodyPr>
          <a:lstStyle/>
          <a:p>
            <a:r>
              <a:rPr lang="en-US" dirty="0">
                <a:latin typeface="Arial" charset="0"/>
              </a:rPr>
              <a:t>As we described both link and end-to-end encryption, the data portion of the communication was secured for confidentiality. However, the addressing data were exposed. Thus, someone monitoring traffic between points A and B would know the volume of traffic communicated.</a:t>
            </a:r>
            <a:endParaRPr lang="en-US" dirty="0"/>
          </a:p>
          <a:p>
            <a:r>
              <a:rPr lang="en-US" dirty="0"/>
              <a:t>Onion routing prevents an eavesdropper from learning source, destination, or content of data in transit in a network</a:t>
            </a:r>
          </a:p>
          <a:p>
            <a:r>
              <a:rPr lang="en-US" dirty="0"/>
              <a:t>This is particularly helpful for evading authorities, such as when users in oppressive countries want to communicate freely with the outside world</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8</a:t>
            </a:fld>
            <a:endParaRPr lang="en-US">
              <a:latin typeface="Arial"/>
            </a:endParaRPr>
          </a:p>
        </p:txBody>
      </p:sp>
    </p:spTree>
    <p:extLst>
      <p:ext uri="{BB962C8B-B14F-4D97-AF65-F5344CB8AC3E}">
        <p14:creationId xmlns:p14="http://schemas.microsoft.com/office/powerpoint/2010/main" val="304383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Onion Routing</a:t>
            </a:r>
          </a:p>
        </p:txBody>
      </p:sp>
      <p:sp>
        <p:nvSpPr>
          <p:cNvPr id="3" name="Content Placeholder 2"/>
          <p:cNvSpPr>
            <a:spLocks noGrp="1"/>
          </p:cNvSpPr>
          <p:nvPr>
            <p:ph idx="1"/>
          </p:nvPr>
        </p:nvSpPr>
        <p:spPr>
          <a:xfrm>
            <a:off x="609600" y="1752600"/>
            <a:ext cx="10972800" cy="3352800"/>
          </a:xfrm>
        </p:spPr>
        <p:txBody>
          <a:bodyPr>
            <a:normAutofit/>
          </a:bodyPr>
          <a:lstStyle/>
          <a:p>
            <a:r>
              <a:rPr lang="en-US" dirty="0"/>
              <a:t>Uses asymmetric cryptography, as well as layers of intermediate hosts, so that</a:t>
            </a:r>
          </a:p>
          <a:p>
            <a:endParaRPr lang="en-US" sz="1000" dirty="0"/>
          </a:p>
          <a:p>
            <a:pPr lvl="1">
              <a:buClr>
                <a:srgbClr val="ED1B2F"/>
              </a:buClr>
              <a:buFont typeface="Arial" panose="020B0604020202020204" pitchFamily="34" charset="0"/>
              <a:buChar char="•"/>
            </a:pPr>
            <a:r>
              <a:rPr lang="en-US" dirty="0"/>
              <a:t>The intermediate host that sends the message to the ultimate destination cannot determine the original sender, and</a:t>
            </a:r>
          </a:p>
          <a:p>
            <a:pPr lvl="1">
              <a:buClr>
                <a:srgbClr val="ED1B2F"/>
              </a:buClr>
              <a:buFont typeface="Arial" panose="020B0604020202020204" pitchFamily="34" charset="0"/>
              <a:buChar char="•"/>
            </a:pPr>
            <a:r>
              <a:rPr lang="en-US" dirty="0"/>
              <a:t>The host that received the message from the original sender cannot determine the ultimate destination</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9</a:t>
            </a:fld>
            <a:endParaRPr lang="en-US">
              <a:latin typeface="Arial"/>
            </a:endParaRPr>
          </a:p>
        </p:txBody>
      </p:sp>
    </p:spTree>
    <p:extLst>
      <p:ext uri="{BB962C8B-B14F-4D97-AF65-F5344CB8AC3E}">
        <p14:creationId xmlns:p14="http://schemas.microsoft.com/office/powerpoint/2010/main" val="686067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1113A-8244-42BC-A630-5A106EBBAF23}"/>
              </a:ext>
            </a:extLst>
          </p:cNvPr>
          <p:cNvSpPr>
            <a:spLocks noGrp="1"/>
          </p:cNvSpPr>
          <p:nvPr>
            <p:ph type="title"/>
          </p:nvPr>
        </p:nvSpPr>
        <p:spPr/>
        <p:txBody>
          <a:bodyPr/>
          <a:lstStyle/>
          <a:p>
            <a:r>
              <a:rPr lang="hu-HU" dirty="0"/>
              <a:t>HTTP and TLS Protocols</a:t>
            </a:r>
            <a:endParaRPr lang="en-GB" dirty="0"/>
          </a:p>
        </p:txBody>
      </p:sp>
      <p:pic>
        <p:nvPicPr>
          <p:cNvPr id="10" name="Picture 9">
            <a:extLst>
              <a:ext uri="{FF2B5EF4-FFF2-40B4-BE49-F238E27FC236}">
                <a16:creationId xmlns:a16="http://schemas.microsoft.com/office/drawing/2014/main" id="{4EF8B633-C1F8-4B8F-80C7-8F989A5046B4}"/>
              </a:ext>
            </a:extLst>
          </p:cNvPr>
          <p:cNvPicPr>
            <a:picLocks noChangeAspect="1"/>
          </p:cNvPicPr>
          <p:nvPr/>
        </p:nvPicPr>
        <p:blipFill>
          <a:blip r:embed="rId2"/>
          <a:stretch>
            <a:fillRect/>
          </a:stretch>
        </p:blipFill>
        <p:spPr>
          <a:xfrm>
            <a:off x="3201169" y="2736862"/>
            <a:ext cx="1681868" cy="1681868"/>
          </a:xfrm>
          <a:prstGeom prst="rect">
            <a:avLst/>
          </a:prstGeom>
        </p:spPr>
      </p:pic>
      <p:sp>
        <p:nvSpPr>
          <p:cNvPr id="17" name="TextBox 16">
            <a:extLst>
              <a:ext uri="{FF2B5EF4-FFF2-40B4-BE49-F238E27FC236}">
                <a16:creationId xmlns:a16="http://schemas.microsoft.com/office/drawing/2014/main" id="{0FE21783-D581-485A-9A02-2790697CB10A}"/>
              </a:ext>
            </a:extLst>
          </p:cNvPr>
          <p:cNvSpPr txBox="1"/>
          <p:nvPr/>
        </p:nvSpPr>
        <p:spPr>
          <a:xfrm>
            <a:off x="6096000" y="4676758"/>
            <a:ext cx="4883966" cy="646331"/>
          </a:xfrm>
          <a:prstGeom prst="rect">
            <a:avLst/>
          </a:prstGeom>
          <a:noFill/>
        </p:spPr>
        <p:txBody>
          <a:bodyPr wrap="none" rtlCol="0">
            <a:spAutoFit/>
          </a:bodyPr>
          <a:lstStyle/>
          <a:p>
            <a:pPr algn="ctr"/>
            <a:r>
              <a:rPr lang="hu-HU" i="1" dirty="0">
                <a:solidFill>
                  <a:schemeClr val="tx1">
                    <a:lumMod val="65000"/>
                    <a:lumOff val="35000"/>
                  </a:schemeClr>
                </a:solidFill>
              </a:rPr>
              <a:t>every single website is stored on a so-called </a:t>
            </a:r>
            <a:r>
              <a:rPr lang="hu-HU" b="1" i="1" dirty="0">
                <a:solidFill>
                  <a:schemeClr val="tx1">
                    <a:lumMod val="65000"/>
                    <a:lumOff val="35000"/>
                  </a:schemeClr>
                </a:solidFill>
              </a:rPr>
              <a:t>server</a:t>
            </a:r>
          </a:p>
          <a:p>
            <a:pPr algn="ctr"/>
            <a:r>
              <a:rPr lang="hu-HU" i="1" dirty="0">
                <a:solidFill>
                  <a:schemeClr val="tx1">
                    <a:lumMod val="65000"/>
                    <a:lumOff val="35000"/>
                  </a:schemeClr>
                </a:solidFill>
              </a:rPr>
              <a:t>(images, texts and all the data)</a:t>
            </a:r>
          </a:p>
        </p:txBody>
      </p:sp>
      <p:sp>
        <p:nvSpPr>
          <p:cNvPr id="18" name="TextBox 17">
            <a:extLst>
              <a:ext uri="{FF2B5EF4-FFF2-40B4-BE49-F238E27FC236}">
                <a16:creationId xmlns:a16="http://schemas.microsoft.com/office/drawing/2014/main" id="{38839EE5-E1AF-4289-81A8-BD0B762E6919}"/>
              </a:ext>
            </a:extLst>
          </p:cNvPr>
          <p:cNvSpPr txBox="1"/>
          <p:nvPr/>
        </p:nvSpPr>
        <p:spPr>
          <a:xfrm>
            <a:off x="2178828" y="2180623"/>
            <a:ext cx="4069896" cy="646331"/>
          </a:xfrm>
          <a:prstGeom prst="rect">
            <a:avLst/>
          </a:prstGeom>
          <a:noFill/>
        </p:spPr>
        <p:txBody>
          <a:bodyPr wrap="none" rtlCol="0">
            <a:spAutoFit/>
          </a:bodyPr>
          <a:lstStyle/>
          <a:p>
            <a:pPr algn="ctr"/>
            <a:r>
              <a:rPr lang="hu-HU" i="1" dirty="0">
                <a:solidFill>
                  <a:schemeClr val="tx1">
                    <a:lumMod val="65000"/>
                    <a:lumOff val="35000"/>
                  </a:schemeClr>
                </a:solidFill>
              </a:rPr>
              <a:t>if the </a:t>
            </a:r>
            <a:r>
              <a:rPr lang="hu-HU" b="1" i="1" dirty="0">
                <a:solidFill>
                  <a:schemeClr val="tx1">
                    <a:lumMod val="65000"/>
                    <a:lumOff val="35000"/>
                  </a:schemeClr>
                </a:solidFill>
              </a:rPr>
              <a:t>client visits a website </a:t>
            </a:r>
            <a:r>
              <a:rPr lang="hu-HU" i="1" dirty="0">
                <a:solidFill>
                  <a:schemeClr val="tx1">
                    <a:lumMod val="65000"/>
                    <a:lumOff val="35000"/>
                  </a:schemeClr>
                </a:solidFill>
              </a:rPr>
              <a:t>then the data</a:t>
            </a:r>
          </a:p>
          <a:p>
            <a:pPr algn="ctr"/>
            <a:r>
              <a:rPr lang="hu-HU" i="1" dirty="0">
                <a:solidFill>
                  <a:schemeClr val="tx1">
                    <a:lumMod val="65000"/>
                    <a:lumOff val="35000"/>
                  </a:schemeClr>
                </a:solidFill>
              </a:rPr>
              <a:t>will be fetched from the server with</a:t>
            </a:r>
            <a:endParaRPr lang="en-GB" i="1" dirty="0">
              <a:solidFill>
                <a:schemeClr val="tx1">
                  <a:lumMod val="65000"/>
                  <a:lumOff val="35000"/>
                </a:schemeClr>
              </a:solidFill>
            </a:endParaRPr>
          </a:p>
        </p:txBody>
      </p:sp>
      <p:pic>
        <p:nvPicPr>
          <p:cNvPr id="4" name="Picture 3">
            <a:extLst>
              <a:ext uri="{FF2B5EF4-FFF2-40B4-BE49-F238E27FC236}">
                <a16:creationId xmlns:a16="http://schemas.microsoft.com/office/drawing/2014/main" id="{1ACFF24C-6565-4971-AE8D-63021C817915}"/>
              </a:ext>
            </a:extLst>
          </p:cNvPr>
          <p:cNvPicPr>
            <a:picLocks noChangeAspect="1"/>
          </p:cNvPicPr>
          <p:nvPr/>
        </p:nvPicPr>
        <p:blipFill>
          <a:blip r:embed="rId3"/>
          <a:stretch>
            <a:fillRect/>
          </a:stretch>
        </p:blipFill>
        <p:spPr>
          <a:xfrm>
            <a:off x="7102132" y="2720725"/>
            <a:ext cx="1888700" cy="1714144"/>
          </a:xfrm>
          <a:prstGeom prst="rect">
            <a:avLst/>
          </a:prstGeom>
        </p:spPr>
      </p:pic>
      <p:cxnSp>
        <p:nvCxnSpPr>
          <p:cNvPr id="6" name="Straight Connector 5">
            <a:extLst>
              <a:ext uri="{FF2B5EF4-FFF2-40B4-BE49-F238E27FC236}">
                <a16:creationId xmlns:a16="http://schemas.microsoft.com/office/drawing/2014/main" id="{BF15DF0E-2127-4D7A-ABB9-0FEBD349D7F9}"/>
              </a:ext>
            </a:extLst>
          </p:cNvPr>
          <p:cNvCxnSpPr>
            <a:cxnSpLocks/>
          </p:cNvCxnSpPr>
          <p:nvPr/>
        </p:nvCxnSpPr>
        <p:spPr>
          <a:xfrm>
            <a:off x="5134625" y="3581777"/>
            <a:ext cx="1882801" cy="1"/>
          </a:xfrm>
          <a:prstGeom prst="line">
            <a:avLst/>
          </a:prstGeom>
          <a:ln w="38100" cap="flat" cmpd="sng" algn="ctr">
            <a:solidFill>
              <a:schemeClr val="accent1">
                <a:lumMod val="60000"/>
                <a:lumOff val="40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13" name="TextBox 12">
            <a:extLst>
              <a:ext uri="{FF2B5EF4-FFF2-40B4-BE49-F238E27FC236}">
                <a16:creationId xmlns:a16="http://schemas.microsoft.com/office/drawing/2014/main" id="{7BF85B61-3E31-4DB5-AFDD-7AA76C6AA50D}"/>
              </a:ext>
            </a:extLst>
          </p:cNvPr>
          <p:cNvSpPr txBox="1"/>
          <p:nvPr/>
        </p:nvSpPr>
        <p:spPr>
          <a:xfrm>
            <a:off x="638929" y="4711888"/>
            <a:ext cx="5124480" cy="923330"/>
          </a:xfrm>
          <a:prstGeom prst="rect">
            <a:avLst/>
          </a:prstGeom>
          <a:noFill/>
        </p:spPr>
        <p:txBody>
          <a:bodyPr wrap="none" rtlCol="0">
            <a:spAutoFit/>
          </a:bodyPr>
          <a:lstStyle/>
          <a:p>
            <a:pPr algn="ctr"/>
            <a:r>
              <a:rPr lang="hu-HU" b="1" i="1" dirty="0">
                <a:solidFill>
                  <a:schemeClr val="tx1">
                    <a:lumMod val="65000"/>
                    <a:lumOff val="35000"/>
                  </a:schemeClr>
                </a:solidFill>
              </a:rPr>
              <a:t>Hypertext Trasfer Protocol (HTTP)</a:t>
            </a:r>
            <a:r>
              <a:rPr lang="hu-HU" i="1" dirty="0">
                <a:solidFill>
                  <a:schemeClr val="tx1">
                    <a:lumMod val="65000"/>
                    <a:lumOff val="35000"/>
                  </a:schemeClr>
                </a:solidFill>
              </a:rPr>
              <a:t> is used for</a:t>
            </a:r>
          </a:p>
          <a:p>
            <a:pPr algn="ctr"/>
            <a:r>
              <a:rPr lang="hu-HU" i="1" dirty="0">
                <a:solidFill>
                  <a:schemeClr val="tx1">
                    <a:lumMod val="65000"/>
                    <a:lumOff val="35000"/>
                  </a:schemeClr>
                </a:solidFill>
              </a:rPr>
              <a:t>viewing web pages. It is a </a:t>
            </a:r>
            <a:r>
              <a:rPr lang="hu-HU" b="1" i="1" dirty="0">
                <a:solidFill>
                  <a:schemeClr val="tx1">
                    <a:lumMod val="65000"/>
                    <a:lumOff val="35000"/>
                  </a:schemeClr>
                </a:solidFill>
              </a:rPr>
              <a:t>request-response protocol</a:t>
            </a:r>
          </a:p>
          <a:p>
            <a:pPr algn="ctr"/>
            <a:r>
              <a:rPr lang="hu-HU" i="1" dirty="0">
                <a:solidFill>
                  <a:schemeClr val="tx1">
                    <a:lumMod val="65000"/>
                    <a:lumOff val="35000"/>
                  </a:schemeClr>
                </a:solidFill>
              </a:rPr>
              <a:t>in the client-server computing model </a:t>
            </a:r>
            <a:endParaRPr lang="en-GB" i="1" dirty="0">
              <a:solidFill>
                <a:schemeClr val="tx1">
                  <a:lumMod val="65000"/>
                  <a:lumOff val="35000"/>
                </a:schemeClr>
              </a:solidFill>
            </a:endParaRPr>
          </a:p>
        </p:txBody>
      </p:sp>
    </p:spTree>
    <p:extLst>
      <p:ext uri="{BB962C8B-B14F-4D97-AF65-F5344CB8AC3E}">
        <p14:creationId xmlns:p14="http://schemas.microsoft.com/office/powerpoint/2010/main" val="2146699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1113A-8244-42BC-A630-5A106EBBAF23}"/>
              </a:ext>
            </a:extLst>
          </p:cNvPr>
          <p:cNvSpPr>
            <a:spLocks noGrp="1"/>
          </p:cNvSpPr>
          <p:nvPr>
            <p:ph type="title"/>
          </p:nvPr>
        </p:nvSpPr>
        <p:spPr/>
        <p:txBody>
          <a:bodyPr/>
          <a:lstStyle/>
          <a:p>
            <a:r>
              <a:rPr lang="hu-HU" dirty="0"/>
              <a:t>HTTP and TLS Protocols</a:t>
            </a:r>
            <a:endParaRPr lang="en-GB" dirty="0"/>
          </a:p>
        </p:txBody>
      </p:sp>
      <p:sp>
        <p:nvSpPr>
          <p:cNvPr id="9" name="Content Placeholder 2">
            <a:extLst>
              <a:ext uri="{FF2B5EF4-FFF2-40B4-BE49-F238E27FC236}">
                <a16:creationId xmlns:a16="http://schemas.microsoft.com/office/drawing/2014/main" id="{D4AFB5DB-4268-4C51-96B7-675EED4CE877}"/>
              </a:ext>
            </a:extLst>
          </p:cNvPr>
          <p:cNvSpPr>
            <a:spLocks noGrp="1"/>
          </p:cNvSpPr>
          <p:nvPr>
            <p:ph idx="1"/>
          </p:nvPr>
        </p:nvSpPr>
        <p:spPr>
          <a:xfrm>
            <a:off x="1654629" y="1854926"/>
            <a:ext cx="8778239" cy="4362993"/>
          </a:xfrm>
        </p:spPr>
        <p:txBody>
          <a:bodyPr>
            <a:normAutofit fontScale="92500"/>
          </a:bodyPr>
          <a:lstStyle/>
          <a:p>
            <a:r>
              <a:rPr lang="en-US" dirty="0"/>
              <a:t>T</a:t>
            </a:r>
            <a:r>
              <a:rPr lang="hu-HU" dirty="0"/>
              <a:t>he problem with standard </a:t>
            </a:r>
            <a:r>
              <a:rPr lang="hu-HU" b="1" dirty="0"/>
              <a:t>HTTP</a:t>
            </a:r>
            <a:r>
              <a:rPr lang="hu-HU" dirty="0"/>
              <a:t> is that it does not use any cryptographic related encryption algorithm</a:t>
            </a:r>
          </a:p>
          <a:p>
            <a:r>
              <a:rPr lang="en-US" dirty="0"/>
              <a:t>A</a:t>
            </a:r>
            <a:r>
              <a:rPr lang="hu-HU" dirty="0"/>
              <a:t>ll information is sent in plain text format (without encryption)</a:t>
            </a:r>
          </a:p>
          <a:p>
            <a:r>
              <a:rPr lang="en-US" dirty="0"/>
              <a:t>U</a:t>
            </a:r>
            <a:r>
              <a:rPr lang="hu-HU" dirty="0"/>
              <a:t>sernames, passwords and credit card related details are public</a:t>
            </a:r>
          </a:p>
          <a:p>
            <a:r>
              <a:rPr lang="hu-HU" b="1" dirty="0"/>
              <a:t>THIS IS WHY WE NEED MORE SECURE APPROACHES</a:t>
            </a:r>
            <a:r>
              <a:rPr lang="en-US" b="1" dirty="0"/>
              <a:t> </a:t>
            </a:r>
            <a:r>
              <a:rPr lang="hu-HU" dirty="0"/>
              <a:t>and this is exactly why </a:t>
            </a:r>
            <a:r>
              <a:rPr lang="hu-HU" b="1" dirty="0"/>
              <a:t>HTTPS</a:t>
            </a:r>
            <a:r>
              <a:rPr lang="hu-HU" dirty="0"/>
              <a:t> came to be</a:t>
            </a:r>
            <a:r>
              <a:rPr lang="en-US" dirty="0"/>
              <a:t>.</a:t>
            </a:r>
            <a:endParaRPr lang="hu-HU" dirty="0"/>
          </a:p>
          <a:p>
            <a:endParaRPr lang="hu-HU" dirty="0"/>
          </a:p>
          <a:p>
            <a:endParaRPr lang="hu-HU" b="1" dirty="0"/>
          </a:p>
        </p:txBody>
      </p:sp>
    </p:spTree>
    <p:extLst>
      <p:ext uri="{BB962C8B-B14F-4D97-AF65-F5344CB8AC3E}">
        <p14:creationId xmlns:p14="http://schemas.microsoft.com/office/powerpoint/2010/main" val="2780041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1113A-8244-42BC-A630-5A106EBBAF23}"/>
              </a:ext>
            </a:extLst>
          </p:cNvPr>
          <p:cNvSpPr>
            <a:spLocks noGrp="1"/>
          </p:cNvSpPr>
          <p:nvPr>
            <p:ph type="title"/>
          </p:nvPr>
        </p:nvSpPr>
        <p:spPr/>
        <p:txBody>
          <a:bodyPr/>
          <a:lstStyle/>
          <a:p>
            <a:r>
              <a:rPr lang="hu-HU" dirty="0"/>
              <a:t>HTTP and TLS Protocols</a:t>
            </a:r>
            <a:endParaRPr lang="en-GB" dirty="0"/>
          </a:p>
        </p:txBody>
      </p:sp>
      <p:sp>
        <p:nvSpPr>
          <p:cNvPr id="9" name="Content Placeholder 2">
            <a:extLst>
              <a:ext uri="{FF2B5EF4-FFF2-40B4-BE49-F238E27FC236}">
                <a16:creationId xmlns:a16="http://schemas.microsoft.com/office/drawing/2014/main" id="{D4AFB5DB-4268-4C51-96B7-675EED4CE877}"/>
              </a:ext>
            </a:extLst>
          </p:cNvPr>
          <p:cNvSpPr>
            <a:spLocks noGrp="1"/>
          </p:cNvSpPr>
          <p:nvPr>
            <p:ph idx="1"/>
          </p:nvPr>
        </p:nvSpPr>
        <p:spPr>
          <a:xfrm>
            <a:off x="1410789" y="1776549"/>
            <a:ext cx="9413965" cy="4467497"/>
          </a:xfrm>
        </p:spPr>
        <p:txBody>
          <a:bodyPr>
            <a:normAutofit fontScale="92500" lnSpcReduction="10000"/>
          </a:bodyPr>
          <a:lstStyle/>
          <a:p>
            <a:r>
              <a:rPr lang="hu-HU" b="1" dirty="0"/>
              <a:t>HTTPS</a:t>
            </a:r>
            <a:r>
              <a:rPr lang="hu-HU" dirty="0"/>
              <a:t> is </a:t>
            </a:r>
            <a:r>
              <a:rPr lang="hu-HU" b="1" dirty="0"/>
              <a:t>Secure Hypertext Transfer Protocol</a:t>
            </a:r>
          </a:p>
          <a:p>
            <a:r>
              <a:rPr lang="hu-HU" dirty="0"/>
              <a:t>It encrypts the data that is being retrieved by</a:t>
            </a:r>
            <a:r>
              <a:rPr lang="hu-HU" b="1" dirty="0"/>
              <a:t> HTTP</a:t>
            </a:r>
          </a:p>
          <a:p>
            <a:r>
              <a:rPr lang="hu-HU" dirty="0"/>
              <a:t>There are several </a:t>
            </a:r>
            <a:r>
              <a:rPr lang="hu-HU" b="1" dirty="0"/>
              <a:t>public key </a:t>
            </a:r>
            <a:r>
              <a:rPr lang="hu-HU" dirty="0"/>
              <a:t>and </a:t>
            </a:r>
            <a:r>
              <a:rPr lang="hu-HU" b="1" dirty="0"/>
              <a:t>private key cryptography</a:t>
            </a:r>
            <a:r>
              <a:rPr lang="hu-HU" dirty="0"/>
              <a:t> realted approaches it supports (</a:t>
            </a:r>
            <a:r>
              <a:rPr lang="hu-HU" b="1" dirty="0"/>
              <a:t>RSA</a:t>
            </a:r>
            <a:r>
              <a:rPr lang="hu-HU" dirty="0"/>
              <a:t>, </a:t>
            </a:r>
            <a:r>
              <a:rPr lang="hu-HU" b="1" dirty="0"/>
              <a:t>ECC</a:t>
            </a:r>
            <a:r>
              <a:rPr lang="hu-HU" dirty="0"/>
              <a:t>, </a:t>
            </a:r>
            <a:r>
              <a:rPr lang="hu-HU" b="1" dirty="0"/>
              <a:t>AES</a:t>
            </a:r>
            <a:r>
              <a:rPr lang="hu-HU" dirty="0"/>
              <a:t>, </a:t>
            </a:r>
            <a:r>
              <a:rPr lang="hu-HU" b="1" dirty="0"/>
              <a:t>DES</a:t>
            </a:r>
            <a:r>
              <a:rPr lang="hu-HU" dirty="0"/>
              <a:t> etc.)</a:t>
            </a:r>
          </a:p>
          <a:p>
            <a:r>
              <a:rPr lang="hu-HU" b="1" dirty="0"/>
              <a:t>Https</a:t>
            </a:r>
            <a:r>
              <a:rPr lang="hu-HU" dirty="0"/>
              <a:t> uses protocols to ensure data security: </a:t>
            </a:r>
            <a:r>
              <a:rPr lang="hu-HU" b="1" dirty="0"/>
              <a:t>ssl </a:t>
            </a:r>
            <a:r>
              <a:rPr lang="hu-HU" dirty="0"/>
              <a:t>and </a:t>
            </a:r>
            <a:r>
              <a:rPr lang="hu-HU" b="1" dirty="0"/>
              <a:t>tls</a:t>
            </a:r>
          </a:p>
          <a:p>
            <a:r>
              <a:rPr lang="hu-HU" b="1" dirty="0"/>
              <a:t>SSL </a:t>
            </a:r>
            <a:r>
              <a:rPr lang="hu-HU" dirty="0"/>
              <a:t>stands for </a:t>
            </a:r>
            <a:r>
              <a:rPr lang="hu-HU" b="1" dirty="0"/>
              <a:t>secure socket layer</a:t>
            </a:r>
          </a:p>
          <a:p>
            <a:r>
              <a:rPr lang="hu-HU" dirty="0"/>
              <a:t>It is no longer secure this is why back in </a:t>
            </a:r>
            <a:r>
              <a:rPr lang="hu-HU" b="1" dirty="0"/>
              <a:t>1999</a:t>
            </a:r>
            <a:r>
              <a:rPr lang="hu-HU" dirty="0"/>
              <a:t> it was updated to become </a:t>
            </a:r>
            <a:r>
              <a:rPr lang="hu-HU" b="1" dirty="0"/>
              <a:t>Transport Layer Security (TLS)</a:t>
            </a:r>
          </a:p>
          <a:p>
            <a:endParaRPr lang="hu-HU" dirty="0"/>
          </a:p>
          <a:p>
            <a:endParaRPr lang="hu-HU" b="1" dirty="0"/>
          </a:p>
        </p:txBody>
      </p:sp>
    </p:spTree>
    <p:extLst>
      <p:ext uri="{BB962C8B-B14F-4D97-AF65-F5344CB8AC3E}">
        <p14:creationId xmlns:p14="http://schemas.microsoft.com/office/powerpoint/2010/main" val="4041882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7ED6E-C5C4-4BCF-8BA6-7AE879B3A62F}"/>
              </a:ext>
            </a:extLst>
          </p:cNvPr>
          <p:cNvSpPr>
            <a:spLocks noGrp="1"/>
          </p:cNvSpPr>
          <p:nvPr>
            <p:ph type="title"/>
          </p:nvPr>
        </p:nvSpPr>
        <p:spPr/>
        <p:txBody>
          <a:bodyPr/>
          <a:lstStyle/>
          <a:p>
            <a:r>
              <a:rPr lang="en-US" dirty="0"/>
              <a:t>Transport Layer Security</a:t>
            </a:r>
          </a:p>
        </p:txBody>
      </p:sp>
      <p:sp>
        <p:nvSpPr>
          <p:cNvPr id="3" name="Content Placeholder 2">
            <a:extLst>
              <a:ext uri="{FF2B5EF4-FFF2-40B4-BE49-F238E27FC236}">
                <a16:creationId xmlns:a16="http://schemas.microsoft.com/office/drawing/2014/main" id="{0A1271A8-B432-4B9D-B41D-BA24EBED1B86}"/>
              </a:ext>
            </a:extLst>
          </p:cNvPr>
          <p:cNvSpPr>
            <a:spLocks noGrp="1"/>
          </p:cNvSpPr>
          <p:nvPr>
            <p:ph idx="1"/>
          </p:nvPr>
        </p:nvSpPr>
        <p:spPr/>
        <p:txBody>
          <a:bodyPr>
            <a:normAutofit fontScale="92500" lnSpcReduction="10000"/>
          </a:bodyPr>
          <a:lstStyle/>
          <a:p>
            <a:r>
              <a:rPr lang="en-US" dirty="0"/>
              <a:t>1994: Netscape Communications developed the network authentication protocol Secure Sockets Layer, SSLv2.</a:t>
            </a:r>
          </a:p>
          <a:p>
            <a:pPr lvl="1"/>
            <a:r>
              <a:rPr lang="en-US" dirty="0"/>
              <a:t>Badly broken, officially deprecated 2011</a:t>
            </a:r>
          </a:p>
          <a:p>
            <a:r>
              <a:rPr lang="en-US" dirty="0"/>
              <a:t>1995: Netscape release their own improvements SSLv3.</a:t>
            </a:r>
          </a:p>
          <a:p>
            <a:pPr lvl="1"/>
            <a:r>
              <a:rPr lang="en-US" dirty="0"/>
              <a:t>Broken, officially deprecated 2015</a:t>
            </a:r>
          </a:p>
          <a:p>
            <a:r>
              <a:rPr lang="en-US" dirty="0"/>
              <a:t>In January 1999, RFC 2246 was issued by the IETF,</a:t>
            </a:r>
          </a:p>
          <a:p>
            <a:r>
              <a:rPr lang="en-US" dirty="0"/>
              <a:t>Transport Layer Security Protocol: TLS 1.0</a:t>
            </a:r>
          </a:p>
          <a:p>
            <a:pPr lvl="1"/>
            <a:r>
              <a:rPr lang="en-US" dirty="0"/>
              <a:t>Similar to, but incompatible with SSLv3</a:t>
            </a:r>
          </a:p>
          <a:p>
            <a:pPr lvl="1"/>
            <a:r>
              <a:rPr lang="en-US" dirty="0"/>
              <a:t>Followed by TLS 1.1 (2006) and TLS 1.2 (2008)</a:t>
            </a:r>
          </a:p>
          <a:p>
            <a:pPr lvl="1"/>
            <a:r>
              <a:rPr lang="en-US" dirty="0"/>
              <a:t>Current version: TLS 1.3 (2018), removes all old/insecure features/algorithms</a:t>
            </a:r>
          </a:p>
        </p:txBody>
      </p:sp>
    </p:spTree>
    <p:extLst>
      <p:ext uri="{BB962C8B-B14F-4D97-AF65-F5344CB8AC3E}">
        <p14:creationId xmlns:p14="http://schemas.microsoft.com/office/powerpoint/2010/main" val="3925974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229DB-09A1-406A-8F5D-DBA09E439153}"/>
              </a:ext>
            </a:extLst>
          </p:cNvPr>
          <p:cNvSpPr>
            <a:spLocks noGrp="1"/>
          </p:cNvSpPr>
          <p:nvPr>
            <p:ph type="title"/>
          </p:nvPr>
        </p:nvSpPr>
        <p:spPr/>
        <p:txBody>
          <a:bodyPr/>
          <a:lstStyle/>
          <a:p>
            <a:r>
              <a:rPr lang="en-US" dirty="0"/>
              <a:t>TLS: Overview</a:t>
            </a:r>
          </a:p>
        </p:txBody>
      </p:sp>
      <p:sp>
        <p:nvSpPr>
          <p:cNvPr id="3" name="Content Placeholder 2">
            <a:extLst>
              <a:ext uri="{FF2B5EF4-FFF2-40B4-BE49-F238E27FC236}">
                <a16:creationId xmlns:a16="http://schemas.microsoft.com/office/drawing/2014/main" id="{4F0603DD-7A14-4281-A670-EA911C9AF931}"/>
              </a:ext>
            </a:extLst>
          </p:cNvPr>
          <p:cNvSpPr>
            <a:spLocks noGrp="1"/>
          </p:cNvSpPr>
          <p:nvPr>
            <p:ph idx="1"/>
          </p:nvPr>
        </p:nvSpPr>
        <p:spPr/>
        <p:txBody>
          <a:bodyPr>
            <a:normAutofit/>
          </a:bodyPr>
          <a:lstStyle/>
          <a:p>
            <a:r>
              <a:rPr lang="en-US" dirty="0"/>
              <a:t>TLS is a cryptographic services protocol based on the Browser PKI and is commonly used on the Internet.</a:t>
            </a:r>
          </a:p>
          <a:p>
            <a:pPr lvl="1"/>
            <a:r>
              <a:rPr lang="en-US" sz="2000" dirty="0"/>
              <a:t>Each server has a server certificate and private key installed</a:t>
            </a:r>
          </a:p>
          <a:p>
            <a:pPr lvl="1"/>
            <a:r>
              <a:rPr lang="en-US" sz="2000" dirty="0"/>
              <a:t>Allows browsers to establish secure sessions with web servers.</a:t>
            </a:r>
          </a:p>
          <a:p>
            <a:r>
              <a:rPr lang="en-US" dirty="0"/>
              <a:t>Port 443 is reserved for HTTP over TLS/SSL and the protocol https is used with this port.</a:t>
            </a:r>
          </a:p>
          <a:p>
            <a:pPr lvl="1"/>
            <a:r>
              <a:rPr lang="en-US" sz="2000" dirty="0"/>
              <a:t>http://www.xxx.com implies using standard HTTP using port 80.</a:t>
            </a:r>
          </a:p>
          <a:p>
            <a:pPr lvl="1"/>
            <a:r>
              <a:rPr lang="en-US" sz="2000" dirty="0"/>
              <a:t>https://www.xxx.com implies HTTP over TLS/SSL with port 443.</a:t>
            </a:r>
          </a:p>
        </p:txBody>
      </p:sp>
    </p:spTree>
    <p:extLst>
      <p:ext uri="{BB962C8B-B14F-4D97-AF65-F5344CB8AC3E}">
        <p14:creationId xmlns:p14="http://schemas.microsoft.com/office/powerpoint/2010/main" val="2204811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95954-60C5-4E65-AD2C-CB5E5C9B5C6D}"/>
              </a:ext>
            </a:extLst>
          </p:cNvPr>
          <p:cNvSpPr>
            <a:spLocks noGrp="1"/>
          </p:cNvSpPr>
          <p:nvPr>
            <p:ph type="title"/>
          </p:nvPr>
        </p:nvSpPr>
        <p:spPr/>
        <p:txBody>
          <a:bodyPr/>
          <a:lstStyle/>
          <a:p>
            <a:r>
              <a:rPr lang="en-US" dirty="0"/>
              <a:t>Handshake Protocol</a:t>
            </a:r>
          </a:p>
        </p:txBody>
      </p:sp>
      <p:sp>
        <p:nvSpPr>
          <p:cNvPr id="3" name="Content Placeholder 2">
            <a:extLst>
              <a:ext uri="{FF2B5EF4-FFF2-40B4-BE49-F238E27FC236}">
                <a16:creationId xmlns:a16="http://schemas.microsoft.com/office/drawing/2014/main" id="{E77D017D-776F-446B-B265-4C84D3002256}"/>
              </a:ext>
            </a:extLst>
          </p:cNvPr>
          <p:cNvSpPr>
            <a:spLocks noGrp="1"/>
          </p:cNvSpPr>
          <p:nvPr>
            <p:ph idx="1"/>
          </p:nvPr>
        </p:nvSpPr>
        <p:spPr>
          <a:xfrm>
            <a:off x="838200" y="1825625"/>
            <a:ext cx="6111240" cy="4351338"/>
          </a:xfrm>
        </p:spPr>
        <p:txBody>
          <a:bodyPr>
            <a:normAutofit/>
          </a:bodyPr>
          <a:lstStyle/>
          <a:p>
            <a:r>
              <a:rPr lang="en-US" dirty="0">
                <a:latin typeface="Calibri" panose="020F0502020204030204" pitchFamily="34" charset="0"/>
                <a:cs typeface="Calibri" panose="020F0502020204030204" pitchFamily="34" charset="0"/>
              </a:rPr>
              <a:t>The handshake protocol</a:t>
            </a:r>
          </a:p>
          <a:p>
            <a:pPr lvl="1"/>
            <a:r>
              <a:rPr lang="en-US" sz="2000" dirty="0">
                <a:latin typeface="Calibri" panose="020F0502020204030204" pitchFamily="34" charset="0"/>
                <a:cs typeface="Calibri" panose="020F0502020204030204" pitchFamily="34" charset="0"/>
              </a:rPr>
              <a:t>Negotiates the encryption to be used</a:t>
            </a:r>
          </a:p>
          <a:p>
            <a:pPr lvl="1"/>
            <a:r>
              <a:rPr lang="en-US" sz="2000" dirty="0">
                <a:latin typeface="Calibri" panose="020F0502020204030204" pitchFamily="34" charset="0"/>
                <a:cs typeface="Calibri" panose="020F0502020204030204" pitchFamily="34" charset="0"/>
              </a:rPr>
              <a:t>Establishes a shared session key</a:t>
            </a:r>
          </a:p>
          <a:p>
            <a:pPr lvl="1"/>
            <a:r>
              <a:rPr lang="en-US" sz="2000" dirty="0">
                <a:latin typeface="Calibri" panose="020F0502020204030204" pitchFamily="34" charset="0"/>
                <a:cs typeface="Calibri" panose="020F0502020204030204" pitchFamily="34" charset="0"/>
              </a:rPr>
              <a:t>Authenticates the server</a:t>
            </a:r>
          </a:p>
          <a:p>
            <a:pPr lvl="1"/>
            <a:r>
              <a:rPr lang="en-US" sz="2000" dirty="0">
                <a:latin typeface="Calibri" panose="020F0502020204030204" pitchFamily="34" charset="0"/>
                <a:cs typeface="Calibri" panose="020F0502020204030204" pitchFamily="34" charset="0"/>
              </a:rPr>
              <a:t>Authenticates the client (optional)</a:t>
            </a:r>
          </a:p>
          <a:p>
            <a:r>
              <a:rPr lang="en-US" dirty="0">
                <a:latin typeface="Calibri" panose="020F0502020204030204" pitchFamily="34" charset="0"/>
                <a:cs typeface="Calibri" panose="020F0502020204030204" pitchFamily="34" charset="0"/>
              </a:rPr>
              <a:t>After the handshake, application data is transmitted securely</a:t>
            </a:r>
            <a:endParaRPr lang="en-US" sz="1800" dirty="0">
              <a:latin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F27C41F4-0396-4602-9FF8-ED035FBFE63D}"/>
              </a:ext>
            </a:extLst>
          </p:cNvPr>
          <p:cNvPicPr>
            <a:picLocks noChangeAspect="1"/>
          </p:cNvPicPr>
          <p:nvPr/>
        </p:nvPicPr>
        <p:blipFill>
          <a:blip r:embed="rId3"/>
          <a:stretch>
            <a:fillRect/>
          </a:stretch>
        </p:blipFill>
        <p:spPr>
          <a:xfrm>
            <a:off x="7273109" y="1714637"/>
            <a:ext cx="4572000" cy="3419475"/>
          </a:xfrm>
          <a:prstGeom prst="rect">
            <a:avLst/>
          </a:prstGeom>
        </p:spPr>
      </p:pic>
    </p:spTree>
    <p:extLst>
      <p:ext uri="{BB962C8B-B14F-4D97-AF65-F5344CB8AC3E}">
        <p14:creationId xmlns:p14="http://schemas.microsoft.com/office/powerpoint/2010/main" val="3047968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3C83C-3633-45FE-A661-16C5F3DA711E}"/>
              </a:ext>
            </a:extLst>
          </p:cNvPr>
          <p:cNvSpPr>
            <a:spLocks noGrp="1"/>
          </p:cNvSpPr>
          <p:nvPr>
            <p:ph type="title"/>
          </p:nvPr>
        </p:nvSpPr>
        <p:spPr>
          <a:xfrm>
            <a:off x="5943600" y="365125"/>
            <a:ext cx="5754914" cy="1325563"/>
          </a:xfrm>
        </p:spPr>
        <p:txBody>
          <a:bodyPr/>
          <a:lstStyle/>
          <a:p>
            <a:r>
              <a:rPr lang="en-US" dirty="0"/>
              <a:t>SSL Handshake Protocol </a:t>
            </a:r>
          </a:p>
        </p:txBody>
      </p:sp>
      <p:pic>
        <p:nvPicPr>
          <p:cNvPr id="5" name="Content Placeholder 4">
            <a:extLst>
              <a:ext uri="{FF2B5EF4-FFF2-40B4-BE49-F238E27FC236}">
                <a16:creationId xmlns:a16="http://schemas.microsoft.com/office/drawing/2014/main" id="{CADA0598-370A-4647-9CB0-D15FBF26E3AB}"/>
              </a:ext>
            </a:extLst>
          </p:cNvPr>
          <p:cNvPicPr>
            <a:picLocks noGrp="1" noChangeAspect="1"/>
          </p:cNvPicPr>
          <p:nvPr>
            <p:ph idx="1"/>
          </p:nvPr>
        </p:nvPicPr>
        <p:blipFill>
          <a:blip r:embed="rId2"/>
          <a:stretch>
            <a:fillRect/>
          </a:stretch>
        </p:blipFill>
        <p:spPr>
          <a:xfrm>
            <a:off x="0" y="1"/>
            <a:ext cx="6002371" cy="6874734"/>
          </a:xfrm>
          <a:prstGeom prst="rect">
            <a:avLst/>
          </a:prstGeom>
        </p:spPr>
      </p:pic>
    </p:spTree>
    <p:extLst>
      <p:ext uri="{BB962C8B-B14F-4D97-AF65-F5344CB8AC3E}">
        <p14:creationId xmlns:p14="http://schemas.microsoft.com/office/powerpoint/2010/main" val="4151076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1113A-8244-42BC-A630-5A106EBBAF23}"/>
              </a:ext>
            </a:extLst>
          </p:cNvPr>
          <p:cNvSpPr>
            <a:spLocks noGrp="1"/>
          </p:cNvSpPr>
          <p:nvPr>
            <p:ph type="title"/>
          </p:nvPr>
        </p:nvSpPr>
        <p:spPr/>
        <p:txBody>
          <a:bodyPr/>
          <a:lstStyle/>
          <a:p>
            <a:r>
              <a:rPr lang="hu-HU" dirty="0"/>
              <a:t>TLS Protocols</a:t>
            </a:r>
            <a:endParaRPr lang="en-GB" dirty="0"/>
          </a:p>
        </p:txBody>
      </p:sp>
      <p:pic>
        <p:nvPicPr>
          <p:cNvPr id="8" name="Picture 7">
            <a:extLst>
              <a:ext uri="{FF2B5EF4-FFF2-40B4-BE49-F238E27FC236}">
                <a16:creationId xmlns:a16="http://schemas.microsoft.com/office/drawing/2014/main" id="{59A61050-7A10-4045-927D-440D7B1DD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7847" y="1690688"/>
            <a:ext cx="6954199" cy="4534649"/>
          </a:xfrm>
          <a:prstGeom prst="rect">
            <a:avLst/>
          </a:prstGeom>
        </p:spPr>
      </p:pic>
    </p:spTree>
    <p:extLst>
      <p:ext uri="{BB962C8B-B14F-4D97-AF65-F5344CB8AC3E}">
        <p14:creationId xmlns:p14="http://schemas.microsoft.com/office/powerpoint/2010/main" val="13522288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9147E36-3A4E-470D-9198-D1877BD386CC}"/>
              </a:ext>
            </a:extLst>
          </p:cNvPr>
          <p:cNvSpPr>
            <a:spLocks noGrp="1"/>
          </p:cNvSpPr>
          <p:nvPr>
            <p:ph type="title"/>
          </p:nvPr>
        </p:nvSpPr>
        <p:spPr>
          <a:xfrm>
            <a:off x="0" y="-76200"/>
            <a:ext cx="12192000" cy="643233"/>
          </a:xfrm>
        </p:spPr>
        <p:txBody>
          <a:bodyPr/>
          <a:lstStyle/>
          <a:p>
            <a:r>
              <a:rPr lang="en-US" dirty="0"/>
              <a:t>VPN</a:t>
            </a:r>
          </a:p>
        </p:txBody>
      </p:sp>
      <p:sp>
        <p:nvSpPr>
          <p:cNvPr id="5" name="Content Placeholder 4">
            <a:extLst>
              <a:ext uri="{FF2B5EF4-FFF2-40B4-BE49-F238E27FC236}">
                <a16:creationId xmlns:a16="http://schemas.microsoft.com/office/drawing/2014/main" id="{85B47154-A66B-4A41-8F6F-AF0B9AF0FBA0}"/>
              </a:ext>
            </a:extLst>
          </p:cNvPr>
          <p:cNvSpPr>
            <a:spLocks noGrp="1"/>
          </p:cNvSpPr>
          <p:nvPr>
            <p:ph idx="1"/>
          </p:nvPr>
        </p:nvSpPr>
        <p:spPr>
          <a:xfrm>
            <a:off x="533400" y="870540"/>
            <a:ext cx="8027126" cy="4121740"/>
          </a:xfrm>
        </p:spPr>
        <p:txBody>
          <a:bodyPr>
            <a:normAutofit fontScale="85000" lnSpcReduction="20000"/>
          </a:bodyPr>
          <a:lstStyle/>
          <a:p>
            <a:r>
              <a:rPr lang="en-US" dirty="0"/>
              <a:t>TLS secures only a single TCP connection</a:t>
            </a:r>
          </a:p>
          <a:p>
            <a:r>
              <a:rPr lang="en-US" dirty="0"/>
              <a:t>Sometimes:</a:t>
            </a:r>
          </a:p>
          <a:p>
            <a:pPr lvl="1"/>
            <a:r>
              <a:rPr lang="en-US" dirty="0"/>
              <a:t>all communication from a computer shall be secured</a:t>
            </a:r>
          </a:p>
          <a:p>
            <a:pPr lvl="1"/>
            <a:r>
              <a:rPr lang="en-US" dirty="0"/>
              <a:t>also non-TCP communication shall be secured</a:t>
            </a:r>
          </a:p>
          <a:p>
            <a:r>
              <a:rPr lang="en-US" dirty="0"/>
              <a:t>Typical application:</a:t>
            </a:r>
          </a:p>
          <a:p>
            <a:pPr lvl="1"/>
            <a:r>
              <a:rPr lang="en-US" dirty="0"/>
              <a:t>VPN tunnel into a company network</a:t>
            </a:r>
          </a:p>
          <a:p>
            <a:pPr lvl="1"/>
            <a:r>
              <a:rPr lang="en-US" dirty="0"/>
              <a:t>Tunnel can only be established after authentication</a:t>
            </a:r>
          </a:p>
          <a:p>
            <a:pPr lvl="1"/>
            <a:r>
              <a:rPr lang="en-US" dirty="0"/>
              <a:t>All communication is routed (and secured) through the tunnel</a:t>
            </a:r>
          </a:p>
          <a:p>
            <a:pPr lvl="1"/>
            <a:r>
              <a:rPr lang="en-US" dirty="0"/>
              <a:t>Client is virtually part of the local company network</a:t>
            </a:r>
          </a:p>
          <a:p>
            <a:pPr lvl="1"/>
            <a:r>
              <a:rPr lang="en-US" dirty="0"/>
              <a:t>Client gets access to internal services</a:t>
            </a:r>
          </a:p>
        </p:txBody>
      </p:sp>
      <p:pic>
        <p:nvPicPr>
          <p:cNvPr id="6" name="Picture 5">
            <a:extLst>
              <a:ext uri="{FF2B5EF4-FFF2-40B4-BE49-F238E27FC236}">
                <a16:creationId xmlns:a16="http://schemas.microsoft.com/office/drawing/2014/main" id="{1F79AB41-73BA-4337-B74B-6D759A2DB91B}"/>
              </a:ext>
            </a:extLst>
          </p:cNvPr>
          <p:cNvPicPr>
            <a:picLocks noChangeAspect="1"/>
          </p:cNvPicPr>
          <p:nvPr/>
        </p:nvPicPr>
        <p:blipFill rotWithShape="1">
          <a:blip r:embed="rId2"/>
          <a:srcRect t="11517"/>
          <a:stretch/>
        </p:blipFill>
        <p:spPr>
          <a:xfrm>
            <a:off x="5808617" y="4526339"/>
            <a:ext cx="6383383" cy="2364377"/>
          </a:xfrm>
          <a:prstGeom prst="rect">
            <a:avLst/>
          </a:prstGeom>
        </p:spPr>
      </p:pic>
    </p:spTree>
    <p:extLst>
      <p:ext uri="{BB962C8B-B14F-4D97-AF65-F5344CB8AC3E}">
        <p14:creationId xmlns:p14="http://schemas.microsoft.com/office/powerpoint/2010/main" val="24009756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4C212-8796-4CEB-82BC-9BAE219F226A}"/>
              </a:ext>
            </a:extLst>
          </p:cNvPr>
          <p:cNvSpPr>
            <a:spLocks noGrp="1"/>
          </p:cNvSpPr>
          <p:nvPr>
            <p:ph type="title"/>
          </p:nvPr>
        </p:nvSpPr>
        <p:spPr/>
        <p:txBody>
          <a:bodyPr/>
          <a:lstStyle/>
          <a:p>
            <a:r>
              <a:rPr lang="en-US" dirty="0"/>
              <a:t>Risk of using VPN</a:t>
            </a:r>
          </a:p>
        </p:txBody>
      </p:sp>
      <p:pic>
        <p:nvPicPr>
          <p:cNvPr id="4" name="Content Placeholder 3">
            <a:extLst>
              <a:ext uri="{FF2B5EF4-FFF2-40B4-BE49-F238E27FC236}">
                <a16:creationId xmlns:a16="http://schemas.microsoft.com/office/drawing/2014/main" id="{57ED8D8B-C654-48D4-95A2-AA2695752DFD}"/>
              </a:ext>
            </a:extLst>
          </p:cNvPr>
          <p:cNvPicPr>
            <a:picLocks noGrp="1" noChangeAspect="1"/>
          </p:cNvPicPr>
          <p:nvPr>
            <p:ph idx="1"/>
          </p:nvPr>
        </p:nvPicPr>
        <p:blipFill>
          <a:blip r:embed="rId2"/>
          <a:stretch>
            <a:fillRect/>
          </a:stretch>
        </p:blipFill>
        <p:spPr>
          <a:xfrm>
            <a:off x="2481262" y="2067719"/>
            <a:ext cx="7229475" cy="3867150"/>
          </a:xfrm>
          <a:prstGeom prst="rect">
            <a:avLst/>
          </a:prstGeom>
        </p:spPr>
      </p:pic>
    </p:spTree>
    <p:extLst>
      <p:ext uri="{BB962C8B-B14F-4D97-AF65-F5344CB8AC3E}">
        <p14:creationId xmlns:p14="http://schemas.microsoft.com/office/powerpoint/2010/main" val="13130422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0AF2F-0DBA-4D30-9F88-32EA5C80A6A8}"/>
              </a:ext>
            </a:extLst>
          </p:cNvPr>
          <p:cNvSpPr>
            <a:spLocks noGrp="1"/>
          </p:cNvSpPr>
          <p:nvPr>
            <p:ph type="title"/>
          </p:nvPr>
        </p:nvSpPr>
        <p:spPr/>
        <p:txBody>
          <a:bodyPr/>
          <a:lstStyle/>
          <a:p>
            <a:r>
              <a:rPr lang="en-US" dirty="0"/>
              <a:t>VPN Browsing via VPN Proxy</a:t>
            </a:r>
          </a:p>
        </p:txBody>
      </p:sp>
      <p:sp>
        <p:nvSpPr>
          <p:cNvPr id="3" name="Content Placeholder 2">
            <a:extLst>
              <a:ext uri="{FF2B5EF4-FFF2-40B4-BE49-F238E27FC236}">
                <a16:creationId xmlns:a16="http://schemas.microsoft.com/office/drawing/2014/main" id="{7F7BA9C8-DB38-4A55-8833-37A9EAE107C1}"/>
              </a:ext>
            </a:extLst>
          </p:cNvPr>
          <p:cNvSpPr>
            <a:spLocks noGrp="1"/>
          </p:cNvSpPr>
          <p:nvPr>
            <p:ph idx="1"/>
          </p:nvPr>
        </p:nvSpPr>
        <p:spPr/>
        <p:txBody>
          <a:bodyPr/>
          <a:lstStyle/>
          <a:p>
            <a:r>
              <a:rPr lang="en-US" dirty="0"/>
              <a:t>Usage Examples:</a:t>
            </a:r>
          </a:p>
          <a:p>
            <a:pPr lvl="1"/>
            <a:r>
              <a:rPr lang="en-US" dirty="0"/>
              <a:t>Access to services subscribed by own organization</a:t>
            </a:r>
          </a:p>
          <a:p>
            <a:pPr lvl="1"/>
            <a:r>
              <a:rPr lang="en-US" dirty="0"/>
              <a:t>Hide users true location</a:t>
            </a:r>
          </a:p>
        </p:txBody>
      </p:sp>
      <p:pic>
        <p:nvPicPr>
          <p:cNvPr id="4" name="Picture 3">
            <a:extLst>
              <a:ext uri="{FF2B5EF4-FFF2-40B4-BE49-F238E27FC236}">
                <a16:creationId xmlns:a16="http://schemas.microsoft.com/office/drawing/2014/main" id="{5B7E9E19-9546-4BD1-8E8B-95448EFE6614}"/>
              </a:ext>
            </a:extLst>
          </p:cNvPr>
          <p:cNvPicPr>
            <a:picLocks noChangeAspect="1"/>
          </p:cNvPicPr>
          <p:nvPr/>
        </p:nvPicPr>
        <p:blipFill>
          <a:blip r:embed="rId2"/>
          <a:stretch>
            <a:fillRect/>
          </a:stretch>
        </p:blipFill>
        <p:spPr>
          <a:xfrm>
            <a:off x="4829175" y="2762250"/>
            <a:ext cx="7362825" cy="4095750"/>
          </a:xfrm>
          <a:prstGeom prst="rect">
            <a:avLst/>
          </a:prstGeom>
        </p:spPr>
      </p:pic>
    </p:spTree>
    <p:extLst>
      <p:ext uri="{BB962C8B-B14F-4D97-AF65-F5344CB8AC3E}">
        <p14:creationId xmlns:p14="http://schemas.microsoft.com/office/powerpoint/2010/main" val="12366798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DC148C47-9FCE-4378-A592-A62D634C6AF6}"/>
              </a:ext>
            </a:extLst>
          </p:cNvPr>
          <p:cNvSpPr>
            <a:spLocks noGrp="1"/>
          </p:cNvSpPr>
          <p:nvPr>
            <p:ph type="body" sz="half" idx="14"/>
          </p:nvPr>
        </p:nvSpPr>
        <p:spPr/>
        <p:txBody>
          <a:bodyPr/>
          <a:lstStyle/>
          <a:p>
            <a:r>
              <a:rPr lang="en-CA" dirty="0"/>
              <a:t>What is a firewall?</a:t>
            </a:r>
          </a:p>
        </p:txBody>
      </p:sp>
      <p:sp>
        <p:nvSpPr>
          <p:cNvPr id="4" name="Slide Number Placeholder 3">
            <a:extLst>
              <a:ext uri="{FF2B5EF4-FFF2-40B4-BE49-F238E27FC236}">
                <a16:creationId xmlns:a16="http://schemas.microsoft.com/office/drawing/2014/main" id="{532C7790-460A-467D-B830-30BBED7589A2}"/>
              </a:ext>
            </a:extLst>
          </p:cNvPr>
          <p:cNvSpPr>
            <a:spLocks noGrp="1"/>
          </p:cNvSpPr>
          <p:nvPr>
            <p:ph type="sldNum" sz="quarter" idx="4294967295"/>
          </p:nvPr>
        </p:nvSpPr>
        <p:spPr/>
        <p:txBody>
          <a:bodyPr/>
          <a:lstStyle/>
          <a:p>
            <a:fld id="{5BFA158B-7C94-F543-87DB-41F59EA4FAFA}" type="slidenum">
              <a:rPr lang="en-US" smtClean="0">
                <a:latin typeface="Arial"/>
              </a:rPr>
              <a:pPr/>
              <a:t>21</a:t>
            </a:fld>
            <a:endParaRPr lang="en-US">
              <a:latin typeface="Arial"/>
            </a:endParaRPr>
          </a:p>
        </p:txBody>
      </p:sp>
    </p:spTree>
    <p:extLst>
      <p:ext uri="{BB962C8B-B14F-4D97-AF65-F5344CB8AC3E}">
        <p14:creationId xmlns:p14="http://schemas.microsoft.com/office/powerpoint/2010/main" val="10490027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9344D-93FC-440B-A9FA-A2ABEC1AE9B4}"/>
              </a:ext>
            </a:extLst>
          </p:cNvPr>
          <p:cNvSpPr>
            <a:spLocks noGrp="1"/>
          </p:cNvSpPr>
          <p:nvPr>
            <p:ph type="title"/>
          </p:nvPr>
        </p:nvSpPr>
        <p:spPr/>
        <p:txBody>
          <a:bodyPr/>
          <a:lstStyle/>
          <a:p>
            <a:r>
              <a:rPr lang="en-US" dirty="0"/>
              <a:t>Firewalls</a:t>
            </a:r>
          </a:p>
        </p:txBody>
      </p:sp>
      <p:sp>
        <p:nvSpPr>
          <p:cNvPr id="3" name="Content Placeholder 2">
            <a:extLst>
              <a:ext uri="{FF2B5EF4-FFF2-40B4-BE49-F238E27FC236}">
                <a16:creationId xmlns:a16="http://schemas.microsoft.com/office/drawing/2014/main" id="{C28DBDE4-2AD4-418D-97E5-0D6FF598C1C7}"/>
              </a:ext>
            </a:extLst>
          </p:cNvPr>
          <p:cNvSpPr>
            <a:spLocks noGrp="1"/>
          </p:cNvSpPr>
          <p:nvPr>
            <p:ph idx="1"/>
          </p:nvPr>
        </p:nvSpPr>
        <p:spPr/>
        <p:txBody>
          <a:bodyPr/>
          <a:lstStyle/>
          <a:p>
            <a:r>
              <a:rPr lang="en-US" dirty="0"/>
              <a:t>A firewall is a check point that protects the internal networks against attack from outside networks</a:t>
            </a:r>
          </a:p>
          <a:p>
            <a:r>
              <a:rPr lang="en-US" dirty="0"/>
              <a:t>The check point decides which traffic can pass in &amp; out based on security policies</a:t>
            </a:r>
          </a:p>
        </p:txBody>
      </p:sp>
      <p:pic>
        <p:nvPicPr>
          <p:cNvPr id="4" name="Picture 3">
            <a:extLst>
              <a:ext uri="{FF2B5EF4-FFF2-40B4-BE49-F238E27FC236}">
                <a16:creationId xmlns:a16="http://schemas.microsoft.com/office/drawing/2014/main" id="{C1835026-1088-46BE-84C1-BEC06CA34489}"/>
              </a:ext>
            </a:extLst>
          </p:cNvPr>
          <p:cNvPicPr>
            <a:picLocks noChangeAspect="1"/>
          </p:cNvPicPr>
          <p:nvPr/>
        </p:nvPicPr>
        <p:blipFill>
          <a:blip r:embed="rId2"/>
          <a:stretch>
            <a:fillRect/>
          </a:stretch>
        </p:blipFill>
        <p:spPr>
          <a:xfrm>
            <a:off x="2450918" y="3753394"/>
            <a:ext cx="6935102" cy="2371975"/>
          </a:xfrm>
          <a:prstGeom prst="rect">
            <a:avLst/>
          </a:prstGeom>
        </p:spPr>
      </p:pic>
    </p:spTree>
    <p:extLst>
      <p:ext uri="{BB962C8B-B14F-4D97-AF65-F5344CB8AC3E}">
        <p14:creationId xmlns:p14="http://schemas.microsoft.com/office/powerpoint/2010/main" val="3330190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Firewall Security Policy</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23</a:t>
            </a:fld>
            <a:endParaRPr lang="en-US">
              <a:latin typeface="Arial"/>
            </a:endParaRPr>
          </a:p>
        </p:txBody>
      </p:sp>
      <p:pic>
        <p:nvPicPr>
          <p:cNvPr id="7" name="Picture 6" descr="Screen Shot 2015-09-29 at 2.07.06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2300" y="2146300"/>
            <a:ext cx="8407400" cy="2552700"/>
          </a:xfrm>
          <a:prstGeom prst="rect">
            <a:avLst/>
          </a:prstGeom>
        </p:spPr>
      </p:pic>
      <p:sp>
        <p:nvSpPr>
          <p:cNvPr id="5" name="TextBox 4"/>
          <p:cNvSpPr txBox="1"/>
          <p:nvPr/>
        </p:nvSpPr>
        <p:spPr>
          <a:xfrm>
            <a:off x="2065422" y="5149517"/>
            <a:ext cx="8234279" cy="646331"/>
          </a:xfrm>
          <a:prstGeom prst="rect">
            <a:avLst/>
          </a:prstGeom>
          <a:noFill/>
        </p:spPr>
        <p:txBody>
          <a:bodyPr wrap="square" rtlCol="0">
            <a:spAutoFit/>
          </a:bodyPr>
          <a:lstStyle/>
          <a:p>
            <a:r>
              <a:rPr lang="en-US" dirty="0"/>
              <a:t>A </a:t>
            </a:r>
            <a:r>
              <a:rPr lang="en-US" b="1" dirty="0"/>
              <a:t>security policy</a:t>
            </a:r>
            <a:r>
              <a:rPr lang="en-US" dirty="0"/>
              <a:t> is a set of rules that determine what traffic can or cannot pass through the firewall.</a:t>
            </a:r>
          </a:p>
        </p:txBody>
      </p:sp>
    </p:spTree>
    <p:extLst>
      <p:ext uri="{BB962C8B-B14F-4D97-AF65-F5344CB8AC3E}">
        <p14:creationId xmlns:p14="http://schemas.microsoft.com/office/powerpoint/2010/main" val="861887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A038E-A223-426F-9E05-E289268231C5}"/>
              </a:ext>
            </a:extLst>
          </p:cNvPr>
          <p:cNvSpPr>
            <a:spLocks noGrp="1"/>
          </p:cNvSpPr>
          <p:nvPr>
            <p:ph type="title"/>
          </p:nvPr>
        </p:nvSpPr>
        <p:spPr/>
        <p:txBody>
          <a:bodyPr/>
          <a:lstStyle/>
          <a:p>
            <a:r>
              <a:rPr lang="en-US" dirty="0"/>
              <a:t>Firewall</a:t>
            </a:r>
          </a:p>
        </p:txBody>
      </p:sp>
      <p:sp>
        <p:nvSpPr>
          <p:cNvPr id="3" name="Content Placeholder 2">
            <a:extLst>
              <a:ext uri="{FF2B5EF4-FFF2-40B4-BE49-F238E27FC236}">
                <a16:creationId xmlns:a16="http://schemas.microsoft.com/office/drawing/2014/main" id="{F1F01822-B840-4822-9754-1476D09220A3}"/>
              </a:ext>
            </a:extLst>
          </p:cNvPr>
          <p:cNvSpPr>
            <a:spLocks noGrp="1"/>
          </p:cNvSpPr>
          <p:nvPr>
            <p:ph idx="1"/>
          </p:nvPr>
        </p:nvSpPr>
        <p:spPr/>
        <p:txBody>
          <a:bodyPr/>
          <a:lstStyle/>
          <a:p>
            <a:r>
              <a:rPr lang="en-US" dirty="0"/>
              <a:t>If the risk of having a connection to the Internet is unacceptable, the most effective way of treating the risk is to avoid the risk altogether and disconnect completely.</a:t>
            </a:r>
          </a:p>
          <a:p>
            <a:r>
              <a:rPr lang="en-US" dirty="0"/>
              <a:t>If disconnection from the Internet is not practical, then firewalls may provide an effective level of protection that can reduce the risk to an acceptable level.</a:t>
            </a:r>
          </a:p>
          <a:p>
            <a:r>
              <a:rPr lang="en-US" dirty="0"/>
              <a:t>Firewalls are often the first line of defense against external attacks but should not be the only defense.</a:t>
            </a:r>
          </a:p>
        </p:txBody>
      </p:sp>
    </p:spTree>
    <p:extLst>
      <p:ext uri="{BB962C8B-B14F-4D97-AF65-F5344CB8AC3E}">
        <p14:creationId xmlns:p14="http://schemas.microsoft.com/office/powerpoint/2010/main" val="26751959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D46BB-757B-4C4C-BCF8-9DFCC4C5EBEE}"/>
              </a:ext>
            </a:extLst>
          </p:cNvPr>
          <p:cNvSpPr>
            <a:spLocks noGrp="1"/>
          </p:cNvSpPr>
          <p:nvPr>
            <p:ph type="title"/>
          </p:nvPr>
        </p:nvSpPr>
        <p:spPr/>
        <p:txBody>
          <a:bodyPr/>
          <a:lstStyle/>
          <a:p>
            <a:r>
              <a:rPr lang="en-US" dirty="0"/>
              <a:t>Firewall</a:t>
            </a:r>
          </a:p>
        </p:txBody>
      </p:sp>
      <p:sp>
        <p:nvSpPr>
          <p:cNvPr id="3" name="Content Placeholder 2">
            <a:extLst>
              <a:ext uri="{FF2B5EF4-FFF2-40B4-BE49-F238E27FC236}">
                <a16:creationId xmlns:a16="http://schemas.microsoft.com/office/drawing/2014/main" id="{56B6B32A-8E2F-4980-8666-B35B65522702}"/>
              </a:ext>
            </a:extLst>
          </p:cNvPr>
          <p:cNvSpPr>
            <a:spLocks noGrp="1"/>
          </p:cNvSpPr>
          <p:nvPr>
            <p:ph idx="1"/>
          </p:nvPr>
        </p:nvSpPr>
        <p:spPr/>
        <p:txBody>
          <a:bodyPr>
            <a:normAutofit fontScale="85000" lnSpcReduction="10000"/>
          </a:bodyPr>
          <a:lstStyle/>
          <a:p>
            <a:r>
              <a:rPr lang="en-US" dirty="0"/>
              <a:t>Firewalls are the foundation of a defense-in-depth network security strategy.</a:t>
            </a:r>
          </a:p>
          <a:p>
            <a:r>
              <a:rPr lang="en-US" dirty="0"/>
              <a:t>They’re designed to protect organizations from network-based attacks. Firewalls do this by filtering data packets that go through them.</a:t>
            </a:r>
          </a:p>
          <a:p>
            <a:r>
              <a:rPr lang="en-US" dirty="0"/>
              <a:t>The network owner must define criteria for what is (un)authorized</a:t>
            </a:r>
          </a:p>
          <a:p>
            <a:r>
              <a:rPr lang="en-US" dirty="0"/>
              <a:t>The effectiveness of firewalls depends on specifying authorized traffic in terms of rules</a:t>
            </a:r>
          </a:p>
          <a:p>
            <a:pPr lvl="1"/>
            <a:r>
              <a:rPr lang="en-US" dirty="0"/>
              <a:t>The rules defines what to let pass through;</a:t>
            </a:r>
          </a:p>
          <a:p>
            <a:pPr lvl="1"/>
            <a:r>
              <a:rPr lang="en-US" dirty="0"/>
              <a:t>The rules defines what to block.</a:t>
            </a:r>
          </a:p>
          <a:p>
            <a:r>
              <a:rPr lang="en-US" dirty="0"/>
              <a:t>They can be a standalone network device or software on a computer system, meaning </a:t>
            </a:r>
            <a:r>
              <a:rPr lang="en-US" b="1" dirty="0"/>
              <a:t>network-based </a:t>
            </a:r>
            <a:r>
              <a:rPr lang="en-US" dirty="0"/>
              <a:t>(hardware) or </a:t>
            </a:r>
            <a:r>
              <a:rPr lang="en-US" b="1" dirty="0"/>
              <a:t>host-based</a:t>
            </a:r>
            <a:r>
              <a:rPr lang="en-US" dirty="0"/>
              <a:t>(software).</a:t>
            </a:r>
          </a:p>
          <a:p>
            <a:endParaRPr lang="en-US" dirty="0"/>
          </a:p>
        </p:txBody>
      </p:sp>
    </p:spTree>
    <p:extLst>
      <p:ext uri="{BB962C8B-B14F-4D97-AF65-F5344CB8AC3E}">
        <p14:creationId xmlns:p14="http://schemas.microsoft.com/office/powerpoint/2010/main" val="71748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067D9-C364-4318-9D90-50C6BFDECD07}"/>
              </a:ext>
            </a:extLst>
          </p:cNvPr>
          <p:cNvSpPr>
            <a:spLocks noGrp="1"/>
          </p:cNvSpPr>
          <p:nvPr>
            <p:ph type="title"/>
          </p:nvPr>
        </p:nvSpPr>
        <p:spPr/>
        <p:txBody>
          <a:bodyPr/>
          <a:lstStyle/>
          <a:p>
            <a:r>
              <a:rPr lang="en-US" b="1" dirty="0"/>
              <a:t>3 Common Types of Firewalls</a:t>
            </a:r>
            <a:endParaRPr lang="en-US" dirty="0"/>
          </a:p>
        </p:txBody>
      </p:sp>
      <p:pic>
        <p:nvPicPr>
          <p:cNvPr id="4" name="Content Placeholder 3">
            <a:extLst>
              <a:ext uri="{FF2B5EF4-FFF2-40B4-BE49-F238E27FC236}">
                <a16:creationId xmlns:a16="http://schemas.microsoft.com/office/drawing/2014/main" id="{676349B7-AB5B-459E-BEF5-9DB07ADBD13F}"/>
              </a:ext>
            </a:extLst>
          </p:cNvPr>
          <p:cNvPicPr>
            <a:picLocks noGrp="1" noChangeAspect="1"/>
          </p:cNvPicPr>
          <p:nvPr>
            <p:ph idx="1"/>
          </p:nvPr>
        </p:nvPicPr>
        <p:blipFill>
          <a:blip r:embed="rId2"/>
          <a:stretch>
            <a:fillRect/>
          </a:stretch>
        </p:blipFill>
        <p:spPr>
          <a:xfrm>
            <a:off x="2362200" y="1082267"/>
            <a:ext cx="7256504" cy="4693465"/>
          </a:xfrm>
          <a:prstGeom prst="rect">
            <a:avLst/>
          </a:prstGeom>
        </p:spPr>
      </p:pic>
    </p:spTree>
    <p:extLst>
      <p:ext uri="{BB962C8B-B14F-4D97-AF65-F5344CB8AC3E}">
        <p14:creationId xmlns:p14="http://schemas.microsoft.com/office/powerpoint/2010/main" val="11580925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58D66-99C3-4B1B-8E4A-B0165FC2482F}"/>
              </a:ext>
            </a:extLst>
          </p:cNvPr>
          <p:cNvSpPr>
            <a:spLocks noGrp="1"/>
          </p:cNvSpPr>
          <p:nvPr>
            <p:ph type="title"/>
          </p:nvPr>
        </p:nvSpPr>
        <p:spPr/>
        <p:txBody>
          <a:bodyPr/>
          <a:lstStyle/>
          <a:p>
            <a:r>
              <a:rPr lang="en-US" b="1" dirty="0"/>
              <a:t>1</a:t>
            </a:r>
            <a:r>
              <a:rPr lang="en-US" b="1" baseline="30000" dirty="0"/>
              <a:t>st</a:t>
            </a:r>
            <a:r>
              <a:rPr lang="en-US" b="1" dirty="0"/>
              <a:t> Gen: Packet Filtering Firewalls</a:t>
            </a:r>
            <a:endParaRPr lang="en-US" dirty="0"/>
          </a:p>
        </p:txBody>
      </p:sp>
      <p:sp>
        <p:nvSpPr>
          <p:cNvPr id="3" name="Content Placeholder 2">
            <a:extLst>
              <a:ext uri="{FF2B5EF4-FFF2-40B4-BE49-F238E27FC236}">
                <a16:creationId xmlns:a16="http://schemas.microsoft.com/office/drawing/2014/main" id="{4E264568-541A-498B-9FE2-012D120295B8}"/>
              </a:ext>
            </a:extLst>
          </p:cNvPr>
          <p:cNvSpPr>
            <a:spLocks noGrp="1"/>
          </p:cNvSpPr>
          <p:nvPr>
            <p:ph idx="1"/>
          </p:nvPr>
        </p:nvSpPr>
        <p:spPr>
          <a:xfrm>
            <a:off x="1143000" y="914400"/>
            <a:ext cx="10805160" cy="5262789"/>
          </a:xfrm>
        </p:spPr>
        <p:txBody>
          <a:bodyPr>
            <a:normAutofit fontScale="92500" lnSpcReduction="10000"/>
          </a:bodyPr>
          <a:lstStyle/>
          <a:p>
            <a:r>
              <a:rPr lang="en-US" sz="2400" dirty="0"/>
              <a:t>1st generation and most basic type of firewall.</a:t>
            </a:r>
          </a:p>
          <a:p>
            <a:r>
              <a:rPr lang="en-US" sz="2400" dirty="0"/>
              <a:t>They inspect all data packets that attempt to traverse it, and based on predefined rules, packets are either allowed or denied.</a:t>
            </a:r>
          </a:p>
          <a:p>
            <a:r>
              <a:rPr lang="en-US" sz="2400" dirty="0"/>
              <a:t>These predefined rules are commonly called an Access Control List (ACL).</a:t>
            </a:r>
          </a:p>
          <a:p>
            <a:r>
              <a:rPr lang="en-US" sz="2400" dirty="0"/>
              <a:t>Considered Stateless Firewalls.</a:t>
            </a:r>
          </a:p>
          <a:p>
            <a:r>
              <a:rPr lang="en-US" sz="2400" dirty="0"/>
              <a:t>Packet filtering rules are common TCP/IP packet attributes:</a:t>
            </a:r>
          </a:p>
          <a:p>
            <a:pPr lvl="1"/>
            <a:r>
              <a:rPr lang="en-US" sz="2400" b="1" dirty="0"/>
              <a:t>IP Address</a:t>
            </a:r>
            <a:endParaRPr lang="en-US" sz="2400" dirty="0"/>
          </a:p>
          <a:p>
            <a:pPr lvl="2"/>
            <a:r>
              <a:rPr lang="en-US" sz="1800" dirty="0"/>
              <a:t>Source IP Address</a:t>
            </a:r>
          </a:p>
          <a:p>
            <a:pPr lvl="2"/>
            <a:r>
              <a:rPr lang="en-US" sz="1800" dirty="0"/>
              <a:t>Destination IP Address</a:t>
            </a:r>
          </a:p>
          <a:p>
            <a:pPr lvl="1"/>
            <a:r>
              <a:rPr lang="en-US" sz="2400" b="1" dirty="0"/>
              <a:t>TCP/UDP Port</a:t>
            </a:r>
            <a:endParaRPr lang="en-US" sz="2400" dirty="0"/>
          </a:p>
          <a:p>
            <a:pPr lvl="2"/>
            <a:r>
              <a:rPr lang="en-US" sz="1800" dirty="0"/>
              <a:t>Source TCP/UDP Port</a:t>
            </a:r>
          </a:p>
          <a:p>
            <a:pPr lvl="2"/>
            <a:r>
              <a:rPr lang="en-US" sz="1800" dirty="0"/>
              <a:t>Destination TCP/UDP Port</a:t>
            </a:r>
          </a:p>
          <a:p>
            <a:pPr lvl="1"/>
            <a:r>
              <a:rPr lang="en-US" sz="2400" b="1" dirty="0"/>
              <a:t>Inbound or Outbound</a:t>
            </a:r>
            <a:endParaRPr lang="en-US" sz="2400" dirty="0"/>
          </a:p>
          <a:p>
            <a:pPr lvl="2"/>
            <a:r>
              <a:rPr lang="en-US" sz="1800" dirty="0"/>
              <a:t>Inbound Firewall Network Interface</a:t>
            </a:r>
          </a:p>
          <a:p>
            <a:pPr lvl="2"/>
            <a:r>
              <a:rPr lang="en-US" sz="1800" dirty="0"/>
              <a:t>Outbound Firewall Network Interface</a:t>
            </a:r>
          </a:p>
          <a:p>
            <a:endParaRPr lang="en-US" sz="2400" dirty="0"/>
          </a:p>
          <a:p>
            <a:endParaRPr lang="en-US" sz="2400" dirty="0"/>
          </a:p>
          <a:p>
            <a:endParaRPr lang="en-US" sz="2400" dirty="0"/>
          </a:p>
        </p:txBody>
      </p:sp>
    </p:spTree>
    <p:extLst>
      <p:ext uri="{BB962C8B-B14F-4D97-AF65-F5344CB8AC3E}">
        <p14:creationId xmlns:p14="http://schemas.microsoft.com/office/powerpoint/2010/main" val="3415312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58D66-99C3-4B1B-8E4A-B0165FC2482F}"/>
              </a:ext>
            </a:extLst>
          </p:cNvPr>
          <p:cNvSpPr>
            <a:spLocks noGrp="1"/>
          </p:cNvSpPr>
          <p:nvPr>
            <p:ph type="title"/>
          </p:nvPr>
        </p:nvSpPr>
        <p:spPr/>
        <p:txBody>
          <a:bodyPr/>
          <a:lstStyle/>
          <a:p>
            <a:r>
              <a:rPr lang="en-US" b="1" dirty="0"/>
              <a:t>1</a:t>
            </a:r>
            <a:r>
              <a:rPr lang="en-US" b="1" baseline="30000" dirty="0"/>
              <a:t>st</a:t>
            </a:r>
            <a:r>
              <a:rPr lang="en-US" b="1" dirty="0"/>
              <a:t> Gen: Packet Filtering Firewalls</a:t>
            </a:r>
            <a:endParaRPr lang="en-US" dirty="0"/>
          </a:p>
        </p:txBody>
      </p:sp>
      <p:sp>
        <p:nvSpPr>
          <p:cNvPr id="3" name="Content Placeholder 2">
            <a:extLst>
              <a:ext uri="{FF2B5EF4-FFF2-40B4-BE49-F238E27FC236}">
                <a16:creationId xmlns:a16="http://schemas.microsoft.com/office/drawing/2014/main" id="{4E264568-541A-498B-9FE2-012D120295B8}"/>
              </a:ext>
            </a:extLst>
          </p:cNvPr>
          <p:cNvSpPr>
            <a:spLocks noGrp="1"/>
          </p:cNvSpPr>
          <p:nvPr>
            <p:ph idx="1"/>
          </p:nvPr>
        </p:nvSpPr>
        <p:spPr>
          <a:xfrm>
            <a:off x="914400" y="988105"/>
            <a:ext cx="10805160" cy="4881789"/>
          </a:xfrm>
        </p:spPr>
        <p:txBody>
          <a:bodyPr>
            <a:normAutofit/>
          </a:bodyPr>
          <a:lstStyle/>
          <a:p>
            <a:r>
              <a:rPr lang="en-US" dirty="0"/>
              <a:t>Widespread packet filter software (Linux):</a:t>
            </a:r>
          </a:p>
          <a:p>
            <a:pPr lvl="1"/>
            <a:r>
              <a:rPr lang="en-US" dirty="0"/>
              <a:t>iptables / </a:t>
            </a:r>
            <a:r>
              <a:rPr lang="en-US" dirty="0" err="1"/>
              <a:t>netfilter</a:t>
            </a:r>
            <a:endParaRPr lang="en-US" dirty="0"/>
          </a:p>
          <a:p>
            <a:pPr lvl="1"/>
            <a:r>
              <a:rPr lang="en-US" dirty="0" err="1"/>
              <a:t>nft</a:t>
            </a:r>
            <a:r>
              <a:rPr lang="en-US" dirty="0"/>
              <a:t> / </a:t>
            </a:r>
            <a:r>
              <a:rPr lang="en-US" dirty="0" err="1"/>
              <a:t>nttables</a:t>
            </a:r>
            <a:endParaRPr lang="en-US" dirty="0"/>
          </a:p>
          <a:p>
            <a:r>
              <a:rPr lang="en-US" dirty="0"/>
              <a:t>Examples (iptables)</a:t>
            </a:r>
          </a:p>
          <a:p>
            <a:pPr lvl="1">
              <a:buFont typeface="Wingdings" panose="05000000000000000000" pitchFamily="2" charset="2"/>
              <a:buChar char="q"/>
            </a:pPr>
            <a:r>
              <a:rPr lang="en-US" dirty="0">
                <a:latin typeface="Yu Gothic UI Light" panose="020B0300000000000000" pitchFamily="34" charset="-128"/>
                <a:ea typeface="Yu Gothic UI Light" panose="020B0300000000000000" pitchFamily="34" charset="-128"/>
              </a:rPr>
              <a:t> iptables -A FORWARD -s 131.234.142.33 -j ACCEPT</a:t>
            </a:r>
          </a:p>
          <a:p>
            <a:pPr lvl="1"/>
            <a:r>
              <a:rPr lang="en-US" dirty="0"/>
              <a:t>All packets from source IP Address 131.234.142.33 are accepted</a:t>
            </a:r>
          </a:p>
          <a:p>
            <a:pPr lvl="1">
              <a:buFont typeface="Wingdings" panose="05000000000000000000" pitchFamily="2" charset="2"/>
              <a:buChar char="q"/>
            </a:pPr>
            <a:r>
              <a:rPr lang="en-US" dirty="0"/>
              <a:t> </a:t>
            </a:r>
            <a:r>
              <a:rPr lang="en-US" dirty="0">
                <a:latin typeface="Yu Gothic UI Light" panose="020B0300000000000000" pitchFamily="34" charset="-128"/>
                <a:ea typeface="Yu Gothic UI Light" panose="020B0300000000000000" pitchFamily="34" charset="-128"/>
              </a:rPr>
              <a:t>iptables -A FORWARD -p </a:t>
            </a:r>
            <a:r>
              <a:rPr lang="en-US" dirty="0" err="1">
                <a:latin typeface="Yu Gothic UI Light" panose="020B0300000000000000" pitchFamily="34" charset="-128"/>
                <a:ea typeface="Yu Gothic UI Light" panose="020B0300000000000000" pitchFamily="34" charset="-128"/>
              </a:rPr>
              <a:t>tcp</a:t>
            </a:r>
            <a:r>
              <a:rPr lang="en-US" dirty="0">
                <a:latin typeface="Yu Gothic UI Light" panose="020B0300000000000000" pitchFamily="34" charset="-128"/>
                <a:ea typeface="Yu Gothic UI Light" panose="020B0300000000000000" pitchFamily="34" charset="-128"/>
              </a:rPr>
              <a:t> d 10.0.0.56 --</a:t>
            </a:r>
            <a:r>
              <a:rPr lang="en-US" dirty="0" err="1">
                <a:latin typeface="Yu Gothic UI Light" panose="020B0300000000000000" pitchFamily="34" charset="-128"/>
                <a:ea typeface="Yu Gothic UI Light" panose="020B0300000000000000" pitchFamily="34" charset="-128"/>
              </a:rPr>
              <a:t>dport</a:t>
            </a:r>
            <a:r>
              <a:rPr lang="en-US" dirty="0">
                <a:latin typeface="Yu Gothic UI Light" panose="020B0300000000000000" pitchFamily="34" charset="-128"/>
                <a:ea typeface="Yu Gothic UI Light" panose="020B0300000000000000" pitchFamily="34" charset="-128"/>
              </a:rPr>
              <a:t> 22 -j ACCEPT</a:t>
            </a:r>
          </a:p>
          <a:p>
            <a:pPr lvl="1"/>
            <a:r>
              <a:rPr lang="en-US" dirty="0"/>
              <a:t>All packets using transport protocol and destination address 10.0.0.56 and destination port 22 are accepted</a:t>
            </a:r>
          </a:p>
          <a:p>
            <a:endParaRPr lang="en-US" dirty="0"/>
          </a:p>
          <a:p>
            <a:endParaRPr lang="en-US" dirty="0"/>
          </a:p>
        </p:txBody>
      </p:sp>
    </p:spTree>
    <p:extLst>
      <p:ext uri="{BB962C8B-B14F-4D97-AF65-F5344CB8AC3E}">
        <p14:creationId xmlns:p14="http://schemas.microsoft.com/office/powerpoint/2010/main" val="30066806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435B1-1C18-4095-A223-5586F55EC183}"/>
              </a:ext>
            </a:extLst>
          </p:cNvPr>
          <p:cNvSpPr>
            <a:spLocks noGrp="1"/>
          </p:cNvSpPr>
          <p:nvPr>
            <p:ph type="title"/>
          </p:nvPr>
        </p:nvSpPr>
        <p:spPr/>
        <p:txBody>
          <a:bodyPr/>
          <a:lstStyle/>
          <a:p>
            <a:r>
              <a:rPr lang="en-US" dirty="0"/>
              <a:t>Problems with Stateless Filtering</a:t>
            </a:r>
          </a:p>
        </p:txBody>
      </p:sp>
      <p:sp>
        <p:nvSpPr>
          <p:cNvPr id="3" name="Content Placeholder 2">
            <a:extLst>
              <a:ext uri="{FF2B5EF4-FFF2-40B4-BE49-F238E27FC236}">
                <a16:creationId xmlns:a16="http://schemas.microsoft.com/office/drawing/2014/main" id="{FB9E6EFB-9E16-4DCA-87E2-C988D31B4E9F}"/>
              </a:ext>
            </a:extLst>
          </p:cNvPr>
          <p:cNvSpPr>
            <a:spLocks noGrp="1"/>
          </p:cNvSpPr>
          <p:nvPr>
            <p:ph idx="1"/>
          </p:nvPr>
        </p:nvSpPr>
        <p:spPr/>
        <p:txBody>
          <a:bodyPr>
            <a:normAutofit/>
          </a:bodyPr>
          <a:lstStyle/>
          <a:p>
            <a:r>
              <a:rPr lang="en-US" dirty="0"/>
              <a:t>Assume a typical security policy</a:t>
            </a:r>
          </a:p>
          <a:p>
            <a:pPr lvl="1"/>
            <a:r>
              <a:rPr lang="en-US" dirty="0"/>
              <a:t>Access from internal to external allowed</a:t>
            </a:r>
          </a:p>
          <a:p>
            <a:pPr lvl="1"/>
            <a:r>
              <a:rPr lang="en-US" dirty="0"/>
              <a:t>Access from external to internal prohibited</a:t>
            </a:r>
          </a:p>
          <a:p>
            <a:r>
              <a:rPr lang="en-US" dirty="0"/>
              <a:t>It must investigate all the packets coming in or going out the network. </a:t>
            </a:r>
          </a:p>
          <a:p>
            <a:r>
              <a:rPr lang="en-US" dirty="0"/>
              <a:t>Naive packet filter configuration:</a:t>
            </a:r>
          </a:p>
          <a:p>
            <a:pPr lvl="1"/>
            <a:r>
              <a:rPr lang="en-US" dirty="0"/>
              <a:t>outgoing packet forward</a:t>
            </a:r>
          </a:p>
          <a:p>
            <a:pPr lvl="1"/>
            <a:r>
              <a:rPr lang="en-US" dirty="0"/>
              <a:t>incoming packet reject</a:t>
            </a:r>
          </a:p>
          <a:p>
            <a:pPr marL="0" indent="0">
              <a:buNone/>
            </a:pPr>
            <a:endParaRPr lang="en-US" dirty="0"/>
          </a:p>
        </p:txBody>
      </p:sp>
    </p:spTree>
    <p:extLst>
      <p:ext uri="{BB962C8B-B14F-4D97-AF65-F5344CB8AC3E}">
        <p14:creationId xmlns:p14="http://schemas.microsoft.com/office/powerpoint/2010/main" val="7701607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EF767-AE69-4000-AF7B-FCADF0040CAB}"/>
              </a:ext>
            </a:extLst>
          </p:cNvPr>
          <p:cNvSpPr>
            <a:spLocks noGrp="1"/>
          </p:cNvSpPr>
          <p:nvPr>
            <p:ph type="title"/>
          </p:nvPr>
        </p:nvSpPr>
        <p:spPr/>
        <p:txBody>
          <a:bodyPr/>
          <a:lstStyle/>
          <a:p>
            <a:r>
              <a:rPr lang="en-US" b="1" dirty="0"/>
              <a:t>2</a:t>
            </a:r>
            <a:r>
              <a:rPr lang="en-US" b="1" baseline="30000" dirty="0"/>
              <a:t>nd</a:t>
            </a:r>
            <a:r>
              <a:rPr lang="en-US" b="1" dirty="0"/>
              <a:t> Gen: Stateful Inspection Firewalls</a:t>
            </a:r>
            <a:endParaRPr lang="en-US" dirty="0"/>
          </a:p>
        </p:txBody>
      </p:sp>
      <p:sp>
        <p:nvSpPr>
          <p:cNvPr id="3" name="Content Placeholder 2">
            <a:extLst>
              <a:ext uri="{FF2B5EF4-FFF2-40B4-BE49-F238E27FC236}">
                <a16:creationId xmlns:a16="http://schemas.microsoft.com/office/drawing/2014/main" id="{7E2B33D8-70A7-4C5B-ADA6-609F5BCEEC6B}"/>
              </a:ext>
            </a:extLst>
          </p:cNvPr>
          <p:cNvSpPr>
            <a:spLocks noGrp="1"/>
          </p:cNvSpPr>
          <p:nvPr>
            <p:ph idx="1"/>
          </p:nvPr>
        </p:nvSpPr>
        <p:spPr/>
        <p:txBody>
          <a:bodyPr>
            <a:normAutofit/>
          </a:bodyPr>
          <a:lstStyle/>
          <a:p>
            <a:r>
              <a:rPr lang="en-US" dirty="0"/>
              <a:t>Operate at the Transport Layer of the OSI Model (Layer 4) and monitor TCP sessions.</a:t>
            </a:r>
          </a:p>
          <a:p>
            <a:r>
              <a:rPr lang="en-US" dirty="0"/>
              <a:t>Determine the legitimacy of a requested session by monitoring the 3-way handshake between packets.</a:t>
            </a:r>
          </a:p>
          <a:p>
            <a:r>
              <a:rPr lang="en-US" dirty="0"/>
              <a:t>Valid TCP sessions are allowed to pass, while invalid and terminated sessions are not.</a:t>
            </a:r>
          </a:p>
          <a:p>
            <a:endParaRPr lang="en-US" dirty="0"/>
          </a:p>
        </p:txBody>
      </p:sp>
      <p:pic>
        <p:nvPicPr>
          <p:cNvPr id="4" name="Picture 3">
            <a:extLst>
              <a:ext uri="{FF2B5EF4-FFF2-40B4-BE49-F238E27FC236}">
                <a16:creationId xmlns:a16="http://schemas.microsoft.com/office/drawing/2014/main" id="{EE3C4A3B-B170-4F1F-8FD8-F548B99906C5}"/>
              </a:ext>
            </a:extLst>
          </p:cNvPr>
          <p:cNvPicPr>
            <a:picLocks noChangeAspect="1"/>
          </p:cNvPicPr>
          <p:nvPr/>
        </p:nvPicPr>
        <p:blipFill>
          <a:blip r:embed="rId2"/>
          <a:stretch>
            <a:fillRect/>
          </a:stretch>
        </p:blipFill>
        <p:spPr>
          <a:xfrm>
            <a:off x="7074354" y="3996277"/>
            <a:ext cx="5117646" cy="2873755"/>
          </a:xfrm>
          <a:prstGeom prst="rect">
            <a:avLst/>
          </a:prstGeom>
        </p:spPr>
      </p:pic>
    </p:spTree>
    <p:extLst>
      <p:ext uri="{BB962C8B-B14F-4D97-AF65-F5344CB8AC3E}">
        <p14:creationId xmlns:p14="http://schemas.microsoft.com/office/powerpoint/2010/main" val="565824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A8A62-A972-4974-BEE1-97762AFF1C03}"/>
              </a:ext>
            </a:extLst>
          </p:cNvPr>
          <p:cNvSpPr>
            <a:spLocks noGrp="1"/>
          </p:cNvSpPr>
          <p:nvPr>
            <p:ph type="title"/>
          </p:nvPr>
        </p:nvSpPr>
        <p:spPr/>
        <p:txBody>
          <a:bodyPr/>
          <a:lstStyle/>
          <a:p>
            <a:r>
              <a:rPr lang="en-US" dirty="0"/>
              <a:t>(Stateful) Packet Filter: Evaluation</a:t>
            </a:r>
          </a:p>
        </p:txBody>
      </p:sp>
      <p:sp>
        <p:nvSpPr>
          <p:cNvPr id="3" name="Content Placeholder 2">
            <a:extLst>
              <a:ext uri="{FF2B5EF4-FFF2-40B4-BE49-F238E27FC236}">
                <a16:creationId xmlns:a16="http://schemas.microsoft.com/office/drawing/2014/main" id="{8C3B096D-5DF9-4CA5-A23E-A5B084EADE34}"/>
              </a:ext>
            </a:extLst>
          </p:cNvPr>
          <p:cNvSpPr>
            <a:spLocks noGrp="1"/>
          </p:cNvSpPr>
          <p:nvPr>
            <p:ph idx="1"/>
          </p:nvPr>
        </p:nvSpPr>
        <p:spPr/>
        <p:txBody>
          <a:bodyPr/>
          <a:lstStyle/>
          <a:p>
            <a:r>
              <a:rPr lang="en-US" dirty="0"/>
              <a:t>Strengths:</a:t>
            </a:r>
          </a:p>
          <a:p>
            <a:pPr lvl="1"/>
            <a:r>
              <a:rPr lang="en-US" dirty="0"/>
              <a:t>Low overhead and high throughput</a:t>
            </a:r>
          </a:p>
          <a:p>
            <a:pPr lvl="1"/>
            <a:r>
              <a:rPr lang="en-US" dirty="0"/>
              <a:t>Supports almost any application</a:t>
            </a:r>
          </a:p>
          <a:p>
            <a:r>
              <a:rPr lang="en-US" dirty="0"/>
              <a:t>Weaknesses:</a:t>
            </a:r>
          </a:p>
          <a:p>
            <a:pPr lvl="1"/>
            <a:r>
              <a:rPr lang="en-US" dirty="0"/>
              <a:t>Unable to interpret application layer data/commands</a:t>
            </a:r>
          </a:p>
          <a:p>
            <a:pPr lvl="1"/>
            <a:r>
              <a:rPr lang="en-US" dirty="0"/>
              <a:t>may allow insecure operations to occur</a:t>
            </a:r>
          </a:p>
          <a:p>
            <a:pPr lvl="1"/>
            <a:r>
              <a:rPr lang="en-US" dirty="0"/>
              <a:t>Allows direct connection between hosts inside &amp; outside firewall</a:t>
            </a:r>
          </a:p>
        </p:txBody>
      </p:sp>
    </p:spTree>
    <p:extLst>
      <p:ext uri="{BB962C8B-B14F-4D97-AF65-F5344CB8AC3E}">
        <p14:creationId xmlns:p14="http://schemas.microsoft.com/office/powerpoint/2010/main" val="24852549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7EC04-9394-454C-B2C1-2A549F23BB07}"/>
              </a:ext>
            </a:extLst>
          </p:cNvPr>
          <p:cNvSpPr>
            <a:spLocks noGrp="1"/>
          </p:cNvSpPr>
          <p:nvPr>
            <p:ph type="title"/>
          </p:nvPr>
        </p:nvSpPr>
        <p:spPr/>
        <p:txBody>
          <a:bodyPr/>
          <a:lstStyle/>
          <a:p>
            <a:r>
              <a:rPr lang="en-US" b="1" dirty="0"/>
              <a:t>3</a:t>
            </a:r>
            <a:r>
              <a:rPr lang="en-US" b="1" baseline="30000" dirty="0"/>
              <a:t>rd</a:t>
            </a:r>
            <a:r>
              <a:rPr lang="en-US" b="1" dirty="0"/>
              <a:t> Gen: Application-Level Firewalls</a:t>
            </a:r>
            <a:endParaRPr lang="en-US" dirty="0"/>
          </a:p>
        </p:txBody>
      </p:sp>
      <p:sp>
        <p:nvSpPr>
          <p:cNvPr id="3" name="Content Placeholder 2">
            <a:extLst>
              <a:ext uri="{FF2B5EF4-FFF2-40B4-BE49-F238E27FC236}">
                <a16:creationId xmlns:a16="http://schemas.microsoft.com/office/drawing/2014/main" id="{5A6FA0D4-D11F-4BF5-BF13-A64EB5B13DE4}"/>
              </a:ext>
            </a:extLst>
          </p:cNvPr>
          <p:cNvSpPr>
            <a:spLocks noGrp="1"/>
          </p:cNvSpPr>
          <p:nvPr>
            <p:ph idx="1"/>
          </p:nvPr>
        </p:nvSpPr>
        <p:spPr/>
        <p:txBody>
          <a:bodyPr>
            <a:normAutofit/>
          </a:bodyPr>
          <a:lstStyle/>
          <a:p>
            <a:r>
              <a:rPr lang="en-US" dirty="0"/>
              <a:t>Also known as proxy servers, these firewalls operate at the Application Layer of the OSI Model (Layer 7).</a:t>
            </a:r>
          </a:p>
          <a:p>
            <a:r>
              <a:rPr lang="en-US" dirty="0"/>
              <a:t>Can be configured to filter specific user applications</a:t>
            </a:r>
          </a:p>
          <a:p>
            <a:pPr lvl="1"/>
            <a:r>
              <a:rPr lang="en-US" dirty="0"/>
              <a:t>E.g. Facebook, </a:t>
            </a:r>
            <a:r>
              <a:rPr lang="en-US" dirty="0" err="1"/>
              <a:t>Youtube</a:t>
            </a:r>
            <a:r>
              <a:rPr lang="en-US" dirty="0"/>
              <a:t>, LinkedIn</a:t>
            </a:r>
          </a:p>
          <a:p>
            <a:pPr lvl="1"/>
            <a:r>
              <a:rPr lang="en-US" dirty="0"/>
              <a:t>Can filter detailed elements in each specific user application</a:t>
            </a:r>
          </a:p>
          <a:p>
            <a:r>
              <a:rPr lang="en-US" dirty="0"/>
              <a:t>Can provide intrusion detection and intrusion prevention</a:t>
            </a:r>
          </a:p>
          <a:p>
            <a:r>
              <a:rPr lang="en-US" dirty="0"/>
              <a:t>Very high processing load in firewall</a:t>
            </a:r>
          </a:p>
          <a:p>
            <a:pPr lvl="1"/>
            <a:r>
              <a:rPr lang="en-US" dirty="0"/>
              <a:t>High volume needs high performance hardware, or else will be slow</a:t>
            </a:r>
          </a:p>
        </p:txBody>
      </p:sp>
    </p:spTree>
    <p:extLst>
      <p:ext uri="{BB962C8B-B14F-4D97-AF65-F5344CB8AC3E}">
        <p14:creationId xmlns:p14="http://schemas.microsoft.com/office/powerpoint/2010/main" val="23868364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7EC04-9394-454C-B2C1-2A549F23BB07}"/>
              </a:ext>
            </a:extLst>
          </p:cNvPr>
          <p:cNvSpPr>
            <a:spLocks noGrp="1"/>
          </p:cNvSpPr>
          <p:nvPr>
            <p:ph type="title"/>
          </p:nvPr>
        </p:nvSpPr>
        <p:spPr/>
        <p:txBody>
          <a:bodyPr/>
          <a:lstStyle/>
          <a:p>
            <a:r>
              <a:rPr lang="en-US" b="1" dirty="0"/>
              <a:t>3</a:t>
            </a:r>
            <a:r>
              <a:rPr lang="en-US" b="1" baseline="30000" dirty="0"/>
              <a:t>rd</a:t>
            </a:r>
            <a:r>
              <a:rPr lang="en-US" b="1" dirty="0"/>
              <a:t> Gen: Application-Level Firewalls</a:t>
            </a:r>
            <a:endParaRPr lang="en-US" dirty="0"/>
          </a:p>
        </p:txBody>
      </p:sp>
      <p:sp>
        <p:nvSpPr>
          <p:cNvPr id="3" name="Content Placeholder 2">
            <a:extLst>
              <a:ext uri="{FF2B5EF4-FFF2-40B4-BE49-F238E27FC236}">
                <a16:creationId xmlns:a16="http://schemas.microsoft.com/office/drawing/2014/main" id="{5A6FA0D4-D11F-4BF5-BF13-A64EB5B13DE4}"/>
              </a:ext>
            </a:extLst>
          </p:cNvPr>
          <p:cNvSpPr>
            <a:spLocks noGrp="1"/>
          </p:cNvSpPr>
          <p:nvPr>
            <p:ph idx="1"/>
          </p:nvPr>
        </p:nvSpPr>
        <p:spPr/>
        <p:txBody>
          <a:bodyPr>
            <a:normAutofit/>
          </a:bodyPr>
          <a:lstStyle/>
          <a:p>
            <a:r>
              <a:rPr lang="en-US" dirty="0"/>
              <a:t>Specifically, proxy servers can provide the following services:</a:t>
            </a:r>
          </a:p>
          <a:p>
            <a:pPr lvl="1"/>
            <a:r>
              <a:rPr lang="en-US" b="1" dirty="0"/>
              <a:t>Filter</a:t>
            </a:r>
            <a:r>
              <a:rPr lang="en-US" dirty="0"/>
              <a:t>: Filters packets based on an application or service (FTP, SMTP, etc.).</a:t>
            </a:r>
          </a:p>
          <a:p>
            <a:pPr lvl="1"/>
            <a:r>
              <a:rPr lang="en-US" b="1" dirty="0"/>
              <a:t>Caching</a:t>
            </a:r>
            <a:r>
              <a:rPr lang="en-US" dirty="0"/>
              <a:t>: Provides caching services, for example:</a:t>
            </a:r>
          </a:p>
          <a:p>
            <a:pPr lvl="2">
              <a:buFont typeface="Wingdings" panose="05000000000000000000" pitchFamily="2" charset="2"/>
              <a:buChar char="Ø"/>
            </a:pPr>
            <a:r>
              <a:rPr lang="en-US" dirty="0"/>
              <a:t>When you request a page from a website, the proxy server will retrieve it and then cache it in its memory. </a:t>
            </a:r>
          </a:p>
          <a:p>
            <a:pPr lvl="2">
              <a:buFont typeface="Wingdings" panose="05000000000000000000" pitchFamily="2" charset="2"/>
              <a:buChar char="Ø"/>
            </a:pPr>
            <a:r>
              <a:rPr lang="en-US" dirty="0"/>
              <a:t>The next time someone requests that website, the proxy server can retrieve it from its cache.</a:t>
            </a:r>
          </a:p>
          <a:p>
            <a:pPr lvl="2">
              <a:buFont typeface="Wingdings" panose="05000000000000000000" pitchFamily="2" charset="2"/>
              <a:buChar char="Ø"/>
            </a:pPr>
            <a:r>
              <a:rPr lang="en-US" dirty="0"/>
              <a:t>This saves Internet bandwidth.</a:t>
            </a:r>
          </a:p>
          <a:p>
            <a:pPr lvl="1"/>
            <a:r>
              <a:rPr lang="en-US" b="1" dirty="0"/>
              <a:t>Logging</a:t>
            </a:r>
            <a:r>
              <a:rPr lang="en-US" dirty="0"/>
              <a:t>: Has the ability to log user activity for auditing purposes.</a:t>
            </a:r>
          </a:p>
          <a:p>
            <a:endParaRPr lang="en-US" dirty="0"/>
          </a:p>
        </p:txBody>
      </p:sp>
    </p:spTree>
    <p:extLst>
      <p:ext uri="{BB962C8B-B14F-4D97-AF65-F5344CB8AC3E}">
        <p14:creationId xmlns:p14="http://schemas.microsoft.com/office/powerpoint/2010/main" val="31748858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EBEAF-B677-42A0-BF0A-AECEC35C0C47}"/>
              </a:ext>
            </a:extLst>
          </p:cNvPr>
          <p:cNvSpPr>
            <a:spLocks noGrp="1"/>
          </p:cNvSpPr>
          <p:nvPr>
            <p:ph type="title"/>
          </p:nvPr>
        </p:nvSpPr>
        <p:spPr/>
        <p:txBody>
          <a:bodyPr/>
          <a:lstStyle/>
          <a:p>
            <a:r>
              <a:rPr lang="en-US" b="1" dirty="0"/>
              <a:t>3</a:t>
            </a:r>
            <a:r>
              <a:rPr lang="en-US" b="1" baseline="30000" dirty="0"/>
              <a:t>rd</a:t>
            </a:r>
            <a:r>
              <a:rPr lang="en-US" b="1" dirty="0"/>
              <a:t> Gen: Application-Level Firewalls</a:t>
            </a:r>
            <a:endParaRPr lang="en-US" dirty="0"/>
          </a:p>
        </p:txBody>
      </p:sp>
      <p:sp>
        <p:nvSpPr>
          <p:cNvPr id="3" name="Content Placeholder 2">
            <a:extLst>
              <a:ext uri="{FF2B5EF4-FFF2-40B4-BE49-F238E27FC236}">
                <a16:creationId xmlns:a16="http://schemas.microsoft.com/office/drawing/2014/main" id="{6967641A-08D9-40BE-B11D-A3762B227715}"/>
              </a:ext>
            </a:extLst>
          </p:cNvPr>
          <p:cNvSpPr>
            <a:spLocks noGrp="1"/>
          </p:cNvSpPr>
          <p:nvPr>
            <p:ph idx="1"/>
          </p:nvPr>
        </p:nvSpPr>
        <p:spPr/>
        <p:txBody>
          <a:bodyPr/>
          <a:lstStyle/>
          <a:p>
            <a:r>
              <a:rPr lang="en-US" dirty="0"/>
              <a:t>Strengths:</a:t>
            </a:r>
          </a:p>
          <a:p>
            <a:pPr lvl="1"/>
            <a:r>
              <a:rPr lang="en-US" dirty="0"/>
              <a:t>Easy logging and audit of all incoming traffic</a:t>
            </a:r>
          </a:p>
          <a:p>
            <a:pPr lvl="1"/>
            <a:r>
              <a:rPr lang="en-US" dirty="0"/>
              <a:t>Provides potential for best security through control of application layer data/commands</a:t>
            </a:r>
          </a:p>
          <a:p>
            <a:r>
              <a:rPr lang="en-US" dirty="0"/>
              <a:t>Weaknesses:</a:t>
            </a:r>
          </a:p>
          <a:p>
            <a:pPr lvl="1"/>
            <a:r>
              <a:rPr lang="en-US" dirty="0"/>
              <a:t>May require some time for adapting to new applications</a:t>
            </a:r>
          </a:p>
          <a:p>
            <a:pPr lvl="1"/>
            <a:r>
              <a:rPr lang="en-US" dirty="0"/>
              <a:t>Much slower than packet filters</a:t>
            </a:r>
          </a:p>
          <a:p>
            <a:pPr lvl="1"/>
            <a:r>
              <a:rPr lang="en-US" dirty="0"/>
              <a:t>Much more expensive than packet filters</a:t>
            </a:r>
          </a:p>
        </p:txBody>
      </p:sp>
    </p:spTree>
    <p:extLst>
      <p:ext uri="{BB962C8B-B14F-4D97-AF65-F5344CB8AC3E}">
        <p14:creationId xmlns:p14="http://schemas.microsoft.com/office/powerpoint/2010/main" val="2655110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Firewalls Can and Cannot Do</a:t>
            </a:r>
          </a:p>
        </p:txBody>
      </p:sp>
      <p:sp>
        <p:nvSpPr>
          <p:cNvPr id="3" name="Content Placeholder 2"/>
          <p:cNvSpPr>
            <a:spLocks noGrp="1"/>
          </p:cNvSpPr>
          <p:nvPr>
            <p:ph idx="1"/>
          </p:nvPr>
        </p:nvSpPr>
        <p:spPr>
          <a:xfrm>
            <a:off x="609600" y="838200"/>
            <a:ext cx="10972800" cy="5135563"/>
          </a:xfrm>
        </p:spPr>
        <p:txBody>
          <a:bodyPr>
            <a:noAutofit/>
          </a:bodyPr>
          <a:lstStyle/>
          <a:p>
            <a:r>
              <a:rPr lang="en-US" sz="2800" dirty="0"/>
              <a:t>Firewalls can protect an environment only if they control the entire perimeter</a:t>
            </a:r>
          </a:p>
          <a:p>
            <a:r>
              <a:rPr lang="en-US" sz="2800" dirty="0"/>
              <a:t>Firewalls do not protect data outside the perimeter</a:t>
            </a:r>
          </a:p>
          <a:p>
            <a:r>
              <a:rPr lang="en-US" sz="2800" dirty="0"/>
              <a:t>Firewalls are the most visible part of an installation to the outside, so they are an attractive target for attack</a:t>
            </a:r>
          </a:p>
          <a:p>
            <a:r>
              <a:rPr lang="en-US" sz="2800" dirty="0"/>
              <a:t>Firewalls must be correctly configured, that configuration must be updated as the environment changes, and firewall activity reports must be reviewed periodically for evidence of attempted or successful intrusion</a:t>
            </a:r>
          </a:p>
          <a:p>
            <a:r>
              <a:rPr lang="en-US" sz="2800" dirty="0"/>
              <a:t>Firewalls exercise only minor control over the content admitted to the inside, meaning that inaccurate or malicious code must be controlled by means inside the perimeter</a:t>
            </a:r>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35</a:t>
            </a:fld>
            <a:endParaRPr lang="en-US">
              <a:latin typeface="Arial"/>
            </a:endParaRPr>
          </a:p>
        </p:txBody>
      </p:sp>
    </p:spTree>
    <p:extLst>
      <p:ext uri="{BB962C8B-B14F-4D97-AF65-F5344CB8AC3E}">
        <p14:creationId xmlns:p14="http://schemas.microsoft.com/office/powerpoint/2010/main" val="32609109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8CDFC-6C5C-4378-8FF1-5BEE33F434D1}"/>
              </a:ext>
            </a:extLst>
          </p:cNvPr>
          <p:cNvSpPr>
            <a:spLocks noGrp="1"/>
          </p:cNvSpPr>
          <p:nvPr>
            <p:ph type="title"/>
          </p:nvPr>
        </p:nvSpPr>
        <p:spPr/>
        <p:txBody>
          <a:bodyPr/>
          <a:lstStyle/>
          <a:p>
            <a:r>
              <a:rPr lang="en-US" dirty="0"/>
              <a:t>Intrusion Detection and Prevention</a:t>
            </a:r>
          </a:p>
        </p:txBody>
      </p:sp>
      <p:sp>
        <p:nvSpPr>
          <p:cNvPr id="3" name="Content Placeholder 2">
            <a:extLst>
              <a:ext uri="{FF2B5EF4-FFF2-40B4-BE49-F238E27FC236}">
                <a16:creationId xmlns:a16="http://schemas.microsoft.com/office/drawing/2014/main" id="{5AB99D23-17AF-4365-852D-E600F9093A7D}"/>
              </a:ext>
            </a:extLst>
          </p:cNvPr>
          <p:cNvSpPr>
            <a:spLocks noGrp="1"/>
          </p:cNvSpPr>
          <p:nvPr>
            <p:ph idx="1"/>
          </p:nvPr>
        </p:nvSpPr>
        <p:spPr/>
        <p:txBody>
          <a:bodyPr>
            <a:normAutofit fontScale="92500" lnSpcReduction="20000"/>
          </a:bodyPr>
          <a:lstStyle/>
          <a:p>
            <a:r>
              <a:rPr lang="en-US" dirty="0"/>
              <a:t>Intrusion</a:t>
            </a:r>
          </a:p>
          <a:p>
            <a:pPr lvl="1"/>
            <a:r>
              <a:rPr lang="en-US" dirty="0"/>
              <a:t>Actions aimed at compromising the security of a target network (confidentiality, integrity, availability of resources)</a:t>
            </a:r>
          </a:p>
          <a:p>
            <a:r>
              <a:rPr lang="en-US" dirty="0"/>
              <a:t>Intrusions have many causes, such as malware (worms, spyware, </a:t>
            </a:r>
            <a:r>
              <a:rPr lang="en-US" dirty="0" err="1"/>
              <a:t>etc</a:t>
            </a:r>
            <a:r>
              <a:rPr lang="en-US" dirty="0"/>
              <a:t>…), attackers gaining unauthorized access to systems from the Internet, and authorized users of systems who misuse their privileges or attempt to gain additional privileges for which they are not authorized. </a:t>
            </a:r>
          </a:p>
          <a:p>
            <a:r>
              <a:rPr lang="en-US" dirty="0"/>
              <a:t>Although many intrusions are malicious in nature, many others are not; for example: a person might mistype the address of a computer and accidentally attempt to connect to a different system without authorization. </a:t>
            </a:r>
          </a:p>
          <a:p>
            <a:endParaRPr lang="en-US" dirty="0"/>
          </a:p>
        </p:txBody>
      </p:sp>
    </p:spTree>
    <p:extLst>
      <p:ext uri="{BB962C8B-B14F-4D97-AF65-F5344CB8AC3E}">
        <p14:creationId xmlns:p14="http://schemas.microsoft.com/office/powerpoint/2010/main" val="30986559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8CDFC-6C5C-4378-8FF1-5BEE33F434D1}"/>
              </a:ext>
            </a:extLst>
          </p:cNvPr>
          <p:cNvSpPr>
            <a:spLocks noGrp="1"/>
          </p:cNvSpPr>
          <p:nvPr>
            <p:ph type="title"/>
          </p:nvPr>
        </p:nvSpPr>
        <p:spPr/>
        <p:txBody>
          <a:bodyPr/>
          <a:lstStyle/>
          <a:p>
            <a:r>
              <a:rPr lang="en-US" dirty="0"/>
              <a:t>Intrusion Detection and Prevention</a:t>
            </a:r>
          </a:p>
        </p:txBody>
      </p:sp>
      <p:sp>
        <p:nvSpPr>
          <p:cNvPr id="3" name="Content Placeholder 2">
            <a:extLst>
              <a:ext uri="{FF2B5EF4-FFF2-40B4-BE49-F238E27FC236}">
                <a16:creationId xmlns:a16="http://schemas.microsoft.com/office/drawing/2014/main" id="{5AB99D23-17AF-4365-852D-E600F9093A7D}"/>
              </a:ext>
            </a:extLst>
          </p:cNvPr>
          <p:cNvSpPr>
            <a:spLocks noGrp="1"/>
          </p:cNvSpPr>
          <p:nvPr>
            <p:ph idx="1"/>
          </p:nvPr>
        </p:nvSpPr>
        <p:spPr/>
        <p:txBody>
          <a:bodyPr>
            <a:normAutofit fontScale="92500" lnSpcReduction="20000"/>
          </a:bodyPr>
          <a:lstStyle/>
          <a:p>
            <a:r>
              <a:rPr lang="en-US" dirty="0"/>
              <a:t>Intrusion detection</a:t>
            </a:r>
          </a:p>
          <a:p>
            <a:pPr lvl="1"/>
            <a:r>
              <a:rPr lang="en-US" dirty="0"/>
              <a:t>The identification of possible intrusion through intrusion signatures and network activity analysis</a:t>
            </a:r>
          </a:p>
          <a:p>
            <a:pPr lvl="1"/>
            <a:r>
              <a:rPr lang="en-US" dirty="0"/>
              <a:t>IDS: Intrusion Detection Systems</a:t>
            </a:r>
          </a:p>
          <a:p>
            <a:r>
              <a:rPr lang="en-US" dirty="0"/>
              <a:t>Intrusion prevention</a:t>
            </a:r>
          </a:p>
          <a:p>
            <a:pPr lvl="1"/>
            <a:r>
              <a:rPr lang="en-US" dirty="0"/>
              <a:t>The process of both detecting intrusion activities and managing automatic responsive actions throughout the network</a:t>
            </a:r>
          </a:p>
          <a:p>
            <a:pPr lvl="1"/>
            <a:r>
              <a:rPr lang="en-US" dirty="0"/>
              <a:t>IPS: Intrusion Prevention Systems</a:t>
            </a:r>
          </a:p>
          <a:p>
            <a:pPr lvl="1"/>
            <a:r>
              <a:rPr lang="en-US" dirty="0"/>
              <a:t>IDPS: Intrusion Detection and Prevention Systems</a:t>
            </a:r>
          </a:p>
          <a:p>
            <a:r>
              <a:rPr lang="en-US" dirty="0"/>
              <a:t>IPSs combine IDSs and improved firewall technologies, they make access control decisions based on application content, rather than IP address or ports as traditional firewalls had done. </a:t>
            </a:r>
          </a:p>
          <a:p>
            <a:endParaRPr lang="en-US" dirty="0"/>
          </a:p>
        </p:txBody>
      </p:sp>
    </p:spTree>
    <p:extLst>
      <p:ext uri="{BB962C8B-B14F-4D97-AF65-F5344CB8AC3E}">
        <p14:creationId xmlns:p14="http://schemas.microsoft.com/office/powerpoint/2010/main" val="19362917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8CDFC-6C5C-4378-8FF1-5BEE33F434D1}"/>
              </a:ext>
            </a:extLst>
          </p:cNvPr>
          <p:cNvSpPr>
            <a:spLocks noGrp="1"/>
          </p:cNvSpPr>
          <p:nvPr>
            <p:ph type="title"/>
          </p:nvPr>
        </p:nvSpPr>
        <p:spPr/>
        <p:txBody>
          <a:bodyPr/>
          <a:lstStyle/>
          <a:p>
            <a:r>
              <a:rPr lang="en-US" dirty="0"/>
              <a:t>Intrusion Detection and Prevention</a:t>
            </a:r>
          </a:p>
        </p:txBody>
      </p:sp>
      <p:sp>
        <p:nvSpPr>
          <p:cNvPr id="3" name="Content Placeholder 2">
            <a:extLst>
              <a:ext uri="{FF2B5EF4-FFF2-40B4-BE49-F238E27FC236}">
                <a16:creationId xmlns:a16="http://schemas.microsoft.com/office/drawing/2014/main" id="{5AB99D23-17AF-4365-852D-E600F9093A7D}"/>
              </a:ext>
            </a:extLst>
          </p:cNvPr>
          <p:cNvSpPr>
            <a:spLocks noGrp="1"/>
          </p:cNvSpPr>
          <p:nvPr>
            <p:ph idx="1"/>
          </p:nvPr>
        </p:nvSpPr>
        <p:spPr/>
        <p:txBody>
          <a:bodyPr>
            <a:normAutofit/>
          </a:bodyPr>
          <a:lstStyle/>
          <a:p>
            <a:r>
              <a:rPr lang="en-US" dirty="0"/>
              <a:t>IDPSs are primarily focused on: </a:t>
            </a:r>
          </a:p>
          <a:p>
            <a:pPr lvl="1"/>
            <a:r>
              <a:rPr lang="en-US" dirty="0"/>
              <a:t>Identifying possible incidents, logging information about them, attempting to stop them, and reporting them to security administrators. </a:t>
            </a:r>
          </a:p>
          <a:p>
            <a:pPr lvl="1"/>
            <a:r>
              <a:rPr lang="en-US" dirty="0"/>
              <a:t>Identifying problems with security policies</a:t>
            </a:r>
          </a:p>
          <a:p>
            <a:pPr lvl="1"/>
            <a:r>
              <a:rPr lang="en-US" dirty="0"/>
              <a:t>Documenting existing threats</a:t>
            </a:r>
          </a:p>
          <a:p>
            <a:pPr lvl="1"/>
            <a:r>
              <a:rPr lang="en-US" dirty="0"/>
              <a:t>Deterring individuals from violating security policies. </a:t>
            </a:r>
          </a:p>
        </p:txBody>
      </p:sp>
    </p:spTree>
    <p:extLst>
      <p:ext uri="{BB962C8B-B14F-4D97-AF65-F5344CB8AC3E}">
        <p14:creationId xmlns:p14="http://schemas.microsoft.com/office/powerpoint/2010/main" val="37062603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89AB3-1154-45EC-8C7E-E0960BF19519}"/>
              </a:ext>
            </a:extLst>
          </p:cNvPr>
          <p:cNvSpPr>
            <a:spLocks noGrp="1"/>
          </p:cNvSpPr>
          <p:nvPr>
            <p:ph type="title"/>
          </p:nvPr>
        </p:nvSpPr>
        <p:spPr/>
        <p:txBody>
          <a:bodyPr/>
          <a:lstStyle/>
          <a:p>
            <a:r>
              <a:rPr lang="en-US" dirty="0"/>
              <a:t>IPS</a:t>
            </a:r>
          </a:p>
        </p:txBody>
      </p:sp>
      <p:sp>
        <p:nvSpPr>
          <p:cNvPr id="3" name="Content Placeholder 2">
            <a:extLst>
              <a:ext uri="{FF2B5EF4-FFF2-40B4-BE49-F238E27FC236}">
                <a16:creationId xmlns:a16="http://schemas.microsoft.com/office/drawing/2014/main" id="{86C2EF7A-0275-433C-8638-43395C83BC15}"/>
              </a:ext>
            </a:extLst>
          </p:cNvPr>
          <p:cNvSpPr>
            <a:spLocks noGrp="1"/>
          </p:cNvSpPr>
          <p:nvPr>
            <p:ph idx="1"/>
          </p:nvPr>
        </p:nvSpPr>
        <p:spPr/>
        <p:txBody>
          <a:bodyPr/>
          <a:lstStyle/>
          <a:p>
            <a:r>
              <a:rPr lang="en-US" dirty="0"/>
              <a:t>IPSs respond to a detected threat by attempting to prevent it from succeeding. They use several response techniques: </a:t>
            </a:r>
          </a:p>
          <a:p>
            <a:r>
              <a:rPr lang="en-US" dirty="0"/>
              <a:t>The IPS stops the attack itself. Examples:</a:t>
            </a:r>
          </a:p>
          <a:p>
            <a:pPr lvl="1"/>
            <a:r>
              <a:rPr lang="en-US" dirty="0"/>
              <a:t>Terminate the network connection or user session that is being used for the attack. Block access to the target (or possibly other likely targets) from the offending user account, IP address, or other attacker attribute. Block all access to the targeted host, service, application, or other resource.</a:t>
            </a:r>
          </a:p>
          <a:p>
            <a:endParaRPr lang="en-US" dirty="0"/>
          </a:p>
        </p:txBody>
      </p:sp>
    </p:spTree>
    <p:extLst>
      <p:ext uri="{BB962C8B-B14F-4D97-AF65-F5344CB8AC3E}">
        <p14:creationId xmlns:p14="http://schemas.microsoft.com/office/powerpoint/2010/main" val="33086499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89AB3-1154-45EC-8C7E-E0960BF19519}"/>
              </a:ext>
            </a:extLst>
          </p:cNvPr>
          <p:cNvSpPr>
            <a:spLocks noGrp="1"/>
          </p:cNvSpPr>
          <p:nvPr>
            <p:ph type="title"/>
          </p:nvPr>
        </p:nvSpPr>
        <p:spPr/>
        <p:txBody>
          <a:bodyPr/>
          <a:lstStyle/>
          <a:p>
            <a:r>
              <a:rPr lang="en-US" dirty="0"/>
              <a:t>IPS</a:t>
            </a:r>
          </a:p>
        </p:txBody>
      </p:sp>
      <p:sp>
        <p:nvSpPr>
          <p:cNvPr id="3" name="Content Placeholder 2">
            <a:extLst>
              <a:ext uri="{FF2B5EF4-FFF2-40B4-BE49-F238E27FC236}">
                <a16:creationId xmlns:a16="http://schemas.microsoft.com/office/drawing/2014/main" id="{86C2EF7A-0275-433C-8638-43395C83BC15}"/>
              </a:ext>
            </a:extLst>
          </p:cNvPr>
          <p:cNvSpPr>
            <a:spLocks noGrp="1"/>
          </p:cNvSpPr>
          <p:nvPr>
            <p:ph idx="1"/>
          </p:nvPr>
        </p:nvSpPr>
        <p:spPr/>
        <p:txBody>
          <a:bodyPr>
            <a:normAutofit fontScale="92500" lnSpcReduction="10000"/>
          </a:bodyPr>
          <a:lstStyle/>
          <a:p>
            <a:r>
              <a:rPr lang="en-US" dirty="0"/>
              <a:t>The IPS changes the security environment. The IPS could change the configuration of other security controls to disrupt an attack. Such as reconfiguring a network device (e.g., firewall, router, switch) to block access from the attacker or to the target, and altering a host-based firewall on a target to block incoming attacks. Some IPSs can even cause patches to be applied to a host if the IPS detects that the host has vulnerabilities. </a:t>
            </a:r>
          </a:p>
          <a:p>
            <a:r>
              <a:rPr lang="en-US" dirty="0"/>
              <a:t>The IPS changes the attack’s content. Some IPS technologies can remove or replace malicious portions of an attack to make it benign. An example is an IPS removing an infected file attachment from an e-mail and then permitting the cleaned email to reach its recipient. </a:t>
            </a:r>
          </a:p>
          <a:p>
            <a:endParaRPr lang="en-US" dirty="0"/>
          </a:p>
        </p:txBody>
      </p:sp>
    </p:spTree>
    <p:extLst>
      <p:ext uri="{BB962C8B-B14F-4D97-AF65-F5344CB8AC3E}">
        <p14:creationId xmlns:p14="http://schemas.microsoft.com/office/powerpoint/2010/main" val="14695899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300D133-927D-4E13-8719-87B3A0A0111E}"/>
              </a:ext>
            </a:extLst>
          </p:cNvPr>
          <p:cNvSpPr>
            <a:spLocks noGrp="1"/>
          </p:cNvSpPr>
          <p:nvPr>
            <p:ph type="sldNum" sz="quarter" idx="12"/>
          </p:nvPr>
        </p:nvSpPr>
        <p:spPr/>
        <p:txBody>
          <a:bodyPr/>
          <a:lstStyle/>
          <a:p>
            <a:fld id="{97545348-09D2-46C0-B2AF-21EC810DE674}" type="slidenum">
              <a:rPr lang="en-US" altLang="en-US"/>
              <a:pPr/>
              <a:t>41</a:t>
            </a:fld>
            <a:endParaRPr lang="en-US" altLang="en-US"/>
          </a:p>
        </p:txBody>
      </p:sp>
      <p:sp>
        <p:nvSpPr>
          <p:cNvPr id="16386" name="Rectangle 2">
            <a:extLst>
              <a:ext uri="{FF2B5EF4-FFF2-40B4-BE49-F238E27FC236}">
                <a16:creationId xmlns:a16="http://schemas.microsoft.com/office/drawing/2014/main" id="{C7AF8A11-59BB-4D43-A7BB-C78B2CE44E24}"/>
              </a:ext>
            </a:extLst>
          </p:cNvPr>
          <p:cNvSpPr>
            <a:spLocks noGrp="1" noChangeArrowheads="1"/>
          </p:cNvSpPr>
          <p:nvPr>
            <p:ph type="title"/>
          </p:nvPr>
        </p:nvSpPr>
        <p:spPr>
          <a:xfrm>
            <a:off x="1" y="4011"/>
            <a:ext cx="12192000" cy="681789"/>
          </a:xfrm>
        </p:spPr>
        <p:txBody>
          <a:bodyPr>
            <a:normAutofit/>
          </a:bodyPr>
          <a:lstStyle/>
          <a:p>
            <a:r>
              <a:rPr lang="en-US" altLang="en-US" dirty="0"/>
              <a:t>Classes of detection methodologies: </a:t>
            </a:r>
          </a:p>
        </p:txBody>
      </p:sp>
      <p:sp>
        <p:nvSpPr>
          <p:cNvPr id="16387" name="Rectangle 3">
            <a:extLst>
              <a:ext uri="{FF2B5EF4-FFF2-40B4-BE49-F238E27FC236}">
                <a16:creationId xmlns:a16="http://schemas.microsoft.com/office/drawing/2014/main" id="{FE6AE35B-E15D-48A7-91ED-5EC77D90142C}"/>
              </a:ext>
            </a:extLst>
          </p:cNvPr>
          <p:cNvSpPr>
            <a:spLocks noGrp="1" noChangeArrowheads="1"/>
          </p:cNvSpPr>
          <p:nvPr>
            <p:ph type="body" idx="1"/>
          </p:nvPr>
        </p:nvSpPr>
        <p:spPr>
          <a:xfrm>
            <a:off x="1592036" y="1398816"/>
            <a:ext cx="8618764" cy="5029200"/>
          </a:xfrm>
        </p:spPr>
        <p:txBody>
          <a:bodyPr>
            <a:normAutofit fontScale="92500" lnSpcReduction="10000"/>
          </a:bodyPr>
          <a:lstStyle/>
          <a:p>
            <a:pPr>
              <a:lnSpc>
                <a:spcPct val="80000"/>
              </a:lnSpc>
            </a:pPr>
            <a:r>
              <a:rPr lang="en-US" altLang="en-US" b="1" dirty="0"/>
              <a:t>Signature-based: </a:t>
            </a:r>
            <a:r>
              <a:rPr lang="en-US" altLang="en-US" dirty="0"/>
              <a:t>compares known threat signatures to observed events to identify incidents. </a:t>
            </a:r>
          </a:p>
          <a:p>
            <a:pPr algn="just">
              <a:lnSpc>
                <a:spcPct val="80000"/>
              </a:lnSpc>
            </a:pPr>
            <a:r>
              <a:rPr lang="en-US" altLang="en-US" dirty="0"/>
              <a:t>This is very effective at detecting known threats but largely ineffective at detecting unknown threats and many variants on known threats. It has fewer false positive alarms.</a:t>
            </a:r>
          </a:p>
          <a:p>
            <a:pPr>
              <a:lnSpc>
                <a:spcPct val="80000"/>
              </a:lnSpc>
            </a:pPr>
            <a:r>
              <a:rPr lang="en-US" altLang="en-US" dirty="0"/>
              <a:t>Signature-based detection cannot track and understand the state of complex communications, so it cannot detect most attacks that comprise multiple events.</a:t>
            </a:r>
          </a:p>
          <a:p>
            <a:pPr marL="0" indent="0">
              <a:lnSpc>
                <a:spcPct val="80000"/>
              </a:lnSpc>
              <a:buNone/>
            </a:pPr>
            <a:r>
              <a:rPr lang="en-US" altLang="en-US" dirty="0"/>
              <a:t> 	Example: </a:t>
            </a:r>
          </a:p>
          <a:p>
            <a:pPr lvl="1">
              <a:lnSpc>
                <a:spcPct val="80000"/>
              </a:lnSpc>
            </a:pPr>
            <a:r>
              <a:rPr lang="en-US" altLang="en-US" dirty="0"/>
              <a:t>An e-mail with a subject of “Free pictures!” and an attachment filename of “freepics.exe”, which are characteristics of a known form of malware </a:t>
            </a:r>
          </a:p>
          <a:p>
            <a:pPr>
              <a:lnSpc>
                <a:spcPct val="80000"/>
              </a:lnSpc>
              <a:buFontTx/>
              <a:buNone/>
            </a:pPr>
            <a:endParaRPr lang="en-US" altLang="en-US" sz="27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300D133-927D-4E13-8719-87B3A0A0111E}"/>
              </a:ext>
            </a:extLst>
          </p:cNvPr>
          <p:cNvSpPr>
            <a:spLocks noGrp="1"/>
          </p:cNvSpPr>
          <p:nvPr>
            <p:ph type="sldNum" sz="quarter" idx="12"/>
          </p:nvPr>
        </p:nvSpPr>
        <p:spPr/>
        <p:txBody>
          <a:bodyPr/>
          <a:lstStyle/>
          <a:p>
            <a:fld id="{97545348-09D2-46C0-B2AF-21EC810DE674}" type="slidenum">
              <a:rPr lang="en-US" altLang="en-US"/>
              <a:pPr/>
              <a:t>42</a:t>
            </a:fld>
            <a:endParaRPr lang="en-US" altLang="en-US"/>
          </a:p>
        </p:txBody>
      </p:sp>
      <p:sp>
        <p:nvSpPr>
          <p:cNvPr id="16387" name="Rectangle 3">
            <a:extLst>
              <a:ext uri="{FF2B5EF4-FFF2-40B4-BE49-F238E27FC236}">
                <a16:creationId xmlns:a16="http://schemas.microsoft.com/office/drawing/2014/main" id="{FE6AE35B-E15D-48A7-91ED-5EC77D90142C}"/>
              </a:ext>
            </a:extLst>
          </p:cNvPr>
          <p:cNvSpPr>
            <a:spLocks noGrp="1" noChangeArrowheads="1"/>
          </p:cNvSpPr>
          <p:nvPr>
            <p:ph type="body" idx="1"/>
          </p:nvPr>
        </p:nvSpPr>
        <p:spPr>
          <a:xfrm>
            <a:off x="1592036" y="1398816"/>
            <a:ext cx="8618764" cy="5029200"/>
          </a:xfrm>
        </p:spPr>
        <p:txBody>
          <a:bodyPr>
            <a:normAutofit/>
          </a:bodyPr>
          <a:lstStyle/>
          <a:p>
            <a:pPr>
              <a:lnSpc>
                <a:spcPct val="80000"/>
              </a:lnSpc>
            </a:pPr>
            <a:r>
              <a:rPr lang="en-US" altLang="en-US" b="1" dirty="0"/>
              <a:t>Anomaly-based detection</a:t>
            </a:r>
            <a:r>
              <a:rPr lang="en-US" altLang="en-US" dirty="0"/>
              <a:t>: Using a model of normal system behavior, try to detect deviations and abnormalities</a:t>
            </a:r>
          </a:p>
          <a:p>
            <a:pPr marL="0" indent="0">
              <a:lnSpc>
                <a:spcPct val="80000"/>
              </a:lnSpc>
              <a:buNone/>
            </a:pPr>
            <a:endParaRPr lang="en-US" altLang="en-US" dirty="0"/>
          </a:p>
          <a:p>
            <a:pPr>
              <a:lnSpc>
                <a:spcPct val="80000"/>
              </a:lnSpc>
            </a:pPr>
            <a:r>
              <a:rPr lang="en-US" altLang="en-US" dirty="0"/>
              <a:t>Anomaly-based detection can detect new types of attacks.</a:t>
            </a:r>
          </a:p>
          <a:p>
            <a:pPr>
              <a:lnSpc>
                <a:spcPct val="80000"/>
              </a:lnSpc>
            </a:pPr>
            <a:r>
              <a:rPr lang="en-US" altLang="en-US" dirty="0"/>
              <a:t>Requires much more overhead and processing capacity than signature-based .</a:t>
            </a:r>
          </a:p>
          <a:p>
            <a:pPr>
              <a:lnSpc>
                <a:spcPct val="80000"/>
              </a:lnSpc>
            </a:pPr>
            <a:r>
              <a:rPr lang="en-US" altLang="en-US" dirty="0"/>
              <a:t>May generate many false positives.</a:t>
            </a:r>
          </a:p>
          <a:p>
            <a:pPr>
              <a:lnSpc>
                <a:spcPct val="80000"/>
              </a:lnSpc>
            </a:pPr>
            <a:endParaRPr lang="en-US" altLang="en-US" sz="27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1C48A785-DE07-48F4-D466-97D46EFBD70F}"/>
              </a:ext>
            </a:extLst>
          </p:cNvPr>
          <p:cNvSpPr>
            <a:spLocks noGrp="1"/>
          </p:cNvSpPr>
          <p:nvPr>
            <p:ph type="title"/>
          </p:nvPr>
        </p:nvSpPr>
        <p:spPr/>
        <p:txBody>
          <a:bodyPr/>
          <a:lstStyle/>
          <a:p>
            <a:r>
              <a:rPr lang="en-US" altLang="en-US" dirty="0"/>
              <a:t>Classes of detection methodologies: </a:t>
            </a:r>
            <a:endParaRPr lang="en-US" dirty="0"/>
          </a:p>
        </p:txBody>
      </p:sp>
    </p:spTree>
    <p:extLst>
      <p:ext uri="{BB962C8B-B14F-4D97-AF65-F5344CB8AC3E}">
        <p14:creationId xmlns:p14="http://schemas.microsoft.com/office/powerpoint/2010/main" val="7592963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8300D133-927D-4E13-8719-87B3A0A0111E}"/>
              </a:ext>
            </a:extLst>
          </p:cNvPr>
          <p:cNvSpPr>
            <a:spLocks noGrp="1"/>
          </p:cNvSpPr>
          <p:nvPr>
            <p:ph type="sldNum" sz="quarter" idx="12"/>
          </p:nvPr>
        </p:nvSpPr>
        <p:spPr/>
        <p:txBody>
          <a:bodyPr/>
          <a:lstStyle/>
          <a:p>
            <a:fld id="{97545348-09D2-46C0-B2AF-21EC810DE674}" type="slidenum">
              <a:rPr lang="en-US" altLang="en-US"/>
              <a:pPr/>
              <a:t>43</a:t>
            </a:fld>
            <a:endParaRPr lang="en-US" altLang="en-US"/>
          </a:p>
        </p:txBody>
      </p:sp>
      <p:sp>
        <p:nvSpPr>
          <p:cNvPr id="16387" name="Rectangle 3">
            <a:extLst>
              <a:ext uri="{FF2B5EF4-FFF2-40B4-BE49-F238E27FC236}">
                <a16:creationId xmlns:a16="http://schemas.microsoft.com/office/drawing/2014/main" id="{FE6AE35B-E15D-48A7-91ED-5EC77D90142C}"/>
              </a:ext>
            </a:extLst>
          </p:cNvPr>
          <p:cNvSpPr>
            <a:spLocks noGrp="1" noChangeArrowheads="1"/>
          </p:cNvSpPr>
          <p:nvPr>
            <p:ph type="body" idx="1"/>
          </p:nvPr>
        </p:nvSpPr>
        <p:spPr>
          <a:xfrm>
            <a:off x="1592036" y="1398816"/>
            <a:ext cx="9914164" cy="5029200"/>
          </a:xfrm>
        </p:spPr>
        <p:txBody>
          <a:bodyPr>
            <a:normAutofit fontScale="85000" lnSpcReduction="20000"/>
          </a:bodyPr>
          <a:lstStyle/>
          <a:p>
            <a:pPr>
              <a:lnSpc>
                <a:spcPct val="120000"/>
              </a:lnSpc>
            </a:pPr>
            <a:r>
              <a:rPr lang="en-US" altLang="en-US" b="1" dirty="0"/>
              <a:t>Anomaly detection example: </a:t>
            </a:r>
            <a:r>
              <a:rPr lang="en-US" altLang="en-US" dirty="0"/>
              <a:t>a profile for a network might show that Web activity comprises an average of 13% of network bandwidth at the Internet border during typical workday hours. The IDPS then uses statistical methods to compare the characteristics of current activity to thresholds related to the profile, such as detecting when Web activity comprises significantly more bandwidth than expected and alerting an administrator of the anomaly. Profiles can be developed for many behavioral attributes, such as the number of e-mails sent by a user, the number of failed login attempts for a host, and the level of processor usage for a host in a given period of time. </a:t>
            </a:r>
          </a:p>
          <a:p>
            <a:pPr>
              <a:lnSpc>
                <a:spcPct val="120000"/>
              </a:lnSpc>
            </a:pPr>
            <a:endParaRPr lang="en-US" altLang="en-US" sz="2700" dirty="0">
              <a:latin typeface="Times New Roman" panose="02020603050405020304" pitchFamily="18" charset="0"/>
              <a:cs typeface="Times New Roman" panose="02020603050405020304" pitchFamily="18" charset="0"/>
            </a:endParaRPr>
          </a:p>
        </p:txBody>
      </p:sp>
      <p:sp>
        <p:nvSpPr>
          <p:cNvPr id="3" name="Title 2">
            <a:extLst>
              <a:ext uri="{FF2B5EF4-FFF2-40B4-BE49-F238E27FC236}">
                <a16:creationId xmlns:a16="http://schemas.microsoft.com/office/drawing/2014/main" id="{874CB47B-BD77-AEC5-3652-54DD24FF5CFD}"/>
              </a:ext>
            </a:extLst>
          </p:cNvPr>
          <p:cNvSpPr>
            <a:spLocks noGrp="1"/>
          </p:cNvSpPr>
          <p:nvPr>
            <p:ph type="title"/>
          </p:nvPr>
        </p:nvSpPr>
        <p:spPr/>
        <p:txBody>
          <a:bodyPr/>
          <a:lstStyle/>
          <a:p>
            <a:r>
              <a:rPr lang="en-US" altLang="en-US" dirty="0"/>
              <a:t>Classes of detection methodologies: </a:t>
            </a:r>
            <a:endParaRPr lang="en-US" dirty="0"/>
          </a:p>
        </p:txBody>
      </p:sp>
    </p:spTree>
    <p:extLst>
      <p:ext uri="{BB962C8B-B14F-4D97-AF65-F5344CB8AC3E}">
        <p14:creationId xmlns:p14="http://schemas.microsoft.com/office/powerpoint/2010/main" val="29334205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976585DC-9D49-4129-827E-D697A4A27CB6}"/>
              </a:ext>
            </a:extLst>
          </p:cNvPr>
          <p:cNvSpPr>
            <a:spLocks noGrp="1"/>
          </p:cNvSpPr>
          <p:nvPr>
            <p:ph type="sldNum" sz="quarter" idx="12"/>
          </p:nvPr>
        </p:nvSpPr>
        <p:spPr/>
        <p:txBody>
          <a:bodyPr/>
          <a:lstStyle/>
          <a:p>
            <a:fld id="{D259B1B1-4C6D-49E5-8DD6-AB39DD5B340E}" type="slidenum">
              <a:rPr lang="en-US" altLang="en-US"/>
              <a:pPr/>
              <a:t>44</a:t>
            </a:fld>
            <a:endParaRPr lang="en-US" altLang="en-US"/>
          </a:p>
        </p:txBody>
      </p:sp>
      <p:sp>
        <p:nvSpPr>
          <p:cNvPr id="19459" name="Rectangle 3">
            <a:extLst>
              <a:ext uri="{FF2B5EF4-FFF2-40B4-BE49-F238E27FC236}">
                <a16:creationId xmlns:a16="http://schemas.microsoft.com/office/drawing/2014/main" id="{3BCEDB45-91DB-41EE-9156-B62FAA22CB72}"/>
              </a:ext>
            </a:extLst>
          </p:cNvPr>
          <p:cNvSpPr>
            <a:spLocks noGrp="1" noChangeArrowheads="1"/>
          </p:cNvSpPr>
          <p:nvPr>
            <p:ph type="body" idx="1"/>
          </p:nvPr>
        </p:nvSpPr>
        <p:spPr>
          <a:xfrm>
            <a:off x="1524000" y="737507"/>
            <a:ext cx="9753600" cy="5382986"/>
          </a:xfrm>
        </p:spPr>
        <p:txBody>
          <a:bodyPr>
            <a:normAutofit/>
          </a:bodyPr>
          <a:lstStyle/>
          <a:p>
            <a:pPr>
              <a:lnSpc>
                <a:spcPct val="90000"/>
              </a:lnSpc>
            </a:pPr>
            <a:r>
              <a:rPr lang="en-US" altLang="en-US" sz="2800" b="1" dirty="0"/>
              <a:t>Stateful protocol analysis: </a:t>
            </a:r>
            <a:r>
              <a:rPr lang="en-US" altLang="en-US" sz="2800" dirty="0"/>
              <a:t>A key development in IDPS technologies was the use of protocol analyzers.</a:t>
            </a:r>
          </a:p>
          <a:p>
            <a:pPr algn="just">
              <a:lnSpc>
                <a:spcPct val="90000"/>
              </a:lnSpc>
            </a:pPr>
            <a:r>
              <a:rPr lang="en-US" altLang="en-US" sz="2800" dirty="0"/>
              <a:t>Protocol analyzers can natively decode application-layer network protocols, like HTTP or FTP. Once the protocols are fully decoded, the IPS analysis engine can evaluate different parts of the protocol for anomalous behavior or exploits against predetermined profiles of generally accepted definitions of benign protocol activity for each protocol state. </a:t>
            </a:r>
          </a:p>
          <a:p>
            <a:pPr>
              <a:lnSpc>
                <a:spcPct val="90000"/>
              </a:lnSpc>
            </a:pPr>
            <a:r>
              <a:rPr lang="en-US" altLang="en-US" sz="2800" dirty="0"/>
              <a:t>Problems with this type include that it is often very difficult or impossible to develop completely accurate models of protocols, it is very resource-intensive, and it cannot detect attacks that do not violate the characteristics of generally acceptable protocol behavior.  </a:t>
            </a:r>
          </a:p>
          <a:p>
            <a:pPr>
              <a:lnSpc>
                <a:spcPct val="90000"/>
              </a:lnSpc>
              <a:buFontTx/>
              <a:buNone/>
            </a:pPr>
            <a:endParaRPr lang="en-US" altLang="en-US" sz="2800"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B9B54636-FC23-4328-ABD2-BA15A75EC6E0}"/>
              </a:ext>
            </a:extLst>
          </p:cNvPr>
          <p:cNvSpPr>
            <a:spLocks noGrp="1"/>
          </p:cNvSpPr>
          <p:nvPr>
            <p:ph type="sldNum" sz="quarter" idx="12"/>
          </p:nvPr>
        </p:nvSpPr>
        <p:spPr/>
        <p:txBody>
          <a:bodyPr/>
          <a:lstStyle/>
          <a:p>
            <a:fld id="{B9FB8C27-0C68-44A8-8CFA-8291D3E240B5}" type="slidenum">
              <a:rPr lang="en-US" altLang="en-US"/>
              <a:pPr/>
              <a:t>45</a:t>
            </a:fld>
            <a:endParaRPr lang="en-US" altLang="en-US"/>
          </a:p>
        </p:txBody>
      </p:sp>
      <p:sp>
        <p:nvSpPr>
          <p:cNvPr id="20483" name="Rectangle 3">
            <a:extLst>
              <a:ext uri="{FF2B5EF4-FFF2-40B4-BE49-F238E27FC236}">
                <a16:creationId xmlns:a16="http://schemas.microsoft.com/office/drawing/2014/main" id="{AD83135A-27E2-4887-B74B-3E0142E62AD6}"/>
              </a:ext>
            </a:extLst>
          </p:cNvPr>
          <p:cNvSpPr>
            <a:spLocks noGrp="1" noChangeArrowheads="1"/>
          </p:cNvSpPr>
          <p:nvPr>
            <p:ph type="body" idx="1"/>
          </p:nvPr>
        </p:nvSpPr>
        <p:spPr>
          <a:xfrm>
            <a:off x="1224643" y="838200"/>
            <a:ext cx="6139543" cy="2792186"/>
          </a:xfrm>
        </p:spPr>
        <p:txBody>
          <a:bodyPr>
            <a:normAutofit fontScale="77500" lnSpcReduction="20000"/>
          </a:bodyPr>
          <a:lstStyle/>
          <a:p>
            <a:pPr>
              <a:lnSpc>
                <a:spcPct val="120000"/>
              </a:lnSpc>
            </a:pPr>
            <a:r>
              <a:rPr lang="en-US" altLang="en-US" dirty="0"/>
              <a:t>For example: the existence of a large binary file in the User-Agent field of an HTTP request would be very unusual and likely an intrusion. A protocol analyzer could detect this anomalous behavior and instruct the IPS engine to drop the offending packets.</a:t>
            </a:r>
          </a:p>
        </p:txBody>
      </p:sp>
      <p:pic>
        <p:nvPicPr>
          <p:cNvPr id="2050" name="Picture 2" descr="User Agent - Definition, Types, and Importance - Seobility Wiki">
            <a:extLst>
              <a:ext uri="{FF2B5EF4-FFF2-40B4-BE49-F238E27FC236}">
                <a16:creationId xmlns:a16="http://schemas.microsoft.com/office/drawing/2014/main" id="{680A24F5-E381-4825-A6CF-2FE29740EF3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543" b="21535"/>
          <a:stretch/>
        </p:blipFill>
        <p:spPr bwMode="auto">
          <a:xfrm>
            <a:off x="7348144" y="822158"/>
            <a:ext cx="4843856" cy="279218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BFCFED2B-917C-4872-A534-A579CDFAA147}"/>
              </a:ext>
            </a:extLst>
          </p:cNvPr>
          <p:cNvSpPr/>
          <p:nvPr/>
        </p:nvSpPr>
        <p:spPr>
          <a:xfrm>
            <a:off x="1224642" y="3630386"/>
            <a:ext cx="10205357" cy="2308324"/>
          </a:xfrm>
          <a:prstGeom prst="rect">
            <a:avLst/>
          </a:prstGeom>
        </p:spPr>
        <p:txBody>
          <a:bodyPr wrap="square">
            <a:spAutoFit/>
          </a:bodyPr>
          <a:lstStyle/>
          <a:p>
            <a:r>
              <a:rPr lang="en-US" altLang="en-US" sz="2400" dirty="0"/>
              <a:t>IDPS technologies cannot provide completely accurate detection. When an IDPS incorrectly identifies benign activity as being malicious, a false positive has occurred. When an IDPS fails to identify malicious activity, a false negative has occurred. It is not possible to eliminate all false positives and negatives; in most cases, reducing the occurrences of one increases the occurrences of the other.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1994A-3F16-4162-85A3-34A3D5CB4335}"/>
              </a:ext>
            </a:extLst>
          </p:cNvPr>
          <p:cNvSpPr>
            <a:spLocks noGrp="1"/>
          </p:cNvSpPr>
          <p:nvPr>
            <p:ph type="title"/>
          </p:nvPr>
        </p:nvSpPr>
        <p:spPr/>
        <p:txBody>
          <a:bodyPr/>
          <a:lstStyle/>
          <a:p>
            <a:r>
              <a:rPr lang="en-US" dirty="0"/>
              <a:t>Intrusion Detection Errors</a:t>
            </a:r>
          </a:p>
        </p:txBody>
      </p:sp>
      <p:sp>
        <p:nvSpPr>
          <p:cNvPr id="3" name="Content Placeholder 2">
            <a:extLst>
              <a:ext uri="{FF2B5EF4-FFF2-40B4-BE49-F238E27FC236}">
                <a16:creationId xmlns:a16="http://schemas.microsoft.com/office/drawing/2014/main" id="{960A74ED-6060-45BF-89AC-096145945821}"/>
              </a:ext>
            </a:extLst>
          </p:cNvPr>
          <p:cNvSpPr>
            <a:spLocks noGrp="1"/>
          </p:cNvSpPr>
          <p:nvPr>
            <p:ph idx="1"/>
          </p:nvPr>
        </p:nvSpPr>
        <p:spPr>
          <a:xfrm>
            <a:off x="838200" y="1825625"/>
            <a:ext cx="5350329" cy="4351338"/>
          </a:xfrm>
        </p:spPr>
        <p:txBody>
          <a:bodyPr>
            <a:normAutofit fontScale="92500" lnSpcReduction="10000"/>
          </a:bodyPr>
          <a:lstStyle/>
          <a:p>
            <a:r>
              <a:rPr lang="en-US" dirty="0"/>
              <a:t>False negatives: attack is not detected</a:t>
            </a:r>
          </a:p>
          <a:p>
            <a:pPr lvl="1"/>
            <a:r>
              <a:rPr lang="en-US" dirty="0"/>
              <a:t>Big problem in signature-based misuse detection</a:t>
            </a:r>
          </a:p>
          <a:p>
            <a:r>
              <a:rPr lang="en-US" dirty="0"/>
              <a:t>False positives: harmless behavior is classified as attack</a:t>
            </a:r>
          </a:p>
          <a:p>
            <a:pPr lvl="1"/>
            <a:r>
              <a:rPr lang="en-US" dirty="0"/>
              <a:t>Big problem in statistical anomaly detection</a:t>
            </a:r>
          </a:p>
          <a:p>
            <a:r>
              <a:rPr lang="en-US" dirty="0"/>
              <a:t>Both types of IDS suffer from both error types</a:t>
            </a:r>
          </a:p>
        </p:txBody>
      </p:sp>
      <p:pic>
        <p:nvPicPr>
          <p:cNvPr id="4" name="Picture 2" descr="How IDS, IPS Detects Malicious Traffic: True/False ? – HyperHCI.com">
            <a:extLst>
              <a:ext uri="{FF2B5EF4-FFF2-40B4-BE49-F238E27FC236}">
                <a16:creationId xmlns:a16="http://schemas.microsoft.com/office/drawing/2014/main" id="{08187F21-2804-4793-9EC3-43D02DBD0A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992086"/>
            <a:ext cx="6125572" cy="3624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229529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ACB3A4DE-9D34-420A-91D8-64BC4C59A74F}"/>
              </a:ext>
            </a:extLst>
          </p:cNvPr>
          <p:cNvSpPr>
            <a:spLocks noGrp="1"/>
          </p:cNvSpPr>
          <p:nvPr>
            <p:ph type="sldNum" sz="quarter" idx="12"/>
          </p:nvPr>
        </p:nvSpPr>
        <p:spPr/>
        <p:txBody>
          <a:bodyPr/>
          <a:lstStyle/>
          <a:p>
            <a:fld id="{EB2FC33B-67B1-4709-B43B-41ABC156F476}" type="slidenum">
              <a:rPr lang="en-US" altLang="en-US"/>
              <a:pPr/>
              <a:t>47</a:t>
            </a:fld>
            <a:endParaRPr lang="en-US" altLang="en-US"/>
          </a:p>
        </p:txBody>
      </p:sp>
      <p:sp>
        <p:nvSpPr>
          <p:cNvPr id="21507" name="Rectangle 3">
            <a:extLst>
              <a:ext uri="{FF2B5EF4-FFF2-40B4-BE49-F238E27FC236}">
                <a16:creationId xmlns:a16="http://schemas.microsoft.com/office/drawing/2014/main" id="{78C4D208-B840-46F2-AC4B-068B397F5C47}"/>
              </a:ext>
            </a:extLst>
          </p:cNvPr>
          <p:cNvSpPr>
            <a:spLocks noGrp="1" noChangeArrowheads="1"/>
          </p:cNvSpPr>
          <p:nvPr>
            <p:ph type="body" idx="1"/>
          </p:nvPr>
        </p:nvSpPr>
        <p:spPr>
          <a:xfrm>
            <a:off x="985156" y="764722"/>
            <a:ext cx="9587593" cy="5007428"/>
          </a:xfrm>
        </p:spPr>
        <p:txBody>
          <a:bodyPr>
            <a:normAutofit fontScale="92500" lnSpcReduction="10000"/>
          </a:bodyPr>
          <a:lstStyle/>
          <a:p>
            <a:r>
              <a:rPr lang="en-US" altLang="en-US" dirty="0"/>
              <a:t>Many organizations choose to decrease false negatives at the cost of increasing false positives, which means that more malicious events are detected but more analysis resources are needed to differentiate false positives from true malicious events. Altering the configuration of an IDPS to improve its detection accuracy is known as tuning.</a:t>
            </a:r>
          </a:p>
          <a:p>
            <a:r>
              <a:rPr lang="en-US" dirty="0"/>
              <a:t>Most alarms are false positives</a:t>
            </a:r>
          </a:p>
          <a:p>
            <a:pPr lvl="1"/>
            <a:r>
              <a:rPr lang="en-US" dirty="0"/>
              <a:t>Requires automated screening and filtering of alarms</a:t>
            </a:r>
          </a:p>
          <a:p>
            <a:r>
              <a:rPr lang="en-US" dirty="0"/>
              <a:t>Most true positives are trivial incidents</a:t>
            </a:r>
          </a:p>
          <a:p>
            <a:pPr lvl="1"/>
            <a:r>
              <a:rPr lang="en-US" dirty="0"/>
              <a:t>can be ignored,</a:t>
            </a:r>
          </a:p>
          <a:p>
            <a:pPr lvl="1"/>
            <a:r>
              <a:rPr lang="en-US" dirty="0"/>
              <a:t>the attacks will never be able to penetrate any system</a:t>
            </a:r>
          </a:p>
          <a:p>
            <a:endParaRPr lang="en-US" altLang="en-US" dirty="0"/>
          </a:p>
          <a:p>
            <a:pPr>
              <a:buFontTx/>
              <a:buNone/>
            </a:pPr>
            <a:endParaRPr lang="en-US"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ACAE6EC5-8429-44B7-9699-34AC4AF9030A}"/>
              </a:ext>
            </a:extLst>
          </p:cNvPr>
          <p:cNvSpPr>
            <a:spLocks noGrp="1"/>
          </p:cNvSpPr>
          <p:nvPr>
            <p:ph type="body" sz="half" idx="14"/>
          </p:nvPr>
        </p:nvSpPr>
        <p:spPr/>
        <p:txBody>
          <a:bodyPr/>
          <a:lstStyle/>
          <a:p>
            <a:r>
              <a:rPr lang="en-CA" dirty="0"/>
              <a:t>What is a DOS Attack?</a:t>
            </a:r>
          </a:p>
          <a:p>
            <a:r>
              <a:rPr lang="en-CA" dirty="0"/>
              <a:t>How can we prevent it?</a:t>
            </a:r>
          </a:p>
        </p:txBody>
      </p:sp>
    </p:spTree>
    <p:extLst>
      <p:ext uri="{BB962C8B-B14F-4D97-AF65-F5344CB8AC3E}">
        <p14:creationId xmlns:p14="http://schemas.microsoft.com/office/powerpoint/2010/main" val="39465085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206CD-9EF0-4E0C-A45F-3B88E8AD67CA}"/>
              </a:ext>
            </a:extLst>
          </p:cNvPr>
          <p:cNvSpPr>
            <a:spLocks noGrp="1"/>
          </p:cNvSpPr>
          <p:nvPr>
            <p:ph type="title"/>
          </p:nvPr>
        </p:nvSpPr>
        <p:spPr/>
        <p:txBody>
          <a:bodyPr/>
          <a:lstStyle/>
          <a:p>
            <a:r>
              <a:rPr lang="en-US" dirty="0"/>
              <a:t>How Service Is Denied</a:t>
            </a:r>
          </a:p>
        </p:txBody>
      </p:sp>
      <p:sp>
        <p:nvSpPr>
          <p:cNvPr id="3" name="Content Placeholder 2">
            <a:extLst>
              <a:ext uri="{FF2B5EF4-FFF2-40B4-BE49-F238E27FC236}">
                <a16:creationId xmlns:a16="http://schemas.microsoft.com/office/drawing/2014/main" id="{C630CBF5-28A4-4C39-9351-501B1B164EE5}"/>
              </a:ext>
            </a:extLst>
          </p:cNvPr>
          <p:cNvSpPr>
            <a:spLocks noGrp="1"/>
          </p:cNvSpPr>
          <p:nvPr>
            <p:ph idx="1"/>
          </p:nvPr>
        </p:nvSpPr>
        <p:spPr/>
        <p:txBody>
          <a:bodyPr/>
          <a:lstStyle/>
          <a:p>
            <a:r>
              <a:rPr lang="en-US" dirty="0"/>
              <a:t>volumetric attacks</a:t>
            </a:r>
          </a:p>
          <a:p>
            <a:r>
              <a:rPr lang="en-US" dirty="0"/>
              <a:t>application-based attack</a:t>
            </a:r>
          </a:p>
          <a:p>
            <a:r>
              <a:rPr lang="en-US" dirty="0"/>
              <a:t>cut or disabled communications</a:t>
            </a:r>
          </a:p>
          <a:p>
            <a:r>
              <a:rPr lang="en-US" dirty="0"/>
              <a:t>hardware or software failure</a:t>
            </a:r>
          </a:p>
        </p:txBody>
      </p:sp>
      <p:sp>
        <p:nvSpPr>
          <p:cNvPr id="4" name="Slide Number Placeholder 3">
            <a:extLst>
              <a:ext uri="{FF2B5EF4-FFF2-40B4-BE49-F238E27FC236}">
                <a16:creationId xmlns:a16="http://schemas.microsoft.com/office/drawing/2014/main" id="{C0815B6C-F199-4BB8-A7D2-470346F5FFAF}"/>
              </a:ext>
            </a:extLst>
          </p:cNvPr>
          <p:cNvSpPr>
            <a:spLocks noGrp="1"/>
          </p:cNvSpPr>
          <p:nvPr>
            <p:ph type="sldNum" sz="quarter" idx="12"/>
          </p:nvPr>
        </p:nvSpPr>
        <p:spPr/>
        <p:txBody>
          <a:bodyPr/>
          <a:lstStyle/>
          <a:p>
            <a:fld id="{5BFA158B-7C94-F543-87DB-41F59EA4FAFA}" type="slidenum">
              <a:rPr lang="en-US" smtClean="0">
                <a:latin typeface="Arial"/>
              </a:rPr>
              <a:pPr/>
              <a:t>49</a:t>
            </a:fld>
            <a:endParaRPr lang="en-US">
              <a:latin typeface="Arial"/>
            </a:endParaRPr>
          </a:p>
        </p:txBody>
      </p:sp>
    </p:spTree>
    <p:extLst>
      <p:ext uri="{BB962C8B-B14F-4D97-AF65-F5344CB8AC3E}">
        <p14:creationId xmlns:p14="http://schemas.microsoft.com/office/powerpoint/2010/main" val="18379198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BA9F7-E512-4AF1-B18C-1526BDD6A34E}"/>
              </a:ext>
            </a:extLst>
          </p:cNvPr>
          <p:cNvSpPr>
            <a:spLocks noGrp="1"/>
          </p:cNvSpPr>
          <p:nvPr>
            <p:ph type="title"/>
          </p:nvPr>
        </p:nvSpPr>
        <p:spPr/>
        <p:txBody>
          <a:bodyPr/>
          <a:lstStyle/>
          <a:p>
            <a:r>
              <a:rPr lang="en-US" dirty="0"/>
              <a:t>Flooding</a:t>
            </a:r>
          </a:p>
        </p:txBody>
      </p:sp>
      <p:sp>
        <p:nvSpPr>
          <p:cNvPr id="3" name="Content Placeholder 2">
            <a:extLst>
              <a:ext uri="{FF2B5EF4-FFF2-40B4-BE49-F238E27FC236}">
                <a16:creationId xmlns:a16="http://schemas.microsoft.com/office/drawing/2014/main" id="{D87DDFBA-28CA-45DF-87C9-965B80A79D3E}"/>
              </a:ext>
            </a:extLst>
          </p:cNvPr>
          <p:cNvSpPr>
            <a:spLocks noGrp="1"/>
          </p:cNvSpPr>
          <p:nvPr>
            <p:ph idx="1"/>
          </p:nvPr>
        </p:nvSpPr>
        <p:spPr/>
        <p:txBody>
          <a:bodyPr>
            <a:normAutofit lnSpcReduction="10000"/>
          </a:bodyPr>
          <a:lstStyle/>
          <a:p>
            <a:r>
              <a:rPr lang="en-US" dirty="0"/>
              <a:t>An attacker can try for presenting commands more quickly than a server can handle them; servers often queue unmet commands during moments of overload for service when the peak subsides, but if the commands continue to come too quickly, the server eventually runs out of space to store the demand. Such an attack is called an </a:t>
            </a:r>
            <a:r>
              <a:rPr lang="en-US" b="1" dirty="0"/>
              <a:t>overload </a:t>
            </a:r>
            <a:r>
              <a:rPr lang="en-US" dirty="0"/>
              <a:t>or </a:t>
            </a:r>
            <a:r>
              <a:rPr lang="en-US" b="1" dirty="0"/>
              <a:t>flood</a:t>
            </a:r>
            <a:r>
              <a:rPr lang="en-US" dirty="0"/>
              <a:t>.</a:t>
            </a:r>
          </a:p>
          <a:p>
            <a:r>
              <a:rPr lang="en-US" dirty="0"/>
              <a:t>The most common malicious DoS attack type is flooding.</a:t>
            </a:r>
          </a:p>
          <a:p>
            <a:r>
              <a:rPr lang="en-US" dirty="0"/>
              <a:t>Flooding occurs because the incoming bandwidth is insufficient or resources— hardware devices, computing power, software, or table capacity—are inadequate.</a:t>
            </a:r>
          </a:p>
        </p:txBody>
      </p:sp>
      <p:sp>
        <p:nvSpPr>
          <p:cNvPr id="4" name="Slide Number Placeholder 3">
            <a:extLst>
              <a:ext uri="{FF2B5EF4-FFF2-40B4-BE49-F238E27FC236}">
                <a16:creationId xmlns:a16="http://schemas.microsoft.com/office/drawing/2014/main" id="{6D829C52-EA8F-4362-911B-F459EE58CBE1}"/>
              </a:ext>
            </a:extLst>
          </p:cNvPr>
          <p:cNvSpPr>
            <a:spLocks noGrp="1"/>
          </p:cNvSpPr>
          <p:nvPr>
            <p:ph type="sldNum" sz="quarter" idx="12"/>
          </p:nvPr>
        </p:nvSpPr>
        <p:spPr/>
        <p:txBody>
          <a:bodyPr/>
          <a:lstStyle/>
          <a:p>
            <a:fld id="{5BFA158B-7C94-F543-87DB-41F59EA4FAFA}" type="slidenum">
              <a:rPr lang="en-US" smtClean="0">
                <a:latin typeface="Arial"/>
              </a:rPr>
              <a:pPr/>
              <a:t>50</a:t>
            </a:fld>
            <a:endParaRPr lang="en-US">
              <a:latin typeface="Arial"/>
            </a:endParaRPr>
          </a:p>
        </p:txBody>
      </p:sp>
    </p:spTree>
    <p:extLst>
      <p:ext uri="{BB962C8B-B14F-4D97-AF65-F5344CB8AC3E}">
        <p14:creationId xmlns:p14="http://schemas.microsoft.com/office/powerpoint/2010/main" val="2404878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4EB67-BB46-46DB-BC40-2B9E326F603E}"/>
              </a:ext>
            </a:extLst>
          </p:cNvPr>
          <p:cNvSpPr>
            <a:spLocks noGrp="1"/>
          </p:cNvSpPr>
          <p:nvPr>
            <p:ph type="title"/>
          </p:nvPr>
        </p:nvSpPr>
        <p:spPr/>
        <p:txBody>
          <a:bodyPr/>
          <a:lstStyle/>
          <a:p>
            <a:r>
              <a:rPr lang="en-US" dirty="0"/>
              <a:t>DoS attack: Ping of Death</a:t>
            </a:r>
          </a:p>
        </p:txBody>
      </p:sp>
      <p:pic>
        <p:nvPicPr>
          <p:cNvPr id="5" name="Content Placeholder 4">
            <a:extLst>
              <a:ext uri="{FF2B5EF4-FFF2-40B4-BE49-F238E27FC236}">
                <a16:creationId xmlns:a16="http://schemas.microsoft.com/office/drawing/2014/main" id="{69BEDF7C-D545-4915-969A-FF6297B5E7BF}"/>
              </a:ext>
            </a:extLst>
          </p:cNvPr>
          <p:cNvPicPr>
            <a:picLocks noGrp="1" noChangeAspect="1"/>
          </p:cNvPicPr>
          <p:nvPr>
            <p:ph idx="1"/>
          </p:nvPr>
        </p:nvPicPr>
        <p:blipFill>
          <a:blip r:embed="rId3"/>
          <a:stretch>
            <a:fillRect/>
          </a:stretch>
        </p:blipFill>
        <p:spPr>
          <a:xfrm>
            <a:off x="2122329" y="990600"/>
            <a:ext cx="7947341" cy="5135563"/>
          </a:xfrm>
          <a:prstGeom prst="rect">
            <a:avLst/>
          </a:prstGeom>
        </p:spPr>
      </p:pic>
      <p:sp>
        <p:nvSpPr>
          <p:cNvPr id="4" name="Slide Number Placeholder 3">
            <a:extLst>
              <a:ext uri="{FF2B5EF4-FFF2-40B4-BE49-F238E27FC236}">
                <a16:creationId xmlns:a16="http://schemas.microsoft.com/office/drawing/2014/main" id="{16A6B8C8-6082-4B65-B26F-344DD5BACED4}"/>
              </a:ext>
            </a:extLst>
          </p:cNvPr>
          <p:cNvSpPr>
            <a:spLocks noGrp="1"/>
          </p:cNvSpPr>
          <p:nvPr>
            <p:ph type="sldNum" sz="quarter" idx="12"/>
          </p:nvPr>
        </p:nvSpPr>
        <p:spPr/>
        <p:txBody>
          <a:bodyPr/>
          <a:lstStyle/>
          <a:p>
            <a:fld id="{5BFA158B-7C94-F543-87DB-41F59EA4FAFA}" type="slidenum">
              <a:rPr lang="en-US" smtClean="0">
                <a:latin typeface="Arial"/>
              </a:rPr>
              <a:pPr/>
              <a:t>51</a:t>
            </a:fld>
            <a:endParaRPr lang="en-US">
              <a:latin typeface="Arial"/>
            </a:endParaRPr>
          </a:p>
        </p:txBody>
      </p:sp>
    </p:spTree>
    <p:extLst>
      <p:ext uri="{BB962C8B-B14F-4D97-AF65-F5344CB8AC3E}">
        <p14:creationId xmlns:p14="http://schemas.microsoft.com/office/powerpoint/2010/main" val="36423809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4EB67-BB46-46DB-BC40-2B9E326F603E}"/>
              </a:ext>
            </a:extLst>
          </p:cNvPr>
          <p:cNvSpPr>
            <a:spLocks noGrp="1"/>
          </p:cNvSpPr>
          <p:nvPr>
            <p:ph type="title"/>
          </p:nvPr>
        </p:nvSpPr>
        <p:spPr/>
        <p:txBody>
          <a:bodyPr/>
          <a:lstStyle/>
          <a:p>
            <a:r>
              <a:rPr lang="en-US" dirty="0"/>
              <a:t>DoS attack: Smurf</a:t>
            </a:r>
          </a:p>
        </p:txBody>
      </p:sp>
      <p:sp>
        <p:nvSpPr>
          <p:cNvPr id="4" name="Slide Number Placeholder 3">
            <a:extLst>
              <a:ext uri="{FF2B5EF4-FFF2-40B4-BE49-F238E27FC236}">
                <a16:creationId xmlns:a16="http://schemas.microsoft.com/office/drawing/2014/main" id="{16A6B8C8-6082-4B65-B26F-344DD5BACED4}"/>
              </a:ext>
            </a:extLst>
          </p:cNvPr>
          <p:cNvSpPr>
            <a:spLocks noGrp="1"/>
          </p:cNvSpPr>
          <p:nvPr>
            <p:ph type="sldNum" sz="quarter" idx="12"/>
          </p:nvPr>
        </p:nvSpPr>
        <p:spPr/>
        <p:txBody>
          <a:bodyPr/>
          <a:lstStyle/>
          <a:p>
            <a:fld id="{5BFA158B-7C94-F543-87DB-41F59EA4FAFA}" type="slidenum">
              <a:rPr lang="en-US" smtClean="0">
                <a:latin typeface="Arial"/>
              </a:rPr>
              <a:pPr/>
              <a:t>52</a:t>
            </a:fld>
            <a:endParaRPr lang="en-US">
              <a:latin typeface="Arial"/>
            </a:endParaRPr>
          </a:p>
        </p:txBody>
      </p:sp>
      <p:pic>
        <p:nvPicPr>
          <p:cNvPr id="7" name="Content Placeholder 6">
            <a:extLst>
              <a:ext uri="{FF2B5EF4-FFF2-40B4-BE49-F238E27FC236}">
                <a16:creationId xmlns:a16="http://schemas.microsoft.com/office/drawing/2014/main" id="{3C7C0D72-F0E0-49C6-ADF1-462873D58A6A}"/>
              </a:ext>
            </a:extLst>
          </p:cNvPr>
          <p:cNvPicPr>
            <a:picLocks noGrp="1" noChangeAspect="1"/>
          </p:cNvPicPr>
          <p:nvPr>
            <p:ph idx="1"/>
          </p:nvPr>
        </p:nvPicPr>
        <p:blipFill>
          <a:blip r:embed="rId3"/>
          <a:stretch>
            <a:fillRect/>
          </a:stretch>
        </p:blipFill>
        <p:spPr>
          <a:xfrm>
            <a:off x="1304925" y="1415256"/>
            <a:ext cx="9582150" cy="4286250"/>
          </a:xfrm>
          <a:prstGeom prst="rect">
            <a:avLst/>
          </a:prstGeom>
        </p:spPr>
      </p:pic>
    </p:spTree>
    <p:extLst>
      <p:ext uri="{BB962C8B-B14F-4D97-AF65-F5344CB8AC3E}">
        <p14:creationId xmlns:p14="http://schemas.microsoft.com/office/powerpoint/2010/main" val="16432278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4EB67-BB46-46DB-BC40-2B9E326F603E}"/>
              </a:ext>
            </a:extLst>
          </p:cNvPr>
          <p:cNvSpPr>
            <a:spLocks noGrp="1"/>
          </p:cNvSpPr>
          <p:nvPr>
            <p:ph type="title"/>
          </p:nvPr>
        </p:nvSpPr>
        <p:spPr/>
        <p:txBody>
          <a:bodyPr/>
          <a:lstStyle/>
          <a:p>
            <a:r>
              <a:rPr lang="en-US" dirty="0"/>
              <a:t>DoS attack: Echo-</a:t>
            </a:r>
            <a:r>
              <a:rPr lang="en-US" dirty="0" err="1"/>
              <a:t>Chargen</a:t>
            </a:r>
            <a:endParaRPr lang="en-US" dirty="0"/>
          </a:p>
        </p:txBody>
      </p:sp>
      <p:sp>
        <p:nvSpPr>
          <p:cNvPr id="4" name="Slide Number Placeholder 3">
            <a:extLst>
              <a:ext uri="{FF2B5EF4-FFF2-40B4-BE49-F238E27FC236}">
                <a16:creationId xmlns:a16="http://schemas.microsoft.com/office/drawing/2014/main" id="{16A6B8C8-6082-4B65-B26F-344DD5BACED4}"/>
              </a:ext>
            </a:extLst>
          </p:cNvPr>
          <p:cNvSpPr>
            <a:spLocks noGrp="1"/>
          </p:cNvSpPr>
          <p:nvPr>
            <p:ph type="sldNum" sz="quarter" idx="12"/>
          </p:nvPr>
        </p:nvSpPr>
        <p:spPr/>
        <p:txBody>
          <a:bodyPr/>
          <a:lstStyle/>
          <a:p>
            <a:fld id="{5BFA158B-7C94-F543-87DB-41F59EA4FAFA}" type="slidenum">
              <a:rPr lang="en-US" smtClean="0">
                <a:latin typeface="Arial"/>
              </a:rPr>
              <a:pPr/>
              <a:t>53</a:t>
            </a:fld>
            <a:endParaRPr lang="en-US">
              <a:latin typeface="Arial"/>
            </a:endParaRPr>
          </a:p>
        </p:txBody>
      </p:sp>
      <p:pic>
        <p:nvPicPr>
          <p:cNvPr id="6" name="Content Placeholder 5">
            <a:extLst>
              <a:ext uri="{FF2B5EF4-FFF2-40B4-BE49-F238E27FC236}">
                <a16:creationId xmlns:a16="http://schemas.microsoft.com/office/drawing/2014/main" id="{CF5999C0-3D1B-429C-878E-37BB8DF51CDE}"/>
              </a:ext>
            </a:extLst>
          </p:cNvPr>
          <p:cNvPicPr>
            <a:picLocks noGrp="1" noChangeAspect="1"/>
          </p:cNvPicPr>
          <p:nvPr>
            <p:ph idx="1"/>
          </p:nvPr>
        </p:nvPicPr>
        <p:blipFill>
          <a:blip r:embed="rId3"/>
          <a:stretch>
            <a:fillRect/>
          </a:stretch>
        </p:blipFill>
        <p:spPr>
          <a:xfrm>
            <a:off x="2286000" y="1139031"/>
            <a:ext cx="7620000" cy="4838700"/>
          </a:xfrm>
          <a:prstGeom prst="rect">
            <a:avLst/>
          </a:prstGeom>
        </p:spPr>
      </p:pic>
    </p:spTree>
    <p:extLst>
      <p:ext uri="{BB962C8B-B14F-4D97-AF65-F5344CB8AC3E}">
        <p14:creationId xmlns:p14="http://schemas.microsoft.com/office/powerpoint/2010/main" val="25188858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4EB67-BB46-46DB-BC40-2B9E326F603E}"/>
              </a:ext>
            </a:extLst>
          </p:cNvPr>
          <p:cNvSpPr>
            <a:spLocks noGrp="1"/>
          </p:cNvSpPr>
          <p:nvPr>
            <p:ph type="title"/>
          </p:nvPr>
        </p:nvSpPr>
        <p:spPr/>
        <p:txBody>
          <a:bodyPr/>
          <a:lstStyle/>
          <a:p>
            <a:r>
              <a:rPr lang="en-US" dirty="0"/>
              <a:t>DoS attack: Teardrop</a:t>
            </a:r>
          </a:p>
        </p:txBody>
      </p:sp>
      <p:sp>
        <p:nvSpPr>
          <p:cNvPr id="4" name="Slide Number Placeholder 3">
            <a:extLst>
              <a:ext uri="{FF2B5EF4-FFF2-40B4-BE49-F238E27FC236}">
                <a16:creationId xmlns:a16="http://schemas.microsoft.com/office/drawing/2014/main" id="{16A6B8C8-6082-4B65-B26F-344DD5BACED4}"/>
              </a:ext>
            </a:extLst>
          </p:cNvPr>
          <p:cNvSpPr>
            <a:spLocks noGrp="1"/>
          </p:cNvSpPr>
          <p:nvPr>
            <p:ph type="sldNum" sz="quarter" idx="12"/>
          </p:nvPr>
        </p:nvSpPr>
        <p:spPr/>
        <p:txBody>
          <a:bodyPr/>
          <a:lstStyle/>
          <a:p>
            <a:fld id="{5BFA158B-7C94-F543-87DB-41F59EA4FAFA}" type="slidenum">
              <a:rPr lang="en-US" smtClean="0">
                <a:latin typeface="Arial"/>
              </a:rPr>
              <a:pPr/>
              <a:t>54</a:t>
            </a:fld>
            <a:endParaRPr lang="en-US">
              <a:latin typeface="Arial"/>
            </a:endParaRPr>
          </a:p>
        </p:txBody>
      </p:sp>
      <p:pic>
        <p:nvPicPr>
          <p:cNvPr id="8" name="Content Placeholder 7">
            <a:extLst>
              <a:ext uri="{FF2B5EF4-FFF2-40B4-BE49-F238E27FC236}">
                <a16:creationId xmlns:a16="http://schemas.microsoft.com/office/drawing/2014/main" id="{C7224BC8-802D-4AEE-9D4B-5277F46A749D}"/>
              </a:ext>
            </a:extLst>
          </p:cNvPr>
          <p:cNvPicPr>
            <a:picLocks noGrp="1" noChangeAspect="1"/>
          </p:cNvPicPr>
          <p:nvPr>
            <p:ph idx="1"/>
          </p:nvPr>
        </p:nvPicPr>
        <p:blipFill>
          <a:blip r:embed="rId3"/>
          <a:stretch>
            <a:fillRect/>
          </a:stretch>
        </p:blipFill>
        <p:spPr>
          <a:xfrm>
            <a:off x="4225683" y="990600"/>
            <a:ext cx="3740633" cy="5135563"/>
          </a:xfrm>
          <a:prstGeom prst="rect">
            <a:avLst/>
          </a:prstGeom>
        </p:spPr>
      </p:pic>
    </p:spTree>
    <p:extLst>
      <p:ext uri="{BB962C8B-B14F-4D97-AF65-F5344CB8AC3E}">
        <p14:creationId xmlns:p14="http://schemas.microsoft.com/office/powerpoint/2010/main" val="27776346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4EB67-BB46-46DB-BC40-2B9E326F603E}"/>
              </a:ext>
            </a:extLst>
          </p:cNvPr>
          <p:cNvSpPr>
            <a:spLocks noGrp="1"/>
          </p:cNvSpPr>
          <p:nvPr>
            <p:ph type="title"/>
          </p:nvPr>
        </p:nvSpPr>
        <p:spPr/>
        <p:txBody>
          <a:bodyPr/>
          <a:lstStyle/>
          <a:p>
            <a:r>
              <a:rPr lang="en-US" dirty="0"/>
              <a:t>DoS attack: DNS Spoofing</a:t>
            </a:r>
          </a:p>
        </p:txBody>
      </p:sp>
      <p:sp>
        <p:nvSpPr>
          <p:cNvPr id="4" name="Slide Number Placeholder 3">
            <a:extLst>
              <a:ext uri="{FF2B5EF4-FFF2-40B4-BE49-F238E27FC236}">
                <a16:creationId xmlns:a16="http://schemas.microsoft.com/office/drawing/2014/main" id="{16A6B8C8-6082-4B65-B26F-344DD5BACED4}"/>
              </a:ext>
            </a:extLst>
          </p:cNvPr>
          <p:cNvSpPr>
            <a:spLocks noGrp="1"/>
          </p:cNvSpPr>
          <p:nvPr>
            <p:ph type="sldNum" sz="quarter" idx="12"/>
          </p:nvPr>
        </p:nvSpPr>
        <p:spPr/>
        <p:txBody>
          <a:bodyPr/>
          <a:lstStyle/>
          <a:p>
            <a:fld id="{5BFA158B-7C94-F543-87DB-41F59EA4FAFA}" type="slidenum">
              <a:rPr lang="en-US" smtClean="0">
                <a:latin typeface="Arial"/>
              </a:rPr>
              <a:pPr/>
              <a:t>55</a:t>
            </a:fld>
            <a:endParaRPr lang="en-US">
              <a:latin typeface="Arial"/>
            </a:endParaRPr>
          </a:p>
        </p:txBody>
      </p:sp>
      <p:pic>
        <p:nvPicPr>
          <p:cNvPr id="6" name="Content Placeholder 5">
            <a:extLst>
              <a:ext uri="{FF2B5EF4-FFF2-40B4-BE49-F238E27FC236}">
                <a16:creationId xmlns:a16="http://schemas.microsoft.com/office/drawing/2014/main" id="{791B1F73-088C-4959-8371-8A86959968B9}"/>
              </a:ext>
            </a:extLst>
          </p:cNvPr>
          <p:cNvPicPr>
            <a:picLocks noGrp="1" noChangeAspect="1"/>
          </p:cNvPicPr>
          <p:nvPr>
            <p:ph idx="1"/>
          </p:nvPr>
        </p:nvPicPr>
        <p:blipFill>
          <a:blip r:embed="rId3"/>
          <a:stretch>
            <a:fillRect/>
          </a:stretch>
        </p:blipFill>
        <p:spPr>
          <a:xfrm>
            <a:off x="2352675" y="1081881"/>
            <a:ext cx="7486650" cy="4953000"/>
          </a:xfrm>
          <a:prstGeom prst="rect">
            <a:avLst/>
          </a:prstGeom>
        </p:spPr>
      </p:pic>
    </p:spTree>
    <p:extLst>
      <p:ext uri="{BB962C8B-B14F-4D97-AF65-F5344CB8AC3E}">
        <p14:creationId xmlns:p14="http://schemas.microsoft.com/office/powerpoint/2010/main" val="40443131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4EB67-BB46-46DB-BC40-2B9E326F603E}"/>
              </a:ext>
            </a:extLst>
          </p:cNvPr>
          <p:cNvSpPr>
            <a:spLocks noGrp="1"/>
          </p:cNvSpPr>
          <p:nvPr>
            <p:ph type="title"/>
          </p:nvPr>
        </p:nvSpPr>
        <p:spPr/>
        <p:txBody>
          <a:bodyPr/>
          <a:lstStyle/>
          <a:p>
            <a:r>
              <a:rPr lang="en-US" dirty="0"/>
              <a:t>DoS attack: Rerouting routing </a:t>
            </a:r>
          </a:p>
        </p:txBody>
      </p:sp>
      <p:sp>
        <p:nvSpPr>
          <p:cNvPr id="4" name="Slide Number Placeholder 3">
            <a:extLst>
              <a:ext uri="{FF2B5EF4-FFF2-40B4-BE49-F238E27FC236}">
                <a16:creationId xmlns:a16="http://schemas.microsoft.com/office/drawing/2014/main" id="{16A6B8C8-6082-4B65-B26F-344DD5BACED4}"/>
              </a:ext>
            </a:extLst>
          </p:cNvPr>
          <p:cNvSpPr>
            <a:spLocks noGrp="1"/>
          </p:cNvSpPr>
          <p:nvPr>
            <p:ph type="sldNum" sz="quarter" idx="12"/>
          </p:nvPr>
        </p:nvSpPr>
        <p:spPr/>
        <p:txBody>
          <a:bodyPr/>
          <a:lstStyle/>
          <a:p>
            <a:fld id="{5BFA158B-7C94-F543-87DB-41F59EA4FAFA}" type="slidenum">
              <a:rPr lang="en-US" smtClean="0">
                <a:latin typeface="Arial"/>
              </a:rPr>
              <a:pPr/>
              <a:t>56</a:t>
            </a:fld>
            <a:endParaRPr lang="en-US">
              <a:latin typeface="Arial"/>
            </a:endParaRPr>
          </a:p>
        </p:txBody>
      </p:sp>
      <p:sp>
        <p:nvSpPr>
          <p:cNvPr id="9" name="Content Placeholder 8">
            <a:extLst>
              <a:ext uri="{FF2B5EF4-FFF2-40B4-BE49-F238E27FC236}">
                <a16:creationId xmlns:a16="http://schemas.microsoft.com/office/drawing/2014/main" id="{9770F5C2-9401-42E2-A640-71A6ACF812BC}"/>
              </a:ext>
            </a:extLst>
          </p:cNvPr>
          <p:cNvSpPr>
            <a:spLocks noGrp="1"/>
          </p:cNvSpPr>
          <p:nvPr>
            <p:ph idx="1"/>
          </p:nvPr>
        </p:nvSpPr>
        <p:spPr/>
        <p:txBody>
          <a:bodyPr/>
          <a:lstStyle/>
          <a:p>
            <a:endParaRPr lang="en-US"/>
          </a:p>
        </p:txBody>
      </p:sp>
      <p:pic>
        <p:nvPicPr>
          <p:cNvPr id="10" name="Picture 9">
            <a:extLst>
              <a:ext uri="{FF2B5EF4-FFF2-40B4-BE49-F238E27FC236}">
                <a16:creationId xmlns:a16="http://schemas.microsoft.com/office/drawing/2014/main" id="{9BF690F5-1BB3-4474-940C-2FC1BE8503F2}"/>
              </a:ext>
            </a:extLst>
          </p:cNvPr>
          <p:cNvPicPr>
            <a:picLocks noChangeAspect="1"/>
          </p:cNvPicPr>
          <p:nvPr/>
        </p:nvPicPr>
        <p:blipFill>
          <a:blip r:embed="rId3"/>
          <a:stretch>
            <a:fillRect/>
          </a:stretch>
        </p:blipFill>
        <p:spPr>
          <a:xfrm>
            <a:off x="2209800" y="900906"/>
            <a:ext cx="7848600" cy="5314950"/>
          </a:xfrm>
          <a:prstGeom prst="rect">
            <a:avLst/>
          </a:prstGeom>
        </p:spPr>
      </p:pic>
    </p:spTree>
    <p:extLst>
      <p:ext uri="{BB962C8B-B14F-4D97-AF65-F5344CB8AC3E}">
        <p14:creationId xmlns:p14="http://schemas.microsoft.com/office/powerpoint/2010/main" val="23845065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FF6ADE6-2153-4897-96A9-17528F856BF1}"/>
              </a:ext>
            </a:extLst>
          </p:cNvPr>
          <p:cNvSpPr>
            <a:spLocks noGrp="1"/>
          </p:cNvSpPr>
          <p:nvPr>
            <p:ph type="sldNum" sz="quarter" idx="12"/>
          </p:nvPr>
        </p:nvSpPr>
        <p:spPr/>
        <p:txBody>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fld id="{7F082734-BB81-4FB1-B891-1B623BBEBB41}" type="slidenum">
              <a:rPr lang="en-US" altLang="en-US" sz="1400">
                <a:solidFill>
                  <a:srgbClr val="254C9C"/>
                </a:solidFill>
                <a:latin typeface="Arial" panose="020B0604020202020204" pitchFamily="34" charset="0"/>
              </a:rPr>
              <a:pPr eaLnBrk="1" hangingPunct="1"/>
              <a:t>57</a:t>
            </a:fld>
            <a:endParaRPr lang="en-US" altLang="en-US" sz="1400">
              <a:latin typeface="Arial" panose="020B0604020202020204" pitchFamily="34" charset="0"/>
            </a:endParaRPr>
          </a:p>
        </p:txBody>
      </p:sp>
      <p:sp>
        <p:nvSpPr>
          <p:cNvPr id="26629" name="Rectangle 2">
            <a:extLst>
              <a:ext uri="{FF2B5EF4-FFF2-40B4-BE49-F238E27FC236}">
                <a16:creationId xmlns:a16="http://schemas.microsoft.com/office/drawing/2014/main" id="{4343A7C2-D186-485C-AD18-6A7B476ACBB9}"/>
              </a:ext>
            </a:extLst>
          </p:cNvPr>
          <p:cNvSpPr>
            <a:spLocks noGrp="1" noChangeArrowheads="1"/>
          </p:cNvSpPr>
          <p:nvPr>
            <p:ph type="title"/>
          </p:nvPr>
        </p:nvSpPr>
        <p:spPr/>
        <p:txBody>
          <a:bodyPr/>
          <a:lstStyle/>
          <a:p>
            <a:pPr eaLnBrk="1" hangingPunct="1"/>
            <a:r>
              <a:rPr lang="en-US" altLang="en-US" dirty="0"/>
              <a:t>Zombie &amp; Botnet in DDoS attack</a:t>
            </a:r>
          </a:p>
        </p:txBody>
      </p:sp>
      <p:sp>
        <p:nvSpPr>
          <p:cNvPr id="26630" name="Rectangle 3">
            <a:extLst>
              <a:ext uri="{FF2B5EF4-FFF2-40B4-BE49-F238E27FC236}">
                <a16:creationId xmlns:a16="http://schemas.microsoft.com/office/drawing/2014/main" id="{1F415142-64D4-463C-A7D5-E5CA56215D4C}"/>
              </a:ext>
            </a:extLst>
          </p:cNvPr>
          <p:cNvSpPr>
            <a:spLocks noGrp="1" noChangeArrowheads="1"/>
          </p:cNvSpPr>
          <p:nvPr>
            <p:ph type="body" idx="1"/>
          </p:nvPr>
        </p:nvSpPr>
        <p:spPr/>
        <p:txBody>
          <a:bodyPr/>
          <a:lstStyle/>
          <a:p>
            <a:pPr eaLnBrk="1" hangingPunct="1">
              <a:lnSpc>
                <a:spcPct val="90000"/>
              </a:lnSpc>
            </a:pPr>
            <a:r>
              <a:rPr lang="en-US" altLang="en-US" dirty="0"/>
              <a:t>Secretly takes over another networked computer by exploiting software flows</a:t>
            </a:r>
          </a:p>
          <a:p>
            <a:pPr eaLnBrk="1" hangingPunct="1">
              <a:lnSpc>
                <a:spcPct val="90000"/>
              </a:lnSpc>
            </a:pPr>
            <a:r>
              <a:rPr lang="en-US" altLang="en-US" dirty="0"/>
              <a:t>Builds the compromised computers into a zombie network or botnet</a:t>
            </a:r>
          </a:p>
          <a:p>
            <a:pPr lvl="1" eaLnBrk="1" hangingPunct="1">
              <a:lnSpc>
                <a:spcPct val="90000"/>
              </a:lnSpc>
            </a:pPr>
            <a:r>
              <a:rPr lang="en-US" altLang="en-US" dirty="0"/>
              <a:t>a collection of compromised machines running programs, usually referred to as worms, Trojan horses, or backdoors, under a common command and control infrastructure. </a:t>
            </a:r>
          </a:p>
          <a:p>
            <a:pPr eaLnBrk="1" hangingPunct="1">
              <a:lnSpc>
                <a:spcPct val="90000"/>
              </a:lnSpc>
            </a:pPr>
            <a:r>
              <a:rPr lang="en-US" altLang="en-US" dirty="0"/>
              <a:t>Uses it to indirectly launch attacks</a:t>
            </a:r>
          </a:p>
          <a:p>
            <a:pPr lvl="1" eaLnBrk="1" hangingPunct="1">
              <a:lnSpc>
                <a:spcPct val="90000"/>
              </a:lnSpc>
            </a:pPr>
            <a:r>
              <a:rPr lang="en-US" altLang="en-US" dirty="0"/>
              <a:t>E.g., DDoS</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Date Placeholder 2">
            <a:extLst>
              <a:ext uri="{FF2B5EF4-FFF2-40B4-BE49-F238E27FC236}">
                <a16:creationId xmlns:a16="http://schemas.microsoft.com/office/drawing/2014/main" id="{845D0433-1069-4F1E-90CB-358DBBC15AEB}"/>
              </a:ext>
            </a:extLst>
          </p:cNvPr>
          <p:cNvSpPr>
            <a:spLocks noGrp="1"/>
          </p:cNvSpPr>
          <p:nvPr>
            <p:ph type="dt"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FFD5A19-2673-41C5-8531-5DAA33473B58}" type="datetimeFigureOut">
              <a:rPr lang="en-US" smtClean="0"/>
              <a:pPr>
                <a:defRPr/>
              </a:pPr>
              <a:t>10/31/2024</a:t>
            </a:fld>
            <a:endParaRPr lang="en-US">
              <a:solidFill>
                <a:schemeClr val="tx1"/>
              </a:solidFill>
            </a:endParaRPr>
          </a:p>
        </p:txBody>
      </p:sp>
      <p:sp>
        <p:nvSpPr>
          <p:cNvPr id="26" name="Footer Placeholder 3">
            <a:extLst>
              <a:ext uri="{FF2B5EF4-FFF2-40B4-BE49-F238E27FC236}">
                <a16:creationId xmlns:a16="http://schemas.microsoft.com/office/drawing/2014/main" id="{C5735756-B8AC-4D9F-99E4-18E9D07CE66F}"/>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chemeClr val="tx1"/>
              </a:solidFill>
            </a:endParaRPr>
          </a:p>
        </p:txBody>
      </p:sp>
      <p:sp>
        <p:nvSpPr>
          <p:cNvPr id="27" name="Slide Number Placeholder 4">
            <a:extLst>
              <a:ext uri="{FF2B5EF4-FFF2-40B4-BE49-F238E27FC236}">
                <a16:creationId xmlns:a16="http://schemas.microsoft.com/office/drawing/2014/main" id="{ADADB855-A21E-4326-A582-78E3CCE4E1EB}"/>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fld id="{938EA2D2-C3DC-44BB-8211-90B716D51699}" type="slidenum">
              <a:rPr lang="en-US" smtClean="0"/>
              <a:pPr eaLnBrk="1" hangingPunct="1"/>
              <a:t>58</a:t>
            </a:fld>
            <a:endParaRPr lang="en-US" altLang="en-US" sz="1400">
              <a:latin typeface="Arial" panose="020B0604020202020204" pitchFamily="34" charset="0"/>
            </a:endParaRPr>
          </a:p>
        </p:txBody>
      </p:sp>
      <p:sp>
        <p:nvSpPr>
          <p:cNvPr id="27653" name="Rectangle 2">
            <a:extLst>
              <a:ext uri="{FF2B5EF4-FFF2-40B4-BE49-F238E27FC236}">
                <a16:creationId xmlns:a16="http://schemas.microsoft.com/office/drawing/2014/main" id="{22509500-E3EB-41BC-971B-AAB8DD080668}"/>
              </a:ext>
            </a:extLst>
          </p:cNvPr>
          <p:cNvSpPr>
            <a:spLocks noGrp="1" noChangeArrowheads="1"/>
          </p:cNvSpPr>
          <p:nvPr>
            <p:ph type="title"/>
          </p:nvPr>
        </p:nvSpPr>
        <p:spPr/>
        <p:txBody>
          <a:bodyPr/>
          <a:lstStyle/>
          <a:p>
            <a:pPr eaLnBrk="1" hangingPunct="1"/>
            <a:r>
              <a:rPr lang="en-US" altLang="en-US"/>
              <a:t>Detailed Steps (1)</a:t>
            </a:r>
          </a:p>
        </p:txBody>
      </p:sp>
      <p:sp>
        <p:nvSpPr>
          <p:cNvPr id="531459" name="AutoShape 3">
            <a:extLst>
              <a:ext uri="{FF2B5EF4-FFF2-40B4-BE49-F238E27FC236}">
                <a16:creationId xmlns:a16="http://schemas.microsoft.com/office/drawing/2014/main" id="{34888FD1-CB4E-46EB-82A3-0E5DF3E9244C}"/>
              </a:ext>
            </a:extLst>
          </p:cNvPr>
          <p:cNvSpPr>
            <a:spLocks noChangeArrowheads="1"/>
          </p:cNvSpPr>
          <p:nvPr/>
        </p:nvSpPr>
        <p:spPr bwMode="auto">
          <a:xfrm rot="5927984">
            <a:off x="5616575" y="1911350"/>
            <a:ext cx="1295400" cy="6019800"/>
          </a:xfrm>
          <a:custGeom>
            <a:avLst/>
            <a:gdLst>
              <a:gd name="T0" fmla="*/ 2147483647 w 21600"/>
              <a:gd name="T1" fmla="*/ 2147483647 h 21600"/>
              <a:gd name="T2" fmla="*/ 2147483647 w 21600"/>
              <a:gd name="T3" fmla="*/ 2147483647 h 21600"/>
              <a:gd name="T4" fmla="*/ 2147483647 w 21600"/>
              <a:gd name="T5" fmla="*/ 2147483647 h 21600"/>
              <a:gd name="T6" fmla="*/ 2147483647 w 21600"/>
              <a:gd name="T7" fmla="*/ 0 h 21600"/>
              <a:gd name="T8" fmla="*/ 0 60000 65536"/>
              <a:gd name="T9" fmla="*/ 0 60000 65536"/>
              <a:gd name="T10" fmla="*/ 0 60000 65536"/>
              <a:gd name="T11" fmla="*/ 0 60000 65536"/>
              <a:gd name="T12" fmla="*/ 6049 w 21600"/>
              <a:gd name="T13" fmla="*/ 6049 h 21600"/>
              <a:gd name="T14" fmla="*/ 15551 w 21600"/>
              <a:gd name="T15" fmla="*/ 15551 h 21600"/>
            </a:gdLst>
            <a:ahLst/>
            <a:cxnLst>
              <a:cxn ang="T8">
                <a:pos x="T0" y="T1"/>
              </a:cxn>
              <a:cxn ang="T9">
                <a:pos x="T2" y="T3"/>
              </a:cxn>
              <a:cxn ang="T10">
                <a:pos x="T4" y="T5"/>
              </a:cxn>
              <a:cxn ang="T11">
                <a:pos x="T6" y="T7"/>
              </a:cxn>
            </a:cxnLst>
            <a:rect l="T12" t="T13" r="T14" b="T15"/>
            <a:pathLst>
              <a:path w="21600" h="21600">
                <a:moveTo>
                  <a:pt x="0" y="0"/>
                </a:moveTo>
                <a:lnTo>
                  <a:pt x="8497" y="21600"/>
                </a:lnTo>
                <a:lnTo>
                  <a:pt x="13103" y="21600"/>
                </a:lnTo>
                <a:lnTo>
                  <a:pt x="21600" y="0"/>
                </a:lnTo>
                <a:close/>
              </a:path>
            </a:pathLst>
          </a:custGeom>
          <a:solidFill>
            <a:srgbClr val="FFFF00">
              <a:alpha val="50195"/>
            </a:srgbClr>
          </a:solidFill>
          <a:ln w="12700">
            <a:solidFill>
              <a:schemeClr val="tx1"/>
            </a:solidFill>
            <a:miter lim="800000"/>
            <a:headEnd type="none" w="sm" len="sm"/>
            <a:tailEnd type="none" w="sm" len="sm"/>
          </a:ln>
        </p:spPr>
        <p:txBody>
          <a:bodyPr wrap="none" anchor="ctr"/>
          <a:lstStyle/>
          <a:p>
            <a:endParaRPr lang="en-US"/>
          </a:p>
        </p:txBody>
      </p:sp>
      <p:grpSp>
        <p:nvGrpSpPr>
          <p:cNvPr id="2" name="Group 4">
            <a:extLst>
              <a:ext uri="{FF2B5EF4-FFF2-40B4-BE49-F238E27FC236}">
                <a16:creationId xmlns:a16="http://schemas.microsoft.com/office/drawing/2014/main" id="{997524C8-4CED-4C6B-9B2B-6A52FD58EC45}"/>
              </a:ext>
            </a:extLst>
          </p:cNvPr>
          <p:cNvGrpSpPr>
            <a:grpSpLocks/>
          </p:cNvGrpSpPr>
          <p:nvPr/>
        </p:nvGrpSpPr>
        <p:grpSpPr bwMode="auto">
          <a:xfrm>
            <a:off x="5511800" y="2184400"/>
            <a:ext cx="4908550" cy="2286000"/>
            <a:chOff x="2352" y="1056"/>
            <a:chExt cx="3092" cy="1440"/>
          </a:xfrm>
        </p:grpSpPr>
        <p:pic>
          <p:nvPicPr>
            <p:cNvPr id="27666" name="Picture 5" descr="pc-ppt2">
              <a:extLst>
                <a:ext uri="{FF2B5EF4-FFF2-40B4-BE49-F238E27FC236}">
                  <a16:creationId xmlns:a16="http://schemas.microsoft.com/office/drawing/2014/main" id="{9EC3D52A-8862-45A1-9034-6A4461D33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2" y="1948"/>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7" name="Picture 6" descr="pc-ppt2">
              <a:extLst>
                <a:ext uri="{FF2B5EF4-FFF2-40B4-BE49-F238E27FC236}">
                  <a16:creationId xmlns:a16="http://schemas.microsoft.com/office/drawing/2014/main" id="{BE310D6D-639F-4638-A09B-D4D6B5B127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96" y="1948"/>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8" name="Picture 7" descr="pc-ppt2">
              <a:extLst>
                <a:ext uri="{FF2B5EF4-FFF2-40B4-BE49-F238E27FC236}">
                  <a16:creationId xmlns:a16="http://schemas.microsoft.com/office/drawing/2014/main" id="{3117E195-4620-45AE-8BB1-4C21791AE1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8" y="1948"/>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9" name="Picture 8" descr="pc-ppt2">
              <a:extLst>
                <a:ext uri="{FF2B5EF4-FFF2-40B4-BE49-F238E27FC236}">
                  <a16:creationId xmlns:a16="http://schemas.microsoft.com/office/drawing/2014/main" id="{A97205D6-70F6-40F6-BFB0-C033F4E410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24" y="1948"/>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0" name="Picture 9" descr="pc-ppt2">
              <a:extLst>
                <a:ext uri="{FF2B5EF4-FFF2-40B4-BE49-F238E27FC236}">
                  <a16:creationId xmlns:a16="http://schemas.microsoft.com/office/drawing/2014/main" id="{6BB40751-C651-446C-9A4B-D5F1254350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0" y="1948"/>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1" name="Picture 10" descr="pc-ppt2">
              <a:extLst>
                <a:ext uri="{FF2B5EF4-FFF2-40B4-BE49-F238E27FC236}">
                  <a16:creationId xmlns:a16="http://schemas.microsoft.com/office/drawing/2014/main" id="{28F509B3-0B5F-437A-9089-2E752FB97F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8" y="1315"/>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2" name="Picture 11" descr="pc-ppt2">
              <a:extLst>
                <a:ext uri="{FF2B5EF4-FFF2-40B4-BE49-F238E27FC236}">
                  <a16:creationId xmlns:a16="http://schemas.microsoft.com/office/drawing/2014/main" id="{B263D6CC-6194-402E-9232-15A7A82AE0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60" y="1315"/>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3" name="Picture 12" descr="pc-ppt2">
              <a:extLst>
                <a:ext uri="{FF2B5EF4-FFF2-40B4-BE49-F238E27FC236}">
                  <a16:creationId xmlns:a16="http://schemas.microsoft.com/office/drawing/2014/main" id="{AAF54E2A-753A-4AD3-A6F6-D3A0788A49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6" y="1315"/>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74" name="Picture 13" descr="pc-ppt2">
              <a:extLst>
                <a:ext uri="{FF2B5EF4-FFF2-40B4-BE49-F238E27FC236}">
                  <a16:creationId xmlns:a16="http://schemas.microsoft.com/office/drawing/2014/main" id="{9427E345-9DCD-4DE0-937D-94C49EE554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2" y="1315"/>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1470" name="Rectangle 14">
              <a:extLst>
                <a:ext uri="{FF2B5EF4-FFF2-40B4-BE49-F238E27FC236}">
                  <a16:creationId xmlns:a16="http://schemas.microsoft.com/office/drawing/2014/main" id="{8738539E-DB2E-485E-8A25-70ED0A3BE536}"/>
                </a:ext>
              </a:extLst>
            </p:cNvPr>
            <p:cNvSpPr>
              <a:spLocks noChangeArrowheads="1"/>
            </p:cNvSpPr>
            <p:nvPr/>
          </p:nvSpPr>
          <p:spPr bwMode="auto">
            <a:xfrm>
              <a:off x="2979" y="1056"/>
              <a:ext cx="1885" cy="231"/>
            </a:xfrm>
            <a:prstGeom prst="rect">
              <a:avLst/>
            </a:prstGeom>
            <a:noFill/>
            <a:ln w="9525">
              <a:noFill/>
              <a:miter lim="800000"/>
              <a:headEnd/>
              <a:tailEnd/>
            </a:ln>
            <a:effectLst/>
          </p:spPr>
          <p:txBody>
            <a:bodyPr wrap="none" lIns="92075" tIns="46038" rIns="92075" bIns="46038">
              <a:spAutoFit/>
            </a:bodyPr>
            <a:lstStyle/>
            <a:p>
              <a:pPr algn="ctr" eaLnBrk="0" hangingPunct="0">
                <a:lnSpc>
                  <a:spcPct val="90000"/>
                </a:lnSpc>
                <a:defRPr/>
              </a:pPr>
              <a:r>
                <a:rPr lang="en-US" sz="2000" b="1">
                  <a:latin typeface="Tahoma" pitchFamily="34" charset="0"/>
                </a:rPr>
                <a:t>Unsecured Computers</a:t>
              </a:r>
              <a:endParaRPr lang="en-US" sz="2000" b="1">
                <a:effectLst>
                  <a:outerShdw blurRad="38100" dist="38100" dir="2700000" algn="tl">
                    <a:srgbClr val="C0C0C0"/>
                  </a:outerShdw>
                </a:effectLst>
                <a:latin typeface="Tahoma" pitchFamily="34" charset="0"/>
              </a:endParaRPr>
            </a:p>
          </p:txBody>
        </p:sp>
      </p:grpSp>
      <p:grpSp>
        <p:nvGrpSpPr>
          <p:cNvPr id="27656" name="Group 15">
            <a:extLst>
              <a:ext uri="{FF2B5EF4-FFF2-40B4-BE49-F238E27FC236}">
                <a16:creationId xmlns:a16="http://schemas.microsoft.com/office/drawing/2014/main" id="{F27DFA3C-0987-4892-AC78-804FBA068CF2}"/>
              </a:ext>
            </a:extLst>
          </p:cNvPr>
          <p:cNvGrpSpPr>
            <a:grpSpLocks/>
          </p:cNvGrpSpPr>
          <p:nvPr/>
        </p:nvGrpSpPr>
        <p:grpSpPr bwMode="auto">
          <a:xfrm>
            <a:off x="1920876" y="2533650"/>
            <a:ext cx="1266825" cy="2249488"/>
            <a:chOff x="85" y="731"/>
            <a:chExt cx="798" cy="1417"/>
          </a:xfrm>
        </p:grpSpPr>
        <p:pic>
          <p:nvPicPr>
            <p:cNvPr id="27663" name="Picture 16" descr="pc-ppt2">
              <a:extLst>
                <a:ext uri="{FF2B5EF4-FFF2-40B4-BE49-F238E27FC236}">
                  <a16:creationId xmlns:a16="http://schemas.microsoft.com/office/drawing/2014/main" id="{2AA56367-606F-4371-8DB7-D59C925373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 y="1564"/>
              <a:ext cx="584"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4" name="Picture 17" descr="hacker-ppt">
              <a:extLst>
                <a:ext uri="{FF2B5EF4-FFF2-40B4-BE49-F238E27FC236}">
                  <a16:creationId xmlns:a16="http://schemas.microsoft.com/office/drawing/2014/main" id="{E64B7A01-9845-49F9-9500-867A3AA88A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 y="976"/>
              <a:ext cx="571"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5" name="Rectangle 18">
              <a:extLst>
                <a:ext uri="{FF2B5EF4-FFF2-40B4-BE49-F238E27FC236}">
                  <a16:creationId xmlns:a16="http://schemas.microsoft.com/office/drawing/2014/main" id="{666221E4-0E04-42E5-A462-31CA2AA3351B}"/>
                </a:ext>
              </a:extLst>
            </p:cNvPr>
            <p:cNvSpPr>
              <a:spLocks noChangeArrowheads="1"/>
            </p:cNvSpPr>
            <p:nvPr/>
          </p:nvSpPr>
          <p:spPr bwMode="auto">
            <a:xfrm>
              <a:off x="85" y="731"/>
              <a:ext cx="7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Attacker</a:t>
              </a:r>
            </a:p>
          </p:txBody>
        </p:sp>
      </p:grpSp>
      <p:grpSp>
        <p:nvGrpSpPr>
          <p:cNvPr id="27657" name="Group 19">
            <a:extLst>
              <a:ext uri="{FF2B5EF4-FFF2-40B4-BE49-F238E27FC236}">
                <a16:creationId xmlns:a16="http://schemas.microsoft.com/office/drawing/2014/main" id="{569E492F-CAF2-4B6D-93E4-829176CEE7B2}"/>
              </a:ext>
            </a:extLst>
          </p:cNvPr>
          <p:cNvGrpSpPr>
            <a:grpSpLocks/>
          </p:cNvGrpSpPr>
          <p:nvPr/>
        </p:nvGrpSpPr>
        <p:grpSpPr bwMode="auto">
          <a:xfrm>
            <a:off x="3082925" y="1716089"/>
            <a:ext cx="3067050" cy="1323975"/>
            <a:chOff x="768" y="912"/>
            <a:chExt cx="1932" cy="834"/>
          </a:xfrm>
        </p:grpSpPr>
        <p:sp>
          <p:nvSpPr>
            <p:cNvPr id="531476" name="Rectangle 20">
              <a:extLst>
                <a:ext uri="{FF2B5EF4-FFF2-40B4-BE49-F238E27FC236}">
                  <a16:creationId xmlns:a16="http://schemas.microsoft.com/office/drawing/2014/main" id="{D5116BEF-DB41-45C5-AC97-C7C14F23580C}"/>
                </a:ext>
              </a:extLst>
            </p:cNvPr>
            <p:cNvSpPr>
              <a:spLocks noChangeArrowheads="1"/>
            </p:cNvSpPr>
            <p:nvPr/>
          </p:nvSpPr>
          <p:spPr bwMode="auto">
            <a:xfrm>
              <a:off x="768" y="912"/>
              <a:ext cx="1932" cy="834"/>
            </a:xfrm>
            <a:prstGeom prst="rect">
              <a:avLst/>
            </a:prstGeom>
            <a:noFill/>
            <a:ln w="38100">
              <a:noFill/>
              <a:miter lim="800000"/>
              <a:headEnd/>
              <a:tailEnd/>
            </a:ln>
            <a:effectLst/>
          </p:spPr>
          <p:txBody>
            <a:bodyPr lIns="92075" tIns="46038" rIns="92075" bIns="46038">
              <a:spAutoFit/>
            </a:bodyPr>
            <a:lstStyle/>
            <a:p>
              <a:pPr eaLnBrk="0" hangingPunct="0">
                <a:defRPr/>
              </a:pPr>
              <a:r>
                <a:rPr lang="en-US" sz="2000" b="1">
                  <a:effectLst>
                    <a:outerShdw blurRad="38100" dist="38100" dir="2700000" algn="tl">
                      <a:srgbClr val="C0C0C0"/>
                    </a:outerShdw>
                  </a:effectLst>
                  <a:latin typeface="Tahoma" pitchFamily="34" charset="0"/>
                </a:rPr>
                <a:t>      </a:t>
              </a:r>
              <a:r>
                <a:rPr lang="en-US" sz="2000">
                  <a:latin typeface="Tahoma" pitchFamily="34" charset="0"/>
                </a:rPr>
                <a:t>Attacker scans</a:t>
              </a:r>
              <a:br>
                <a:rPr lang="en-US" sz="2000">
                  <a:latin typeface="Tahoma" pitchFamily="34" charset="0"/>
                </a:rPr>
              </a:br>
              <a:r>
                <a:rPr lang="en-US" sz="2000">
                  <a:latin typeface="Tahoma" pitchFamily="34" charset="0"/>
                </a:rPr>
                <a:t>      Internet for unsecured systems that can be compromised</a:t>
              </a:r>
              <a:endParaRPr lang="en-US" sz="2000">
                <a:effectLst>
                  <a:outerShdw blurRad="38100" dist="38100" dir="2700000" algn="tl">
                    <a:srgbClr val="C0C0C0"/>
                  </a:outerShdw>
                </a:effectLst>
                <a:latin typeface="Tahoma" pitchFamily="34" charset="0"/>
              </a:endParaRPr>
            </a:p>
          </p:txBody>
        </p:sp>
        <p:sp>
          <p:nvSpPr>
            <p:cNvPr id="27662" name="Oval 21">
              <a:extLst>
                <a:ext uri="{FF2B5EF4-FFF2-40B4-BE49-F238E27FC236}">
                  <a16:creationId xmlns:a16="http://schemas.microsoft.com/office/drawing/2014/main" id="{513BD770-30E4-4506-9A76-81F5F521E626}"/>
                </a:ext>
              </a:extLst>
            </p:cNvPr>
            <p:cNvSpPr>
              <a:spLocks noChangeArrowheads="1"/>
            </p:cNvSpPr>
            <p:nvPr/>
          </p:nvSpPr>
          <p:spPr bwMode="auto">
            <a:xfrm>
              <a:off x="768" y="960"/>
              <a:ext cx="288" cy="288"/>
            </a:xfrm>
            <a:prstGeom prst="ellipse">
              <a:avLst/>
            </a:prstGeom>
            <a:solidFill>
              <a:srgbClr val="FFFF00"/>
            </a:solidFill>
            <a:ln w="38100">
              <a:solidFill>
                <a:schemeClr val="tx1"/>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rgbClr val="000000"/>
                  </a:solidFill>
                  <a:latin typeface="Arial" panose="020B0604020202020204" pitchFamily="34" charset="0"/>
                </a:rPr>
                <a:t>1</a:t>
              </a:r>
            </a:p>
          </p:txBody>
        </p:sp>
      </p:grpSp>
      <p:grpSp>
        <p:nvGrpSpPr>
          <p:cNvPr id="27658" name="Group 22">
            <a:extLst>
              <a:ext uri="{FF2B5EF4-FFF2-40B4-BE49-F238E27FC236}">
                <a16:creationId xmlns:a16="http://schemas.microsoft.com/office/drawing/2014/main" id="{AFCECE39-1FD4-4AF9-87A3-6C9D513F6401}"/>
              </a:ext>
            </a:extLst>
          </p:cNvPr>
          <p:cNvGrpSpPr>
            <a:grpSpLocks/>
          </p:cNvGrpSpPr>
          <p:nvPr/>
        </p:nvGrpSpPr>
        <p:grpSpPr bwMode="auto">
          <a:xfrm>
            <a:off x="6654800" y="4699000"/>
            <a:ext cx="2857500" cy="1074738"/>
            <a:chOff x="2904" y="2635"/>
            <a:chExt cx="1800" cy="677"/>
          </a:xfrm>
        </p:grpSpPr>
        <p:pic>
          <p:nvPicPr>
            <p:cNvPr id="27659" name="Picture 23" descr="cloud">
              <a:extLst>
                <a:ext uri="{FF2B5EF4-FFF2-40B4-BE49-F238E27FC236}">
                  <a16:creationId xmlns:a16="http://schemas.microsoft.com/office/drawing/2014/main" id="{5C85A065-C718-46D6-B494-3C89D6DAB9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4" y="2635"/>
              <a:ext cx="1800"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0" name="Rectangle 24">
              <a:extLst>
                <a:ext uri="{FF2B5EF4-FFF2-40B4-BE49-F238E27FC236}">
                  <a16:creationId xmlns:a16="http://schemas.microsoft.com/office/drawing/2014/main" id="{864136A0-263A-4E81-BD38-50ADF9411322}"/>
                </a:ext>
              </a:extLst>
            </p:cNvPr>
            <p:cNvSpPr>
              <a:spLocks noChangeAspect="1" noChangeArrowheads="1"/>
            </p:cNvSpPr>
            <p:nvPr/>
          </p:nvSpPr>
          <p:spPr bwMode="auto">
            <a:xfrm>
              <a:off x="3301" y="2730"/>
              <a:ext cx="9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chemeClr val="bg2"/>
                  </a:solidFill>
                  <a:latin typeface="Tahoma" panose="020B0604030504040204" pitchFamily="34" charset="0"/>
                </a:rPr>
                <a:t>Internet</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1000"/>
                                  </p:stCondLst>
                                  <p:childTnLst>
                                    <p:set>
                                      <p:cBhvr>
                                        <p:cTn id="6" dur="1" fill="hold">
                                          <p:stCondLst>
                                            <p:cond delay="0"/>
                                          </p:stCondLst>
                                        </p:cTn>
                                        <p:tgtEl>
                                          <p:spTgt spid="531459"/>
                                        </p:tgtEl>
                                        <p:attrNameLst>
                                          <p:attrName>style.visibility</p:attrName>
                                        </p:attrNameLst>
                                      </p:cBhvr>
                                      <p:to>
                                        <p:strVal val="visible"/>
                                      </p:to>
                                    </p:set>
                                    <p:animEffect transition="in" filter="wipe(left)">
                                      <p:cBhvr>
                                        <p:cTn id="7" dur="500"/>
                                        <p:tgtEl>
                                          <p:spTgt spid="531459"/>
                                        </p:tgtEl>
                                      </p:cBhvr>
                                    </p:animEffect>
                                  </p:childTnLst>
                                </p:cTn>
                              </p:par>
                            </p:childTnLst>
                          </p:cTn>
                        </p:par>
                        <p:par>
                          <p:cTn id="8" fill="hold" nodeType="afterGroup">
                            <p:stCondLst>
                              <p:cond delay="1500"/>
                            </p:stCondLst>
                            <p:childTnLst>
                              <p:par>
                                <p:cTn id="9" presetID="22" presetClass="entr" presetSubtype="1" fill="hold" nodeType="afterEffect">
                                  <p:stCondLst>
                                    <p:cond delay="1000"/>
                                  </p:stCondLst>
                                  <p:childTnLst>
                                    <p:set>
                                      <p:cBhvr>
                                        <p:cTn id="10" dur="1" fill="hold">
                                          <p:stCondLst>
                                            <p:cond delay="0"/>
                                          </p:stCondLst>
                                        </p:cTn>
                                        <p:tgtEl>
                                          <p:spTgt spid="2"/>
                                        </p:tgtEl>
                                        <p:attrNameLst>
                                          <p:attrName>style.visibility</p:attrName>
                                        </p:attrNameLst>
                                      </p:cBhvr>
                                      <p:to>
                                        <p:strVal val="visible"/>
                                      </p:to>
                                    </p:set>
                                    <p:animEffect transition="in" filter="wipe(up)">
                                      <p:cBhvr>
                                        <p:cTn id="1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Date Placeholder 2">
            <a:extLst>
              <a:ext uri="{FF2B5EF4-FFF2-40B4-BE49-F238E27FC236}">
                <a16:creationId xmlns:a16="http://schemas.microsoft.com/office/drawing/2014/main" id="{D080C28E-5E56-423F-A469-6CE3BD0EFE8C}"/>
              </a:ext>
            </a:extLst>
          </p:cNvPr>
          <p:cNvSpPr>
            <a:spLocks noGrp="1"/>
          </p:cNvSpPr>
          <p:nvPr>
            <p:ph type="dt"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FFD5A19-2673-41C5-8531-5DAA33473B58}" type="datetimeFigureOut">
              <a:rPr lang="en-US" smtClean="0"/>
              <a:pPr>
                <a:defRPr/>
              </a:pPr>
              <a:t>10/31/2024</a:t>
            </a:fld>
            <a:endParaRPr lang="en-US">
              <a:solidFill>
                <a:schemeClr val="tx1"/>
              </a:solidFill>
            </a:endParaRPr>
          </a:p>
        </p:txBody>
      </p:sp>
      <p:sp>
        <p:nvSpPr>
          <p:cNvPr id="36" name="Footer Placeholder 3">
            <a:extLst>
              <a:ext uri="{FF2B5EF4-FFF2-40B4-BE49-F238E27FC236}">
                <a16:creationId xmlns:a16="http://schemas.microsoft.com/office/drawing/2014/main" id="{8737755F-5598-478E-BCBB-E49477959064}"/>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chemeClr val="tx1"/>
              </a:solidFill>
            </a:endParaRPr>
          </a:p>
        </p:txBody>
      </p:sp>
      <p:sp>
        <p:nvSpPr>
          <p:cNvPr id="37" name="Slide Number Placeholder 4">
            <a:extLst>
              <a:ext uri="{FF2B5EF4-FFF2-40B4-BE49-F238E27FC236}">
                <a16:creationId xmlns:a16="http://schemas.microsoft.com/office/drawing/2014/main" id="{BF05ACAE-83C0-4E6B-B19C-5E33BC4AD72A}"/>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fld id="{938EA2D2-C3DC-44BB-8211-90B716D51699}" type="slidenum">
              <a:rPr lang="en-US" smtClean="0"/>
              <a:pPr eaLnBrk="1" hangingPunct="1"/>
              <a:t>59</a:t>
            </a:fld>
            <a:endParaRPr lang="en-US" altLang="en-US" sz="1400">
              <a:latin typeface="Arial" panose="020B0604020202020204" pitchFamily="34" charset="0"/>
            </a:endParaRPr>
          </a:p>
        </p:txBody>
      </p:sp>
      <p:sp>
        <p:nvSpPr>
          <p:cNvPr id="28677" name="Rectangle 2">
            <a:extLst>
              <a:ext uri="{FF2B5EF4-FFF2-40B4-BE49-F238E27FC236}">
                <a16:creationId xmlns:a16="http://schemas.microsoft.com/office/drawing/2014/main" id="{93FB614B-C5A6-4F55-A271-0DDD6FF09C96}"/>
              </a:ext>
            </a:extLst>
          </p:cNvPr>
          <p:cNvSpPr>
            <a:spLocks noGrp="1" noChangeArrowheads="1"/>
          </p:cNvSpPr>
          <p:nvPr>
            <p:ph type="title"/>
          </p:nvPr>
        </p:nvSpPr>
        <p:spPr/>
        <p:txBody>
          <a:bodyPr/>
          <a:lstStyle/>
          <a:p>
            <a:pPr eaLnBrk="1" hangingPunct="1"/>
            <a:r>
              <a:rPr lang="en-US" altLang="en-US"/>
              <a:t>Detailed Steps (2)</a:t>
            </a:r>
          </a:p>
        </p:txBody>
      </p:sp>
      <p:pic>
        <p:nvPicPr>
          <p:cNvPr id="28678" name="Picture 3" descr="pc-ppt2">
            <a:extLst>
              <a:ext uri="{FF2B5EF4-FFF2-40B4-BE49-F238E27FC236}">
                <a16:creationId xmlns:a16="http://schemas.microsoft.com/office/drawing/2014/main" id="{CF42BA7C-8582-4D12-94D8-6E387CEE21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18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4" descr="pc-ppt2">
            <a:extLst>
              <a:ext uri="{FF2B5EF4-FFF2-40B4-BE49-F238E27FC236}">
                <a16:creationId xmlns:a16="http://schemas.microsoft.com/office/drawing/2014/main" id="{C63EB535-B583-456A-B1F0-D05A45C2CC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04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Picture 5" descr="pc-ppt2">
            <a:extLst>
              <a:ext uri="{FF2B5EF4-FFF2-40B4-BE49-F238E27FC236}">
                <a16:creationId xmlns:a16="http://schemas.microsoft.com/office/drawing/2014/main" id="{E2100A44-DE36-471C-9459-23B9BD87DD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145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1" name="Picture 6" descr="pc-ppt2">
            <a:extLst>
              <a:ext uri="{FF2B5EF4-FFF2-40B4-BE49-F238E27FC236}">
                <a16:creationId xmlns:a16="http://schemas.microsoft.com/office/drawing/2014/main" id="{965A4080-D9B0-4E51-8BEC-5F830AB18C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11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2" name="Picture 7" descr="pc-ppt2">
            <a:extLst>
              <a:ext uri="{FF2B5EF4-FFF2-40B4-BE49-F238E27FC236}">
                <a16:creationId xmlns:a16="http://schemas.microsoft.com/office/drawing/2014/main" id="{41985AF4-3BE7-49FC-A4C0-83D67EC67E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075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3" name="Picture 8" descr="pc-ppt2">
            <a:extLst>
              <a:ext uri="{FF2B5EF4-FFF2-40B4-BE49-F238E27FC236}">
                <a16:creationId xmlns:a16="http://schemas.microsoft.com/office/drawing/2014/main" id="{BD075D50-9ABE-48C4-8187-70854919C3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52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4" name="Picture 9" descr="pc-ppt2">
            <a:extLst>
              <a:ext uri="{FF2B5EF4-FFF2-40B4-BE49-F238E27FC236}">
                <a16:creationId xmlns:a16="http://schemas.microsoft.com/office/drawing/2014/main" id="{54D7AD19-5FE2-496E-B052-C8001022D0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70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5" name="Picture 10" descr="pc-ppt2">
            <a:extLst>
              <a:ext uri="{FF2B5EF4-FFF2-40B4-BE49-F238E27FC236}">
                <a16:creationId xmlns:a16="http://schemas.microsoft.com/office/drawing/2014/main" id="{EB38D5B7-C4E5-4FD7-8450-14EAE80C8B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64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6" name="Picture 11" descr="pc-ppt2">
            <a:extLst>
              <a:ext uri="{FF2B5EF4-FFF2-40B4-BE49-F238E27FC236}">
                <a16:creationId xmlns:a16="http://schemas.microsoft.com/office/drawing/2014/main" id="{B57FFFD0-0C72-40D4-9D51-B709A465FD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58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492" name="Rectangle 12">
            <a:extLst>
              <a:ext uri="{FF2B5EF4-FFF2-40B4-BE49-F238E27FC236}">
                <a16:creationId xmlns:a16="http://schemas.microsoft.com/office/drawing/2014/main" id="{9209833E-21D3-4B8C-8E57-7BABA3734461}"/>
              </a:ext>
            </a:extLst>
          </p:cNvPr>
          <p:cNvSpPr>
            <a:spLocks noChangeArrowheads="1"/>
          </p:cNvSpPr>
          <p:nvPr/>
        </p:nvSpPr>
        <p:spPr bwMode="auto">
          <a:xfrm>
            <a:off x="6296985" y="2184400"/>
            <a:ext cx="3412794" cy="369974"/>
          </a:xfrm>
          <a:prstGeom prst="rect">
            <a:avLst/>
          </a:prstGeom>
          <a:noFill/>
          <a:ln w="9525">
            <a:noFill/>
            <a:miter lim="800000"/>
            <a:headEnd/>
            <a:tailEnd/>
          </a:ln>
          <a:effectLst/>
        </p:spPr>
        <p:txBody>
          <a:bodyPr wrap="none" lIns="92075" tIns="46038" rIns="92075" bIns="46038">
            <a:spAutoFit/>
          </a:bodyPr>
          <a:lstStyle/>
          <a:p>
            <a:pPr algn="ctr" eaLnBrk="0" hangingPunct="0">
              <a:lnSpc>
                <a:spcPct val="90000"/>
              </a:lnSpc>
              <a:defRPr/>
            </a:pPr>
            <a:r>
              <a:rPr lang="en-US" sz="2000" b="1">
                <a:latin typeface="Tahoma" pitchFamily="34" charset="0"/>
              </a:rPr>
              <a:t>Unsecured Computersbie</a:t>
            </a:r>
            <a:endParaRPr lang="en-US" sz="2000" b="1">
              <a:effectLst>
                <a:outerShdw blurRad="38100" dist="38100" dir="2700000" algn="tl">
                  <a:srgbClr val="C0C0C0"/>
                </a:outerShdw>
              </a:effectLst>
              <a:latin typeface="Tahoma" pitchFamily="34" charset="0"/>
            </a:endParaRPr>
          </a:p>
        </p:txBody>
      </p:sp>
      <p:grpSp>
        <p:nvGrpSpPr>
          <p:cNvPr id="28688" name="Group 13">
            <a:extLst>
              <a:ext uri="{FF2B5EF4-FFF2-40B4-BE49-F238E27FC236}">
                <a16:creationId xmlns:a16="http://schemas.microsoft.com/office/drawing/2014/main" id="{A2F615A8-5568-4917-8578-78D62137CF55}"/>
              </a:ext>
            </a:extLst>
          </p:cNvPr>
          <p:cNvGrpSpPr>
            <a:grpSpLocks/>
          </p:cNvGrpSpPr>
          <p:nvPr/>
        </p:nvGrpSpPr>
        <p:grpSpPr bwMode="auto">
          <a:xfrm>
            <a:off x="1920876" y="2533650"/>
            <a:ext cx="1266825" cy="2249488"/>
            <a:chOff x="85" y="731"/>
            <a:chExt cx="798" cy="1417"/>
          </a:xfrm>
        </p:grpSpPr>
        <p:pic>
          <p:nvPicPr>
            <p:cNvPr id="28707" name="Picture 14" descr="pc-ppt2">
              <a:extLst>
                <a:ext uri="{FF2B5EF4-FFF2-40B4-BE49-F238E27FC236}">
                  <a16:creationId xmlns:a16="http://schemas.microsoft.com/office/drawing/2014/main" id="{46B66008-64B4-4033-94E6-4B4B1E587B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 y="1564"/>
              <a:ext cx="584"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708" name="Picture 15" descr="hacker-ppt">
              <a:extLst>
                <a:ext uri="{FF2B5EF4-FFF2-40B4-BE49-F238E27FC236}">
                  <a16:creationId xmlns:a16="http://schemas.microsoft.com/office/drawing/2014/main" id="{22D5CD1B-88B2-4D2A-A52B-563AF916E4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 y="976"/>
              <a:ext cx="571"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9" name="Rectangle 16">
              <a:extLst>
                <a:ext uri="{FF2B5EF4-FFF2-40B4-BE49-F238E27FC236}">
                  <a16:creationId xmlns:a16="http://schemas.microsoft.com/office/drawing/2014/main" id="{D22C6809-D029-4307-91AE-5C7C9FF4095D}"/>
                </a:ext>
              </a:extLst>
            </p:cNvPr>
            <p:cNvSpPr>
              <a:spLocks noChangeArrowheads="1"/>
            </p:cNvSpPr>
            <p:nvPr/>
          </p:nvSpPr>
          <p:spPr bwMode="auto">
            <a:xfrm>
              <a:off x="85" y="731"/>
              <a:ext cx="7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Attacker</a:t>
              </a:r>
            </a:p>
          </p:txBody>
        </p:sp>
      </p:grpSp>
      <p:grpSp>
        <p:nvGrpSpPr>
          <p:cNvPr id="28689" name="Group 17">
            <a:extLst>
              <a:ext uri="{FF2B5EF4-FFF2-40B4-BE49-F238E27FC236}">
                <a16:creationId xmlns:a16="http://schemas.microsoft.com/office/drawing/2014/main" id="{7E4E4A8A-B5B7-47F5-B8B9-6327EA1868E8}"/>
              </a:ext>
            </a:extLst>
          </p:cNvPr>
          <p:cNvGrpSpPr>
            <a:grpSpLocks/>
          </p:cNvGrpSpPr>
          <p:nvPr/>
        </p:nvGrpSpPr>
        <p:grpSpPr bwMode="auto">
          <a:xfrm>
            <a:off x="6654800" y="4699000"/>
            <a:ext cx="2857500" cy="1074738"/>
            <a:chOff x="2904" y="2635"/>
            <a:chExt cx="1800" cy="677"/>
          </a:xfrm>
        </p:grpSpPr>
        <p:pic>
          <p:nvPicPr>
            <p:cNvPr id="28705" name="Picture 18" descr="cloud">
              <a:extLst>
                <a:ext uri="{FF2B5EF4-FFF2-40B4-BE49-F238E27FC236}">
                  <a16:creationId xmlns:a16="http://schemas.microsoft.com/office/drawing/2014/main" id="{B4D982A6-A648-4AF5-9036-ED46932934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4" y="2635"/>
              <a:ext cx="1800"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706" name="Rectangle 19">
              <a:extLst>
                <a:ext uri="{FF2B5EF4-FFF2-40B4-BE49-F238E27FC236}">
                  <a16:creationId xmlns:a16="http://schemas.microsoft.com/office/drawing/2014/main" id="{7376F602-30E0-40D0-8EF5-9F407F613E32}"/>
                </a:ext>
              </a:extLst>
            </p:cNvPr>
            <p:cNvSpPr>
              <a:spLocks noChangeAspect="1" noChangeArrowheads="1"/>
            </p:cNvSpPr>
            <p:nvPr/>
          </p:nvSpPr>
          <p:spPr bwMode="auto">
            <a:xfrm>
              <a:off x="3301" y="2730"/>
              <a:ext cx="9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chemeClr val="bg2"/>
                  </a:solidFill>
                  <a:latin typeface="Tahoma" panose="020B0604030504040204" pitchFamily="34" charset="0"/>
                </a:rPr>
                <a:t>Internet</a:t>
              </a:r>
            </a:p>
          </p:txBody>
        </p:sp>
      </p:grpSp>
      <p:grpSp>
        <p:nvGrpSpPr>
          <p:cNvPr id="28690" name="Group 20">
            <a:extLst>
              <a:ext uri="{FF2B5EF4-FFF2-40B4-BE49-F238E27FC236}">
                <a16:creationId xmlns:a16="http://schemas.microsoft.com/office/drawing/2014/main" id="{C056D633-94FA-452D-BDBF-C59234804D10}"/>
              </a:ext>
            </a:extLst>
          </p:cNvPr>
          <p:cNvGrpSpPr>
            <a:grpSpLocks/>
          </p:cNvGrpSpPr>
          <p:nvPr/>
        </p:nvGrpSpPr>
        <p:grpSpPr bwMode="auto">
          <a:xfrm>
            <a:off x="3143250" y="1771650"/>
            <a:ext cx="3352800" cy="1631950"/>
            <a:chOff x="192" y="2208"/>
            <a:chExt cx="2112" cy="1028"/>
          </a:xfrm>
        </p:grpSpPr>
        <p:sp>
          <p:nvSpPr>
            <p:cNvPr id="532501" name="Rectangle 21">
              <a:extLst>
                <a:ext uri="{FF2B5EF4-FFF2-40B4-BE49-F238E27FC236}">
                  <a16:creationId xmlns:a16="http://schemas.microsoft.com/office/drawing/2014/main" id="{69EE7543-8AED-48F1-8724-4AF683472CF4}"/>
                </a:ext>
              </a:extLst>
            </p:cNvPr>
            <p:cNvSpPr>
              <a:spLocks noChangeArrowheads="1"/>
            </p:cNvSpPr>
            <p:nvPr/>
          </p:nvSpPr>
          <p:spPr bwMode="auto">
            <a:xfrm>
              <a:off x="192" y="2208"/>
              <a:ext cx="2112" cy="1028"/>
            </a:xfrm>
            <a:prstGeom prst="rect">
              <a:avLst/>
            </a:prstGeom>
            <a:noFill/>
            <a:ln w="9525">
              <a:noFill/>
              <a:miter lim="800000"/>
              <a:headEnd/>
              <a:tailEnd/>
            </a:ln>
            <a:effectLst/>
          </p:spPr>
          <p:txBody>
            <a:bodyPr lIns="92075" tIns="46038" rIns="92075" bIns="46038">
              <a:spAutoFit/>
            </a:bodyPr>
            <a:lstStyle/>
            <a:p>
              <a:pPr eaLnBrk="0" hangingPunct="0">
                <a:defRPr/>
              </a:pPr>
              <a:r>
                <a:rPr lang="en-US" sz="2000" b="1">
                  <a:effectLst>
                    <a:outerShdw blurRad="38100" dist="38100" dir="2700000" algn="tl">
                      <a:srgbClr val="C0C0C0"/>
                    </a:outerShdw>
                  </a:effectLst>
                  <a:latin typeface="Tahoma" pitchFamily="34" charset="0"/>
                </a:rPr>
                <a:t>       </a:t>
              </a:r>
              <a:r>
                <a:rPr lang="en-US" sz="2000">
                  <a:latin typeface="Tahoma" pitchFamily="34" charset="0"/>
                </a:rPr>
                <a:t>Attacker secretly</a:t>
              </a:r>
              <a:br>
                <a:rPr lang="en-US" sz="2000">
                  <a:latin typeface="Tahoma" pitchFamily="34" charset="0"/>
                </a:rPr>
              </a:br>
              <a:r>
                <a:rPr lang="en-US" sz="2000">
                  <a:latin typeface="Tahoma" pitchFamily="34" charset="0"/>
                </a:rPr>
                <a:t>       installs zombie agent programs, turning unsecured computers </a:t>
              </a:r>
            </a:p>
            <a:p>
              <a:pPr eaLnBrk="0" hangingPunct="0">
                <a:defRPr/>
              </a:pPr>
              <a:r>
                <a:rPr lang="en-US" sz="2000">
                  <a:latin typeface="Tahoma" pitchFamily="34" charset="0"/>
                </a:rPr>
                <a:t>into zombies</a:t>
              </a:r>
              <a:endParaRPr lang="en-US" sz="2000">
                <a:effectLst>
                  <a:outerShdw blurRad="38100" dist="38100" dir="2700000" algn="tl">
                    <a:srgbClr val="C0C0C0"/>
                  </a:outerShdw>
                </a:effectLst>
                <a:latin typeface="Tahoma" pitchFamily="34" charset="0"/>
              </a:endParaRPr>
            </a:p>
          </p:txBody>
        </p:sp>
        <p:sp>
          <p:nvSpPr>
            <p:cNvPr id="28704" name="Oval 22">
              <a:extLst>
                <a:ext uri="{FF2B5EF4-FFF2-40B4-BE49-F238E27FC236}">
                  <a16:creationId xmlns:a16="http://schemas.microsoft.com/office/drawing/2014/main" id="{BB99797F-D830-4933-95B6-ED33434E7AF6}"/>
                </a:ext>
              </a:extLst>
            </p:cNvPr>
            <p:cNvSpPr>
              <a:spLocks noChangeArrowheads="1"/>
            </p:cNvSpPr>
            <p:nvPr/>
          </p:nvSpPr>
          <p:spPr bwMode="auto">
            <a:xfrm>
              <a:off x="240" y="2256"/>
              <a:ext cx="288" cy="288"/>
            </a:xfrm>
            <a:prstGeom prst="ellipse">
              <a:avLst/>
            </a:prstGeom>
            <a:solidFill>
              <a:srgbClr val="FFFF00"/>
            </a:solidFill>
            <a:ln w="38100">
              <a:solidFill>
                <a:schemeClr val="tx1"/>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rgbClr val="000000"/>
                  </a:solidFill>
                  <a:latin typeface="Arial" panose="020B0604020202020204" pitchFamily="34" charset="0"/>
                </a:rPr>
                <a:t>2</a:t>
              </a:r>
            </a:p>
          </p:txBody>
        </p:sp>
      </p:grpSp>
      <p:sp>
        <p:nvSpPr>
          <p:cNvPr id="532503" name="AutoShape 23">
            <a:extLst>
              <a:ext uri="{FF2B5EF4-FFF2-40B4-BE49-F238E27FC236}">
                <a16:creationId xmlns:a16="http://schemas.microsoft.com/office/drawing/2014/main" id="{5838DA14-1268-4AA0-A6F8-847764917455}"/>
              </a:ext>
            </a:extLst>
          </p:cNvPr>
          <p:cNvSpPr>
            <a:spLocks noChangeArrowheads="1"/>
          </p:cNvSpPr>
          <p:nvPr/>
        </p:nvSpPr>
        <p:spPr bwMode="auto">
          <a:xfrm>
            <a:off x="3179763" y="3871913"/>
            <a:ext cx="2286000" cy="533400"/>
          </a:xfrm>
          <a:prstGeom prst="rightArrow">
            <a:avLst>
              <a:gd name="adj1" fmla="val 54759"/>
              <a:gd name="adj2" fmla="val 95694"/>
            </a:avLst>
          </a:prstGeom>
          <a:solidFill>
            <a:srgbClr val="FFFF00"/>
          </a:solidFill>
          <a:ln w="12700">
            <a:solidFill>
              <a:schemeClr val="tx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5" name="Group 24">
            <a:extLst>
              <a:ext uri="{FF2B5EF4-FFF2-40B4-BE49-F238E27FC236}">
                <a16:creationId xmlns:a16="http://schemas.microsoft.com/office/drawing/2014/main" id="{46C68225-BCD2-4167-92C0-258B30C95295}"/>
              </a:ext>
            </a:extLst>
          </p:cNvPr>
          <p:cNvGrpSpPr>
            <a:grpSpLocks/>
          </p:cNvGrpSpPr>
          <p:nvPr/>
        </p:nvGrpSpPr>
        <p:grpSpPr bwMode="auto">
          <a:xfrm>
            <a:off x="5816601" y="2622551"/>
            <a:ext cx="4403725" cy="1370013"/>
            <a:chOff x="2522" y="1380"/>
            <a:chExt cx="2774" cy="863"/>
          </a:xfrm>
        </p:grpSpPr>
        <p:pic>
          <p:nvPicPr>
            <p:cNvPr id="28694" name="Picture 25" descr="hacker-ppt">
              <a:extLst>
                <a:ext uri="{FF2B5EF4-FFF2-40B4-BE49-F238E27FC236}">
                  <a16:creationId xmlns:a16="http://schemas.microsoft.com/office/drawing/2014/main" id="{1A8D3487-69F1-4ED2-B98F-3453CE7552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95" name="Picture 26" descr="hacker-ppt">
              <a:extLst>
                <a:ext uri="{FF2B5EF4-FFF2-40B4-BE49-F238E27FC236}">
                  <a16:creationId xmlns:a16="http://schemas.microsoft.com/office/drawing/2014/main" id="{F66F2951-94E3-4C4A-A783-DB537CFC74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6"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96" name="Picture 27" descr="hacker-ppt">
              <a:extLst>
                <a:ext uri="{FF2B5EF4-FFF2-40B4-BE49-F238E27FC236}">
                  <a16:creationId xmlns:a16="http://schemas.microsoft.com/office/drawing/2014/main" id="{2C03EAB4-765A-4D60-BA95-2938DA1540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8"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97" name="Picture 28" descr="hacker-ppt">
              <a:extLst>
                <a:ext uri="{FF2B5EF4-FFF2-40B4-BE49-F238E27FC236}">
                  <a16:creationId xmlns:a16="http://schemas.microsoft.com/office/drawing/2014/main" id="{ACD8B293-CA6F-404D-BA8C-2FF5D5434C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98" name="Picture 29" descr="hacker-ppt">
              <a:extLst>
                <a:ext uri="{FF2B5EF4-FFF2-40B4-BE49-F238E27FC236}">
                  <a16:creationId xmlns:a16="http://schemas.microsoft.com/office/drawing/2014/main" id="{8CD5C280-7E7C-45F4-9D5B-29BD30351D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0"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99" name="Picture 30" descr="hacker-ppt">
              <a:extLst>
                <a:ext uri="{FF2B5EF4-FFF2-40B4-BE49-F238E27FC236}">
                  <a16:creationId xmlns:a16="http://schemas.microsoft.com/office/drawing/2014/main" id="{3F8A2C3D-8DE3-4E36-B1AA-D8699EC984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8"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700" name="Picture 31" descr="hacker-ppt">
              <a:extLst>
                <a:ext uri="{FF2B5EF4-FFF2-40B4-BE49-F238E27FC236}">
                  <a16:creationId xmlns:a16="http://schemas.microsoft.com/office/drawing/2014/main" id="{4B88352E-48B0-4483-9559-775F1A7232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0"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701" name="Picture 32" descr="hacker-ppt">
              <a:extLst>
                <a:ext uri="{FF2B5EF4-FFF2-40B4-BE49-F238E27FC236}">
                  <a16:creationId xmlns:a16="http://schemas.microsoft.com/office/drawing/2014/main" id="{9185A79A-5507-4840-A27D-E333E28EE2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6"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702" name="Picture 33" descr="hacker-ppt">
              <a:extLst>
                <a:ext uri="{FF2B5EF4-FFF2-40B4-BE49-F238E27FC236}">
                  <a16:creationId xmlns:a16="http://schemas.microsoft.com/office/drawing/2014/main" id="{57B638CC-F23F-4822-B832-AE611BEDBC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2"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32514" name="Rectangle 34">
            <a:extLst>
              <a:ext uri="{FF2B5EF4-FFF2-40B4-BE49-F238E27FC236}">
                <a16:creationId xmlns:a16="http://schemas.microsoft.com/office/drawing/2014/main" id="{F0630063-F878-487F-A7EA-5E1F687B0162}"/>
              </a:ext>
            </a:extLst>
          </p:cNvPr>
          <p:cNvSpPr>
            <a:spLocks noChangeArrowheads="1"/>
          </p:cNvSpPr>
          <p:nvPr/>
        </p:nvSpPr>
        <p:spPr bwMode="auto">
          <a:xfrm>
            <a:off x="7298420" y="1527926"/>
            <a:ext cx="1260475" cy="366713"/>
          </a:xfrm>
          <a:prstGeom prst="rect">
            <a:avLst/>
          </a:prstGeom>
          <a:noFill/>
          <a:ln w="9525">
            <a:noFill/>
            <a:miter lim="800000"/>
            <a:headEnd/>
            <a:tailEnd/>
          </a:ln>
          <a:effectLst/>
        </p:spPr>
        <p:txBody>
          <a:bodyPr wrap="none" lIns="92075" tIns="46038" rIns="92075" bIns="46038">
            <a:spAutoFit/>
          </a:bodyPr>
          <a:lstStyle/>
          <a:p>
            <a:pPr algn="ctr" eaLnBrk="0" hangingPunct="0">
              <a:lnSpc>
                <a:spcPct val="90000"/>
              </a:lnSpc>
              <a:defRPr/>
            </a:pPr>
            <a:r>
              <a:rPr lang="en-US" sz="2000" b="1" dirty="0">
                <a:latin typeface="Tahoma" pitchFamily="34" charset="0"/>
              </a:rPr>
              <a:t>Zombies</a:t>
            </a:r>
            <a:endParaRPr lang="en-US" sz="2000" b="1" dirty="0">
              <a:effectLst>
                <a:outerShdw blurRad="38100" dist="38100" dir="2700000" algn="tl">
                  <a:srgbClr val="C0C0C0"/>
                </a:outerShdw>
              </a:effectLst>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32503"/>
                                        </p:tgtEl>
                                        <p:attrNameLst>
                                          <p:attrName>style.visibility</p:attrName>
                                        </p:attrNameLst>
                                      </p:cBhvr>
                                      <p:to>
                                        <p:strVal val="visible"/>
                                      </p:to>
                                    </p:set>
                                    <p:animEffect transition="in" filter="wipe(left)">
                                      <p:cBhvr>
                                        <p:cTn id="7" dur="500"/>
                                        <p:tgtEl>
                                          <p:spTgt spid="532503"/>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00"/>
                                        <p:tgtEl>
                                          <p:spTgt spid="5"/>
                                        </p:tgtEl>
                                      </p:cBhvr>
                                    </p:animEffect>
                                  </p:childTnLst>
                                </p:cTn>
                              </p:par>
                              <p:par>
                                <p:cTn id="12" presetID="5" presetClass="exit" presetSubtype="10" fill="hold" grpId="0" nodeType="withEffect">
                                  <p:stCondLst>
                                    <p:cond delay="0"/>
                                  </p:stCondLst>
                                  <p:childTnLst>
                                    <p:animEffect transition="out" filter="checkerboard(across)">
                                      <p:cBhvr>
                                        <p:cTn id="13" dur="500"/>
                                        <p:tgtEl>
                                          <p:spTgt spid="532492"/>
                                        </p:tgtEl>
                                      </p:cBhvr>
                                    </p:animEffect>
                                    <p:set>
                                      <p:cBhvr>
                                        <p:cTn id="14" dur="1" fill="hold">
                                          <p:stCondLst>
                                            <p:cond delay="499"/>
                                          </p:stCondLst>
                                        </p:cTn>
                                        <p:tgtEl>
                                          <p:spTgt spid="532492"/>
                                        </p:tgtEl>
                                        <p:attrNameLst>
                                          <p:attrName>style.visibility</p:attrName>
                                        </p:attrNameLst>
                                      </p:cBhvr>
                                      <p:to>
                                        <p:strVal val="hidden"/>
                                      </p:to>
                                    </p:set>
                                  </p:childTnLst>
                                </p:cTn>
                              </p:par>
                              <p:par>
                                <p:cTn id="15" presetID="5" presetClass="entr" presetSubtype="10" fill="hold" grpId="0" nodeType="withEffect">
                                  <p:stCondLst>
                                    <p:cond delay="0"/>
                                  </p:stCondLst>
                                  <p:childTnLst>
                                    <p:set>
                                      <p:cBhvr>
                                        <p:cTn id="16" dur="1" fill="hold">
                                          <p:stCondLst>
                                            <p:cond delay="0"/>
                                          </p:stCondLst>
                                        </p:cTn>
                                        <p:tgtEl>
                                          <p:spTgt spid="532514"/>
                                        </p:tgtEl>
                                        <p:attrNameLst>
                                          <p:attrName>style.visibility</p:attrName>
                                        </p:attrNameLst>
                                      </p:cBhvr>
                                      <p:to>
                                        <p:strVal val="visible"/>
                                      </p:to>
                                    </p:set>
                                    <p:animEffect transition="in" filter="checkerboard(across)">
                                      <p:cBhvr>
                                        <p:cTn id="17" dur="500"/>
                                        <p:tgtEl>
                                          <p:spTgt spid="5325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492" grpId="0"/>
      <p:bldP spid="532503" grpId="0" animBg="1"/>
      <p:bldP spid="532514"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Date Placeholder 2">
            <a:extLst>
              <a:ext uri="{FF2B5EF4-FFF2-40B4-BE49-F238E27FC236}">
                <a16:creationId xmlns:a16="http://schemas.microsoft.com/office/drawing/2014/main" id="{ACAE8BA9-4861-4A69-905B-D82A7EC603DE}"/>
              </a:ext>
            </a:extLst>
          </p:cNvPr>
          <p:cNvSpPr>
            <a:spLocks noGrp="1"/>
          </p:cNvSpPr>
          <p:nvPr>
            <p:ph type="dt"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FFD5A19-2673-41C5-8531-5DAA33473B58}" type="datetimeFigureOut">
              <a:rPr lang="en-US" smtClean="0"/>
              <a:pPr>
                <a:defRPr/>
              </a:pPr>
              <a:t>10/31/2024</a:t>
            </a:fld>
            <a:endParaRPr lang="en-US">
              <a:solidFill>
                <a:schemeClr val="tx1"/>
              </a:solidFill>
            </a:endParaRPr>
          </a:p>
        </p:txBody>
      </p:sp>
      <p:sp>
        <p:nvSpPr>
          <p:cNvPr id="39" name="Footer Placeholder 3">
            <a:extLst>
              <a:ext uri="{FF2B5EF4-FFF2-40B4-BE49-F238E27FC236}">
                <a16:creationId xmlns:a16="http://schemas.microsoft.com/office/drawing/2014/main" id="{0CBEAD83-9C2E-447C-BE39-A326FF6AE82C}"/>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chemeClr val="tx1"/>
              </a:solidFill>
            </a:endParaRPr>
          </a:p>
        </p:txBody>
      </p:sp>
      <p:sp>
        <p:nvSpPr>
          <p:cNvPr id="40" name="Slide Number Placeholder 4">
            <a:extLst>
              <a:ext uri="{FF2B5EF4-FFF2-40B4-BE49-F238E27FC236}">
                <a16:creationId xmlns:a16="http://schemas.microsoft.com/office/drawing/2014/main" id="{0EA38868-2407-45A5-80B9-4E28896027CB}"/>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fld id="{938EA2D2-C3DC-44BB-8211-90B716D51699}" type="slidenum">
              <a:rPr lang="en-US" smtClean="0"/>
              <a:pPr eaLnBrk="1" hangingPunct="1"/>
              <a:t>60</a:t>
            </a:fld>
            <a:endParaRPr lang="en-US" altLang="en-US" sz="1400">
              <a:latin typeface="Arial" panose="020B0604020202020204" pitchFamily="34" charset="0"/>
            </a:endParaRPr>
          </a:p>
        </p:txBody>
      </p:sp>
      <p:sp>
        <p:nvSpPr>
          <p:cNvPr id="29701" name="Rectangle 2">
            <a:extLst>
              <a:ext uri="{FF2B5EF4-FFF2-40B4-BE49-F238E27FC236}">
                <a16:creationId xmlns:a16="http://schemas.microsoft.com/office/drawing/2014/main" id="{2A1BFB30-F65F-4D51-8787-B0969C3E2E00}"/>
              </a:ext>
            </a:extLst>
          </p:cNvPr>
          <p:cNvSpPr>
            <a:spLocks noGrp="1" noChangeArrowheads="1"/>
          </p:cNvSpPr>
          <p:nvPr>
            <p:ph type="title"/>
          </p:nvPr>
        </p:nvSpPr>
        <p:spPr/>
        <p:txBody>
          <a:bodyPr/>
          <a:lstStyle/>
          <a:p>
            <a:pPr eaLnBrk="1" hangingPunct="1"/>
            <a:r>
              <a:rPr lang="en-US" altLang="en-US"/>
              <a:t>Detailed Steps (3)</a:t>
            </a:r>
          </a:p>
        </p:txBody>
      </p:sp>
      <p:pic>
        <p:nvPicPr>
          <p:cNvPr id="29702" name="Picture 3" descr="pc-ppt2">
            <a:extLst>
              <a:ext uri="{FF2B5EF4-FFF2-40B4-BE49-F238E27FC236}">
                <a16:creationId xmlns:a16="http://schemas.microsoft.com/office/drawing/2014/main" id="{2F920074-C22E-4BBC-8606-4725DE2EF8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18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3" name="Picture 4" descr="pc-ppt2">
            <a:extLst>
              <a:ext uri="{FF2B5EF4-FFF2-40B4-BE49-F238E27FC236}">
                <a16:creationId xmlns:a16="http://schemas.microsoft.com/office/drawing/2014/main" id="{5BDB929F-D22C-487A-B63C-9F5A14BF59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04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4" name="Picture 5" descr="pc-ppt2">
            <a:extLst>
              <a:ext uri="{FF2B5EF4-FFF2-40B4-BE49-F238E27FC236}">
                <a16:creationId xmlns:a16="http://schemas.microsoft.com/office/drawing/2014/main" id="{C675F5C9-5715-4F1A-AA7A-CCB07EBC54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145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5" name="Picture 6" descr="pc-ppt2">
            <a:extLst>
              <a:ext uri="{FF2B5EF4-FFF2-40B4-BE49-F238E27FC236}">
                <a16:creationId xmlns:a16="http://schemas.microsoft.com/office/drawing/2014/main" id="{D6C60D48-7143-4191-A6D2-B5E0428395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11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6" name="Picture 7" descr="pc-ppt2">
            <a:extLst>
              <a:ext uri="{FF2B5EF4-FFF2-40B4-BE49-F238E27FC236}">
                <a16:creationId xmlns:a16="http://schemas.microsoft.com/office/drawing/2014/main" id="{18E282CD-52B0-409A-992F-E31567CD80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075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7" name="Picture 8" descr="pc-ppt2">
            <a:extLst>
              <a:ext uri="{FF2B5EF4-FFF2-40B4-BE49-F238E27FC236}">
                <a16:creationId xmlns:a16="http://schemas.microsoft.com/office/drawing/2014/main" id="{2F1CDF04-B3F0-45D4-9B66-29AC915B43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52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8" name="Picture 9" descr="pc-ppt2">
            <a:extLst>
              <a:ext uri="{FF2B5EF4-FFF2-40B4-BE49-F238E27FC236}">
                <a16:creationId xmlns:a16="http://schemas.microsoft.com/office/drawing/2014/main" id="{2E43B3AD-D159-45CF-8873-C382106DDA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70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9" name="Picture 10" descr="pc-ppt2">
            <a:extLst>
              <a:ext uri="{FF2B5EF4-FFF2-40B4-BE49-F238E27FC236}">
                <a16:creationId xmlns:a16="http://schemas.microsoft.com/office/drawing/2014/main" id="{B3EBBAAB-CF4C-4E54-A61A-943DE76853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64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0" name="Picture 11" descr="pc-ppt2">
            <a:extLst>
              <a:ext uri="{FF2B5EF4-FFF2-40B4-BE49-F238E27FC236}">
                <a16:creationId xmlns:a16="http://schemas.microsoft.com/office/drawing/2014/main" id="{D570CCF6-AC0E-4568-A15F-AACE37F59E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58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9711" name="Group 12">
            <a:extLst>
              <a:ext uri="{FF2B5EF4-FFF2-40B4-BE49-F238E27FC236}">
                <a16:creationId xmlns:a16="http://schemas.microsoft.com/office/drawing/2014/main" id="{DA3CF054-EEE9-45FF-BC8C-384D6FE6E9E6}"/>
              </a:ext>
            </a:extLst>
          </p:cNvPr>
          <p:cNvGrpSpPr>
            <a:grpSpLocks/>
          </p:cNvGrpSpPr>
          <p:nvPr/>
        </p:nvGrpSpPr>
        <p:grpSpPr bwMode="auto">
          <a:xfrm>
            <a:off x="1920876" y="2533650"/>
            <a:ext cx="1266825" cy="2249488"/>
            <a:chOff x="85" y="731"/>
            <a:chExt cx="798" cy="1417"/>
          </a:xfrm>
        </p:grpSpPr>
        <p:pic>
          <p:nvPicPr>
            <p:cNvPr id="29734" name="Picture 13" descr="pc-ppt2">
              <a:extLst>
                <a:ext uri="{FF2B5EF4-FFF2-40B4-BE49-F238E27FC236}">
                  <a16:creationId xmlns:a16="http://schemas.microsoft.com/office/drawing/2014/main" id="{86E04E92-C3C2-4727-8D27-9C60DF0AD5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 y="1564"/>
              <a:ext cx="584"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35" name="Picture 14" descr="hacker-ppt">
              <a:extLst>
                <a:ext uri="{FF2B5EF4-FFF2-40B4-BE49-F238E27FC236}">
                  <a16:creationId xmlns:a16="http://schemas.microsoft.com/office/drawing/2014/main" id="{BA0A001E-B43C-4A84-88F0-7807822CD2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 y="976"/>
              <a:ext cx="571"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36" name="Rectangle 15">
              <a:extLst>
                <a:ext uri="{FF2B5EF4-FFF2-40B4-BE49-F238E27FC236}">
                  <a16:creationId xmlns:a16="http://schemas.microsoft.com/office/drawing/2014/main" id="{B8855B27-B821-4D74-8F30-60483541C553}"/>
                </a:ext>
              </a:extLst>
            </p:cNvPr>
            <p:cNvSpPr>
              <a:spLocks noChangeArrowheads="1"/>
            </p:cNvSpPr>
            <p:nvPr/>
          </p:nvSpPr>
          <p:spPr bwMode="auto">
            <a:xfrm>
              <a:off x="85" y="731"/>
              <a:ext cx="7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Attacker</a:t>
              </a:r>
            </a:p>
          </p:txBody>
        </p:sp>
      </p:grpSp>
      <p:grpSp>
        <p:nvGrpSpPr>
          <p:cNvPr id="29712" name="Group 16">
            <a:extLst>
              <a:ext uri="{FF2B5EF4-FFF2-40B4-BE49-F238E27FC236}">
                <a16:creationId xmlns:a16="http://schemas.microsoft.com/office/drawing/2014/main" id="{FBE086AE-F911-4CCD-AE77-6767072B22C7}"/>
              </a:ext>
            </a:extLst>
          </p:cNvPr>
          <p:cNvGrpSpPr>
            <a:grpSpLocks/>
          </p:cNvGrpSpPr>
          <p:nvPr/>
        </p:nvGrpSpPr>
        <p:grpSpPr bwMode="auto">
          <a:xfrm>
            <a:off x="6654800" y="4699000"/>
            <a:ext cx="2857500" cy="1074738"/>
            <a:chOff x="2904" y="2635"/>
            <a:chExt cx="1800" cy="677"/>
          </a:xfrm>
        </p:grpSpPr>
        <p:pic>
          <p:nvPicPr>
            <p:cNvPr id="29732" name="Picture 17" descr="cloud">
              <a:extLst>
                <a:ext uri="{FF2B5EF4-FFF2-40B4-BE49-F238E27FC236}">
                  <a16:creationId xmlns:a16="http://schemas.microsoft.com/office/drawing/2014/main" id="{C6EEFD7E-2791-48CF-9CB5-6B2AEA1BE1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4" y="2635"/>
              <a:ext cx="1800"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33" name="Rectangle 18">
              <a:extLst>
                <a:ext uri="{FF2B5EF4-FFF2-40B4-BE49-F238E27FC236}">
                  <a16:creationId xmlns:a16="http://schemas.microsoft.com/office/drawing/2014/main" id="{2464428A-DB36-4599-9842-83140102B481}"/>
                </a:ext>
              </a:extLst>
            </p:cNvPr>
            <p:cNvSpPr>
              <a:spLocks noChangeAspect="1" noChangeArrowheads="1"/>
            </p:cNvSpPr>
            <p:nvPr/>
          </p:nvSpPr>
          <p:spPr bwMode="auto">
            <a:xfrm>
              <a:off x="3301" y="2730"/>
              <a:ext cx="9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chemeClr val="bg2"/>
                  </a:solidFill>
                  <a:latin typeface="Tahoma" panose="020B0604030504040204" pitchFamily="34" charset="0"/>
                </a:rPr>
                <a:t>Internet</a:t>
              </a:r>
            </a:p>
          </p:txBody>
        </p:sp>
      </p:grpSp>
      <p:grpSp>
        <p:nvGrpSpPr>
          <p:cNvPr id="29713" name="Group 19">
            <a:extLst>
              <a:ext uri="{FF2B5EF4-FFF2-40B4-BE49-F238E27FC236}">
                <a16:creationId xmlns:a16="http://schemas.microsoft.com/office/drawing/2014/main" id="{A68E19AE-C2C1-4D10-BF5B-AD6720176616}"/>
              </a:ext>
            </a:extLst>
          </p:cNvPr>
          <p:cNvGrpSpPr>
            <a:grpSpLocks/>
          </p:cNvGrpSpPr>
          <p:nvPr/>
        </p:nvGrpSpPr>
        <p:grpSpPr bwMode="auto">
          <a:xfrm>
            <a:off x="3143250" y="1771651"/>
            <a:ext cx="3352800" cy="1323975"/>
            <a:chOff x="192" y="2208"/>
            <a:chExt cx="2112" cy="834"/>
          </a:xfrm>
        </p:grpSpPr>
        <p:sp>
          <p:nvSpPr>
            <p:cNvPr id="533524" name="Rectangle 20">
              <a:extLst>
                <a:ext uri="{FF2B5EF4-FFF2-40B4-BE49-F238E27FC236}">
                  <a16:creationId xmlns:a16="http://schemas.microsoft.com/office/drawing/2014/main" id="{22DFACA9-EE82-4728-ADEE-D0F3045947B2}"/>
                </a:ext>
              </a:extLst>
            </p:cNvPr>
            <p:cNvSpPr>
              <a:spLocks noChangeArrowheads="1"/>
            </p:cNvSpPr>
            <p:nvPr/>
          </p:nvSpPr>
          <p:spPr bwMode="auto">
            <a:xfrm>
              <a:off x="192" y="2208"/>
              <a:ext cx="2112" cy="834"/>
            </a:xfrm>
            <a:prstGeom prst="rect">
              <a:avLst/>
            </a:prstGeom>
            <a:noFill/>
            <a:ln w="9525">
              <a:noFill/>
              <a:miter lim="800000"/>
              <a:headEnd/>
              <a:tailEnd/>
            </a:ln>
            <a:effectLst/>
          </p:spPr>
          <p:txBody>
            <a:bodyPr lIns="92075" tIns="46038" rIns="92075" bIns="46038">
              <a:spAutoFit/>
            </a:bodyPr>
            <a:lstStyle/>
            <a:p>
              <a:pPr eaLnBrk="0" hangingPunct="0">
                <a:defRPr/>
              </a:pPr>
              <a:r>
                <a:rPr lang="en-US" sz="2000" b="1">
                  <a:effectLst>
                    <a:outerShdw blurRad="38100" dist="38100" dir="2700000" algn="tl">
                      <a:srgbClr val="C0C0C0"/>
                    </a:outerShdw>
                  </a:effectLst>
                  <a:latin typeface="Tahoma" pitchFamily="34" charset="0"/>
                </a:rPr>
                <a:t>       </a:t>
              </a:r>
              <a:r>
                <a:rPr lang="en-US" sz="2000">
                  <a:effectLst>
                    <a:outerShdw blurRad="38100" dist="38100" dir="2700000" algn="tl">
                      <a:srgbClr val="C0C0C0"/>
                    </a:outerShdw>
                  </a:effectLst>
                  <a:latin typeface="Tahoma" pitchFamily="34" charset="0"/>
                </a:rPr>
                <a:t>Zombie agents</a:t>
              </a:r>
              <a:br>
                <a:rPr lang="en-US" sz="2000">
                  <a:latin typeface="Tahoma" pitchFamily="34" charset="0"/>
                </a:rPr>
              </a:br>
              <a:r>
                <a:rPr lang="en-US" sz="2000">
                  <a:latin typeface="Tahoma" pitchFamily="34" charset="0"/>
                </a:rPr>
                <a:t>       ``phone home’’ </a:t>
              </a:r>
            </a:p>
            <a:p>
              <a:pPr eaLnBrk="0" hangingPunct="0">
                <a:defRPr/>
              </a:pPr>
              <a:r>
                <a:rPr lang="en-US" sz="2000">
                  <a:latin typeface="Tahoma" pitchFamily="34" charset="0"/>
                </a:rPr>
                <a:t>and connect to a </a:t>
              </a:r>
            </a:p>
            <a:p>
              <a:pPr eaLnBrk="0" hangingPunct="0">
                <a:defRPr/>
              </a:pPr>
              <a:r>
                <a:rPr lang="en-US" sz="2000">
                  <a:latin typeface="Tahoma" pitchFamily="34" charset="0"/>
                </a:rPr>
                <a:t>master server</a:t>
              </a:r>
              <a:endParaRPr lang="en-US" sz="2000">
                <a:effectLst>
                  <a:outerShdw blurRad="38100" dist="38100" dir="2700000" algn="tl">
                    <a:srgbClr val="C0C0C0"/>
                  </a:outerShdw>
                </a:effectLst>
                <a:latin typeface="Tahoma" pitchFamily="34" charset="0"/>
              </a:endParaRPr>
            </a:p>
          </p:txBody>
        </p:sp>
        <p:sp>
          <p:nvSpPr>
            <p:cNvPr id="29731" name="Oval 21">
              <a:extLst>
                <a:ext uri="{FF2B5EF4-FFF2-40B4-BE49-F238E27FC236}">
                  <a16:creationId xmlns:a16="http://schemas.microsoft.com/office/drawing/2014/main" id="{6F69368E-EACA-4C21-B8B3-18ABCAA860EC}"/>
                </a:ext>
              </a:extLst>
            </p:cNvPr>
            <p:cNvSpPr>
              <a:spLocks noChangeArrowheads="1"/>
            </p:cNvSpPr>
            <p:nvPr/>
          </p:nvSpPr>
          <p:spPr bwMode="auto">
            <a:xfrm>
              <a:off x="240" y="2256"/>
              <a:ext cx="288" cy="288"/>
            </a:xfrm>
            <a:prstGeom prst="ellipse">
              <a:avLst/>
            </a:prstGeom>
            <a:solidFill>
              <a:srgbClr val="FFFF00"/>
            </a:solidFill>
            <a:ln w="38100">
              <a:solidFill>
                <a:schemeClr val="tx1"/>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rgbClr val="000000"/>
                  </a:solidFill>
                  <a:latin typeface="Arial" panose="020B0604020202020204" pitchFamily="34" charset="0"/>
                </a:rPr>
                <a:t>3</a:t>
              </a:r>
            </a:p>
          </p:txBody>
        </p:sp>
      </p:grpSp>
      <p:grpSp>
        <p:nvGrpSpPr>
          <p:cNvPr id="29714" name="Group 22">
            <a:extLst>
              <a:ext uri="{FF2B5EF4-FFF2-40B4-BE49-F238E27FC236}">
                <a16:creationId xmlns:a16="http://schemas.microsoft.com/office/drawing/2014/main" id="{5A73FCA6-7BB3-4053-8820-DD9767BFA8B5}"/>
              </a:ext>
            </a:extLst>
          </p:cNvPr>
          <p:cNvGrpSpPr>
            <a:grpSpLocks/>
          </p:cNvGrpSpPr>
          <p:nvPr/>
        </p:nvGrpSpPr>
        <p:grpSpPr bwMode="auto">
          <a:xfrm>
            <a:off x="5816601" y="2622551"/>
            <a:ext cx="4403725" cy="1370013"/>
            <a:chOff x="2522" y="1380"/>
            <a:chExt cx="2774" cy="863"/>
          </a:xfrm>
        </p:grpSpPr>
        <p:pic>
          <p:nvPicPr>
            <p:cNvPr id="29721" name="Picture 23" descr="hacker-ppt">
              <a:extLst>
                <a:ext uri="{FF2B5EF4-FFF2-40B4-BE49-F238E27FC236}">
                  <a16:creationId xmlns:a16="http://schemas.microsoft.com/office/drawing/2014/main" id="{1ACB3972-74B7-40FA-B7A4-F6FDA2DC7F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22" name="Picture 24" descr="hacker-ppt">
              <a:extLst>
                <a:ext uri="{FF2B5EF4-FFF2-40B4-BE49-F238E27FC236}">
                  <a16:creationId xmlns:a16="http://schemas.microsoft.com/office/drawing/2014/main" id="{74FB9E77-15CD-4013-B0C9-55435F6115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6"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23" name="Picture 25" descr="hacker-ppt">
              <a:extLst>
                <a:ext uri="{FF2B5EF4-FFF2-40B4-BE49-F238E27FC236}">
                  <a16:creationId xmlns:a16="http://schemas.microsoft.com/office/drawing/2014/main" id="{237D0A74-CCDB-486A-B24C-866686011F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8"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24" name="Picture 26" descr="hacker-ppt">
              <a:extLst>
                <a:ext uri="{FF2B5EF4-FFF2-40B4-BE49-F238E27FC236}">
                  <a16:creationId xmlns:a16="http://schemas.microsoft.com/office/drawing/2014/main" id="{ECF90A62-7E9C-4032-B32F-A8BA3D7C37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25" name="Picture 27" descr="hacker-ppt">
              <a:extLst>
                <a:ext uri="{FF2B5EF4-FFF2-40B4-BE49-F238E27FC236}">
                  <a16:creationId xmlns:a16="http://schemas.microsoft.com/office/drawing/2014/main" id="{027F888F-EA42-43D2-989B-EF29BC0B8D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0"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26" name="Picture 28" descr="hacker-ppt">
              <a:extLst>
                <a:ext uri="{FF2B5EF4-FFF2-40B4-BE49-F238E27FC236}">
                  <a16:creationId xmlns:a16="http://schemas.microsoft.com/office/drawing/2014/main" id="{311B9DD9-CFCB-4899-BC40-54F8D91367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8"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27" name="Picture 29" descr="hacker-ppt">
              <a:extLst>
                <a:ext uri="{FF2B5EF4-FFF2-40B4-BE49-F238E27FC236}">
                  <a16:creationId xmlns:a16="http://schemas.microsoft.com/office/drawing/2014/main" id="{BD207AD8-A026-43A9-ACDF-A4D0619E27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0"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28" name="Picture 30" descr="hacker-ppt">
              <a:extLst>
                <a:ext uri="{FF2B5EF4-FFF2-40B4-BE49-F238E27FC236}">
                  <a16:creationId xmlns:a16="http://schemas.microsoft.com/office/drawing/2014/main" id="{8E02D136-B4D4-45E8-BA38-317845B6C8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6"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29" name="Picture 31" descr="hacker-ppt">
              <a:extLst>
                <a:ext uri="{FF2B5EF4-FFF2-40B4-BE49-F238E27FC236}">
                  <a16:creationId xmlns:a16="http://schemas.microsoft.com/office/drawing/2014/main" id="{7DEBD661-AE8B-4FC6-9D38-6BBF0C68BA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2"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33536" name="Rectangle 32">
            <a:extLst>
              <a:ext uri="{FF2B5EF4-FFF2-40B4-BE49-F238E27FC236}">
                <a16:creationId xmlns:a16="http://schemas.microsoft.com/office/drawing/2014/main" id="{D7CCEB74-FF43-44F0-892E-39649FBB9B50}"/>
              </a:ext>
            </a:extLst>
          </p:cNvPr>
          <p:cNvSpPr>
            <a:spLocks noChangeArrowheads="1"/>
          </p:cNvSpPr>
          <p:nvPr/>
        </p:nvSpPr>
        <p:spPr bwMode="auto">
          <a:xfrm>
            <a:off x="7400926" y="2197101"/>
            <a:ext cx="1260475" cy="366713"/>
          </a:xfrm>
          <a:prstGeom prst="rect">
            <a:avLst/>
          </a:prstGeom>
          <a:noFill/>
          <a:ln w="9525">
            <a:noFill/>
            <a:miter lim="800000"/>
            <a:headEnd/>
            <a:tailEnd/>
          </a:ln>
          <a:effectLst/>
        </p:spPr>
        <p:txBody>
          <a:bodyPr wrap="none" lIns="92075" tIns="46038" rIns="92075" bIns="46038">
            <a:spAutoFit/>
          </a:bodyPr>
          <a:lstStyle/>
          <a:p>
            <a:pPr algn="ctr" eaLnBrk="0" hangingPunct="0">
              <a:lnSpc>
                <a:spcPct val="90000"/>
              </a:lnSpc>
              <a:defRPr/>
            </a:pPr>
            <a:r>
              <a:rPr lang="en-US" sz="2000" b="1">
                <a:latin typeface="Tahoma" pitchFamily="34" charset="0"/>
              </a:rPr>
              <a:t>Zombies</a:t>
            </a:r>
            <a:endParaRPr lang="en-US" sz="2000" b="1">
              <a:effectLst>
                <a:outerShdw blurRad="38100" dist="38100" dir="2700000" algn="tl">
                  <a:srgbClr val="C0C0C0"/>
                </a:outerShdw>
              </a:effectLst>
              <a:latin typeface="Tahoma" pitchFamily="34" charset="0"/>
            </a:endParaRPr>
          </a:p>
        </p:txBody>
      </p:sp>
      <p:grpSp>
        <p:nvGrpSpPr>
          <p:cNvPr id="6" name="Group 33">
            <a:extLst>
              <a:ext uri="{FF2B5EF4-FFF2-40B4-BE49-F238E27FC236}">
                <a16:creationId xmlns:a16="http://schemas.microsoft.com/office/drawing/2014/main" id="{EA182AF3-9454-493A-86FA-4B2F9BC4F4DF}"/>
              </a:ext>
            </a:extLst>
          </p:cNvPr>
          <p:cNvGrpSpPr>
            <a:grpSpLocks/>
          </p:cNvGrpSpPr>
          <p:nvPr/>
        </p:nvGrpSpPr>
        <p:grpSpPr bwMode="auto">
          <a:xfrm>
            <a:off x="3717926" y="3770313"/>
            <a:ext cx="1058863" cy="1511300"/>
            <a:chOff x="1200" y="1200"/>
            <a:chExt cx="667" cy="952"/>
          </a:xfrm>
        </p:grpSpPr>
        <p:pic>
          <p:nvPicPr>
            <p:cNvPr id="29718" name="Picture 34" descr="pc-ppt2">
              <a:extLst>
                <a:ext uri="{FF2B5EF4-FFF2-40B4-BE49-F238E27FC236}">
                  <a16:creationId xmlns:a16="http://schemas.microsoft.com/office/drawing/2014/main" id="{082FD37C-3503-4494-A770-F50176A2C6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3" y="1604"/>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9" name="Picture 35" descr="hacker-ppt">
              <a:extLst>
                <a:ext uri="{FF2B5EF4-FFF2-40B4-BE49-F238E27FC236}">
                  <a16:creationId xmlns:a16="http://schemas.microsoft.com/office/drawing/2014/main" id="{240A0CDF-F847-40F3-B2AF-3DC5CB61B3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5" y="1677"/>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20" name="Rectangle 36">
              <a:extLst>
                <a:ext uri="{FF2B5EF4-FFF2-40B4-BE49-F238E27FC236}">
                  <a16:creationId xmlns:a16="http://schemas.microsoft.com/office/drawing/2014/main" id="{67E72CCF-8F8C-4074-BC21-B39B7762960F}"/>
                </a:ext>
              </a:extLst>
            </p:cNvPr>
            <p:cNvSpPr>
              <a:spLocks noChangeArrowheads="1"/>
            </p:cNvSpPr>
            <p:nvPr/>
          </p:nvSpPr>
          <p:spPr bwMode="auto">
            <a:xfrm>
              <a:off x="1200" y="1200"/>
              <a:ext cx="66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Master</a:t>
              </a:r>
            </a:p>
            <a:p>
              <a:pPr algn="ctr">
                <a:lnSpc>
                  <a:spcPct val="90000"/>
                </a:lnSpc>
              </a:pPr>
              <a:r>
                <a:rPr lang="en-US" altLang="en-US" sz="2000" b="1">
                  <a:latin typeface="Tahoma" panose="020B0604030504040204" pitchFamily="34" charset="0"/>
                </a:rPr>
                <a:t>Server</a:t>
              </a:r>
            </a:p>
          </p:txBody>
        </p:sp>
      </p:grpSp>
      <p:sp>
        <p:nvSpPr>
          <p:cNvPr id="533541" name="AutoShape 37">
            <a:extLst>
              <a:ext uri="{FF2B5EF4-FFF2-40B4-BE49-F238E27FC236}">
                <a16:creationId xmlns:a16="http://schemas.microsoft.com/office/drawing/2014/main" id="{0777E5A3-9ED3-418F-93AC-EF6D98C0DF30}"/>
              </a:ext>
            </a:extLst>
          </p:cNvPr>
          <p:cNvSpPr>
            <a:spLocks noChangeArrowheads="1"/>
          </p:cNvSpPr>
          <p:nvPr/>
        </p:nvSpPr>
        <p:spPr bwMode="auto">
          <a:xfrm rot="19440853" flipH="1">
            <a:off x="4872039" y="3554413"/>
            <a:ext cx="1576387" cy="533400"/>
          </a:xfrm>
          <a:prstGeom prst="rightArrow">
            <a:avLst>
              <a:gd name="adj1" fmla="val 54759"/>
              <a:gd name="adj2" fmla="val 65989"/>
            </a:avLst>
          </a:prstGeom>
          <a:solidFill>
            <a:srgbClr val="FFFF00"/>
          </a:solidFill>
          <a:ln w="12700">
            <a:solidFill>
              <a:schemeClr val="tx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52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 calcmode="lin" valueType="num">
                                      <p:cBhvr>
                                        <p:cTn id="9" dur="500" fill="hold"/>
                                        <p:tgtEl>
                                          <p:spTgt spid="6"/>
                                        </p:tgtEl>
                                        <p:attrNameLst>
                                          <p:attrName>ppt_x</p:attrName>
                                        </p:attrNameLst>
                                      </p:cBhvr>
                                      <p:tavLst>
                                        <p:tav tm="0">
                                          <p:val>
                                            <p:fltVal val="0.5"/>
                                          </p:val>
                                        </p:tav>
                                        <p:tav tm="100000">
                                          <p:val>
                                            <p:strVal val="#ppt_x"/>
                                          </p:val>
                                        </p:tav>
                                      </p:tavLst>
                                    </p:anim>
                                    <p:anim calcmode="lin" valueType="num">
                                      <p:cBhvr>
                                        <p:cTn id="10" dur="500" fill="hold"/>
                                        <p:tgtEl>
                                          <p:spTgt spid="6"/>
                                        </p:tgtEl>
                                        <p:attrNameLst>
                                          <p:attrName>ppt_y</p:attrName>
                                        </p:attrNameLst>
                                      </p:cBhvr>
                                      <p:tavLst>
                                        <p:tav tm="0">
                                          <p:val>
                                            <p:fltVal val="0.5"/>
                                          </p:val>
                                        </p:tav>
                                        <p:tav tm="100000">
                                          <p:val>
                                            <p:strVal val="#ppt_y"/>
                                          </p:val>
                                        </p:tav>
                                      </p:tavLst>
                                    </p:anim>
                                  </p:childTnLst>
                                </p:cTn>
                              </p:par>
                            </p:childTnLst>
                          </p:cTn>
                        </p:par>
                        <p:par>
                          <p:cTn id="11" fill="hold" nodeType="afterGroup">
                            <p:stCondLst>
                              <p:cond delay="500"/>
                            </p:stCondLst>
                            <p:childTnLst>
                              <p:par>
                                <p:cTn id="12" presetID="22" presetClass="entr" presetSubtype="2" fill="hold" grpId="0" nodeType="afterEffect">
                                  <p:stCondLst>
                                    <p:cond delay="0"/>
                                  </p:stCondLst>
                                  <p:childTnLst>
                                    <p:set>
                                      <p:cBhvr>
                                        <p:cTn id="13" dur="1" fill="hold">
                                          <p:stCondLst>
                                            <p:cond delay="0"/>
                                          </p:stCondLst>
                                        </p:cTn>
                                        <p:tgtEl>
                                          <p:spTgt spid="533541"/>
                                        </p:tgtEl>
                                        <p:attrNameLst>
                                          <p:attrName>style.visibility</p:attrName>
                                        </p:attrNameLst>
                                      </p:cBhvr>
                                      <p:to>
                                        <p:strVal val="visible"/>
                                      </p:to>
                                    </p:set>
                                    <p:animEffect transition="in" filter="wipe(right)">
                                      <p:cBhvr>
                                        <p:cTn id="14" dur="500"/>
                                        <p:tgtEl>
                                          <p:spTgt spid="5335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41"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Date Placeholder 2">
            <a:extLst>
              <a:ext uri="{FF2B5EF4-FFF2-40B4-BE49-F238E27FC236}">
                <a16:creationId xmlns:a16="http://schemas.microsoft.com/office/drawing/2014/main" id="{7A477A96-C895-4325-A7EC-FC03891247B5}"/>
              </a:ext>
            </a:extLst>
          </p:cNvPr>
          <p:cNvSpPr>
            <a:spLocks noGrp="1"/>
          </p:cNvSpPr>
          <p:nvPr>
            <p:ph type="dt"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FFD5A19-2673-41C5-8531-5DAA33473B58}" type="datetimeFigureOut">
              <a:rPr lang="en-US" smtClean="0"/>
              <a:pPr>
                <a:defRPr/>
              </a:pPr>
              <a:t>10/31/2024</a:t>
            </a:fld>
            <a:endParaRPr lang="en-US">
              <a:solidFill>
                <a:schemeClr val="tx1"/>
              </a:solidFill>
            </a:endParaRPr>
          </a:p>
        </p:txBody>
      </p:sp>
      <p:sp>
        <p:nvSpPr>
          <p:cNvPr id="38" name="Footer Placeholder 3">
            <a:extLst>
              <a:ext uri="{FF2B5EF4-FFF2-40B4-BE49-F238E27FC236}">
                <a16:creationId xmlns:a16="http://schemas.microsoft.com/office/drawing/2014/main" id="{8EE042DE-E0FE-49A3-B40F-9FA8407805AC}"/>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chemeClr val="tx1"/>
              </a:solidFill>
            </a:endParaRPr>
          </a:p>
        </p:txBody>
      </p:sp>
      <p:sp>
        <p:nvSpPr>
          <p:cNvPr id="39" name="Slide Number Placeholder 4">
            <a:extLst>
              <a:ext uri="{FF2B5EF4-FFF2-40B4-BE49-F238E27FC236}">
                <a16:creationId xmlns:a16="http://schemas.microsoft.com/office/drawing/2014/main" id="{C5DEE03F-F82C-4001-A631-8185B269AD54}"/>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fld id="{938EA2D2-C3DC-44BB-8211-90B716D51699}" type="slidenum">
              <a:rPr lang="en-US" smtClean="0"/>
              <a:pPr eaLnBrk="1" hangingPunct="1"/>
              <a:t>61</a:t>
            </a:fld>
            <a:endParaRPr lang="en-US" altLang="en-US" sz="1400">
              <a:latin typeface="Arial" panose="020B0604020202020204" pitchFamily="34" charset="0"/>
            </a:endParaRPr>
          </a:p>
        </p:txBody>
      </p:sp>
      <p:sp>
        <p:nvSpPr>
          <p:cNvPr id="30725" name="Rectangle 2">
            <a:extLst>
              <a:ext uri="{FF2B5EF4-FFF2-40B4-BE49-F238E27FC236}">
                <a16:creationId xmlns:a16="http://schemas.microsoft.com/office/drawing/2014/main" id="{78161489-F56A-45CC-9370-B8227320BFFD}"/>
              </a:ext>
            </a:extLst>
          </p:cNvPr>
          <p:cNvSpPr>
            <a:spLocks noGrp="1" noChangeArrowheads="1"/>
          </p:cNvSpPr>
          <p:nvPr>
            <p:ph type="title"/>
          </p:nvPr>
        </p:nvSpPr>
        <p:spPr/>
        <p:txBody>
          <a:bodyPr/>
          <a:lstStyle/>
          <a:p>
            <a:pPr eaLnBrk="1" hangingPunct="1"/>
            <a:r>
              <a:rPr lang="en-US" altLang="en-US"/>
              <a:t>Detailed Steps (4)</a:t>
            </a:r>
          </a:p>
        </p:txBody>
      </p:sp>
      <p:pic>
        <p:nvPicPr>
          <p:cNvPr id="30726" name="Picture 3" descr="pc-ppt2">
            <a:extLst>
              <a:ext uri="{FF2B5EF4-FFF2-40B4-BE49-F238E27FC236}">
                <a16:creationId xmlns:a16="http://schemas.microsoft.com/office/drawing/2014/main" id="{C2BE20B8-B0F6-4B23-AFE0-ABFF31ECAF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18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7" name="Picture 4" descr="pc-ppt2">
            <a:extLst>
              <a:ext uri="{FF2B5EF4-FFF2-40B4-BE49-F238E27FC236}">
                <a16:creationId xmlns:a16="http://schemas.microsoft.com/office/drawing/2014/main" id="{2E0EA8E5-8952-46AA-94CA-A7E2C23ACD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504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8" name="Picture 5" descr="pc-ppt2">
            <a:extLst>
              <a:ext uri="{FF2B5EF4-FFF2-40B4-BE49-F238E27FC236}">
                <a16:creationId xmlns:a16="http://schemas.microsoft.com/office/drawing/2014/main" id="{34695359-219C-430E-BBD7-6EC6E3FFA3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145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9" name="Picture 6" descr="pc-ppt2">
            <a:extLst>
              <a:ext uri="{FF2B5EF4-FFF2-40B4-BE49-F238E27FC236}">
                <a16:creationId xmlns:a16="http://schemas.microsoft.com/office/drawing/2014/main" id="{321E982D-6979-44FA-A5F0-B13A071D8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311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0" name="Picture 7" descr="pc-ppt2">
            <a:extLst>
              <a:ext uri="{FF2B5EF4-FFF2-40B4-BE49-F238E27FC236}">
                <a16:creationId xmlns:a16="http://schemas.microsoft.com/office/drawing/2014/main" id="{0882AE8C-1246-4E8B-AE52-93215E4780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4075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1" name="Picture 8" descr="pc-ppt2">
            <a:extLst>
              <a:ext uri="{FF2B5EF4-FFF2-40B4-BE49-F238E27FC236}">
                <a16:creationId xmlns:a16="http://schemas.microsoft.com/office/drawing/2014/main" id="{B9F7D5E6-BE26-4769-A1CA-F7B66D87B8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452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2" name="Picture 9" descr="pc-ppt2">
            <a:extLst>
              <a:ext uri="{FF2B5EF4-FFF2-40B4-BE49-F238E27FC236}">
                <a16:creationId xmlns:a16="http://schemas.microsoft.com/office/drawing/2014/main" id="{6CAD54CE-2D2B-491D-A20C-DF2A49EB11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70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3" name="Picture 10" descr="pc-ppt2">
            <a:extLst>
              <a:ext uri="{FF2B5EF4-FFF2-40B4-BE49-F238E27FC236}">
                <a16:creationId xmlns:a16="http://schemas.microsoft.com/office/drawing/2014/main" id="{32839B29-5E7B-40B7-9D6F-8D6D711710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64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4" name="Picture 11" descr="pc-ppt2">
            <a:extLst>
              <a:ext uri="{FF2B5EF4-FFF2-40B4-BE49-F238E27FC236}">
                <a16:creationId xmlns:a16="http://schemas.microsoft.com/office/drawing/2014/main" id="{E1B764CA-84CA-448C-9FF9-E9C36DDFA4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58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0735" name="Group 12">
            <a:extLst>
              <a:ext uri="{FF2B5EF4-FFF2-40B4-BE49-F238E27FC236}">
                <a16:creationId xmlns:a16="http://schemas.microsoft.com/office/drawing/2014/main" id="{9A817D39-3AD3-4ACD-99CB-02FB014AE22E}"/>
              </a:ext>
            </a:extLst>
          </p:cNvPr>
          <p:cNvGrpSpPr>
            <a:grpSpLocks/>
          </p:cNvGrpSpPr>
          <p:nvPr/>
        </p:nvGrpSpPr>
        <p:grpSpPr bwMode="auto">
          <a:xfrm>
            <a:off x="1920876" y="2533650"/>
            <a:ext cx="1266825" cy="2249488"/>
            <a:chOff x="85" y="731"/>
            <a:chExt cx="798" cy="1417"/>
          </a:xfrm>
        </p:grpSpPr>
        <p:pic>
          <p:nvPicPr>
            <p:cNvPr id="30757" name="Picture 13" descr="pc-ppt2">
              <a:extLst>
                <a:ext uri="{FF2B5EF4-FFF2-40B4-BE49-F238E27FC236}">
                  <a16:creationId xmlns:a16="http://schemas.microsoft.com/office/drawing/2014/main" id="{A5AC3395-A9D0-4328-B1A0-361E257B4A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 y="1564"/>
              <a:ext cx="584"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8" name="Picture 14" descr="hacker-ppt">
              <a:extLst>
                <a:ext uri="{FF2B5EF4-FFF2-40B4-BE49-F238E27FC236}">
                  <a16:creationId xmlns:a16="http://schemas.microsoft.com/office/drawing/2014/main" id="{811EB932-11B8-4478-A20E-60AA0B0A2B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 y="976"/>
              <a:ext cx="571"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9" name="Rectangle 15">
              <a:extLst>
                <a:ext uri="{FF2B5EF4-FFF2-40B4-BE49-F238E27FC236}">
                  <a16:creationId xmlns:a16="http://schemas.microsoft.com/office/drawing/2014/main" id="{5C6C25F5-FA05-44A9-9988-5E154569E288}"/>
                </a:ext>
              </a:extLst>
            </p:cNvPr>
            <p:cNvSpPr>
              <a:spLocks noChangeArrowheads="1"/>
            </p:cNvSpPr>
            <p:nvPr/>
          </p:nvSpPr>
          <p:spPr bwMode="auto">
            <a:xfrm>
              <a:off x="85" y="731"/>
              <a:ext cx="7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Attacker</a:t>
              </a:r>
            </a:p>
          </p:txBody>
        </p:sp>
      </p:grpSp>
      <p:grpSp>
        <p:nvGrpSpPr>
          <p:cNvPr id="30736" name="Group 16">
            <a:extLst>
              <a:ext uri="{FF2B5EF4-FFF2-40B4-BE49-F238E27FC236}">
                <a16:creationId xmlns:a16="http://schemas.microsoft.com/office/drawing/2014/main" id="{27990960-7A9F-442F-8846-D74B9A4671A3}"/>
              </a:ext>
            </a:extLst>
          </p:cNvPr>
          <p:cNvGrpSpPr>
            <a:grpSpLocks/>
          </p:cNvGrpSpPr>
          <p:nvPr/>
        </p:nvGrpSpPr>
        <p:grpSpPr bwMode="auto">
          <a:xfrm>
            <a:off x="6654800" y="4699000"/>
            <a:ext cx="2857500" cy="1074738"/>
            <a:chOff x="2904" y="2635"/>
            <a:chExt cx="1800" cy="677"/>
          </a:xfrm>
        </p:grpSpPr>
        <p:pic>
          <p:nvPicPr>
            <p:cNvPr id="30755" name="Picture 17" descr="cloud">
              <a:extLst>
                <a:ext uri="{FF2B5EF4-FFF2-40B4-BE49-F238E27FC236}">
                  <a16:creationId xmlns:a16="http://schemas.microsoft.com/office/drawing/2014/main" id="{36686073-00B1-459D-86C6-C6A467227D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04" y="2635"/>
              <a:ext cx="1800"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56" name="Rectangle 18">
              <a:extLst>
                <a:ext uri="{FF2B5EF4-FFF2-40B4-BE49-F238E27FC236}">
                  <a16:creationId xmlns:a16="http://schemas.microsoft.com/office/drawing/2014/main" id="{2CA273D1-7CFF-418D-A2B0-AA8B2CC42FE0}"/>
                </a:ext>
              </a:extLst>
            </p:cNvPr>
            <p:cNvSpPr>
              <a:spLocks noChangeAspect="1" noChangeArrowheads="1"/>
            </p:cNvSpPr>
            <p:nvPr/>
          </p:nvSpPr>
          <p:spPr bwMode="auto">
            <a:xfrm>
              <a:off x="3301" y="2730"/>
              <a:ext cx="9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chemeClr val="bg2"/>
                  </a:solidFill>
                  <a:latin typeface="Tahoma" panose="020B0604030504040204" pitchFamily="34" charset="0"/>
                </a:rPr>
                <a:t>Internet</a:t>
              </a:r>
            </a:p>
          </p:txBody>
        </p:sp>
      </p:grpSp>
      <p:grpSp>
        <p:nvGrpSpPr>
          <p:cNvPr id="30737" name="Group 19">
            <a:extLst>
              <a:ext uri="{FF2B5EF4-FFF2-40B4-BE49-F238E27FC236}">
                <a16:creationId xmlns:a16="http://schemas.microsoft.com/office/drawing/2014/main" id="{52CB4532-FE70-42CA-B69D-7D0290781720}"/>
              </a:ext>
            </a:extLst>
          </p:cNvPr>
          <p:cNvGrpSpPr>
            <a:grpSpLocks/>
          </p:cNvGrpSpPr>
          <p:nvPr/>
        </p:nvGrpSpPr>
        <p:grpSpPr bwMode="auto">
          <a:xfrm>
            <a:off x="5816601" y="2622551"/>
            <a:ext cx="4403725" cy="1370013"/>
            <a:chOff x="2522" y="1380"/>
            <a:chExt cx="2774" cy="863"/>
          </a:xfrm>
        </p:grpSpPr>
        <p:pic>
          <p:nvPicPr>
            <p:cNvPr id="30746" name="Picture 20" descr="hacker-ppt">
              <a:extLst>
                <a:ext uri="{FF2B5EF4-FFF2-40B4-BE49-F238E27FC236}">
                  <a16:creationId xmlns:a16="http://schemas.microsoft.com/office/drawing/2014/main" id="{8D36108C-FA61-4277-B3ED-95585919C7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2"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7" name="Picture 21" descr="hacker-ppt">
              <a:extLst>
                <a:ext uri="{FF2B5EF4-FFF2-40B4-BE49-F238E27FC236}">
                  <a16:creationId xmlns:a16="http://schemas.microsoft.com/office/drawing/2014/main" id="{6A26923E-6A52-46A7-9F85-A11F8A94DF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6"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8" name="Picture 22" descr="hacker-ppt">
              <a:extLst>
                <a:ext uri="{FF2B5EF4-FFF2-40B4-BE49-F238E27FC236}">
                  <a16:creationId xmlns:a16="http://schemas.microsoft.com/office/drawing/2014/main" id="{652F3516-FA2C-4325-BC1F-13E9FFFC22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8"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9" name="Picture 23" descr="hacker-ppt">
              <a:extLst>
                <a:ext uri="{FF2B5EF4-FFF2-40B4-BE49-F238E27FC236}">
                  <a16:creationId xmlns:a16="http://schemas.microsoft.com/office/drawing/2014/main" id="{C25C5C9E-E7FD-433F-8D44-07E26E9979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94"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0" name="Picture 24" descr="hacker-ppt">
              <a:extLst>
                <a:ext uri="{FF2B5EF4-FFF2-40B4-BE49-F238E27FC236}">
                  <a16:creationId xmlns:a16="http://schemas.microsoft.com/office/drawing/2014/main" id="{617CA575-38CA-47D4-98B4-FF44364CF2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0"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1" name="Picture 25" descr="hacker-ppt">
              <a:extLst>
                <a:ext uri="{FF2B5EF4-FFF2-40B4-BE49-F238E27FC236}">
                  <a16:creationId xmlns:a16="http://schemas.microsoft.com/office/drawing/2014/main" id="{E35F3CB3-9C38-42D1-B8D9-E6AD20871B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8"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2" name="Picture 26" descr="hacker-ppt">
              <a:extLst>
                <a:ext uri="{FF2B5EF4-FFF2-40B4-BE49-F238E27FC236}">
                  <a16:creationId xmlns:a16="http://schemas.microsoft.com/office/drawing/2014/main" id="{B6F9B90E-73D2-4BF0-BC1F-EF78B87A89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0"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3" name="Picture 27" descr="hacker-ppt">
              <a:extLst>
                <a:ext uri="{FF2B5EF4-FFF2-40B4-BE49-F238E27FC236}">
                  <a16:creationId xmlns:a16="http://schemas.microsoft.com/office/drawing/2014/main" id="{3B7F9496-46E4-4CF2-893D-8DDA328463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6"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54" name="Picture 28" descr="hacker-ppt">
              <a:extLst>
                <a:ext uri="{FF2B5EF4-FFF2-40B4-BE49-F238E27FC236}">
                  <a16:creationId xmlns:a16="http://schemas.microsoft.com/office/drawing/2014/main" id="{860C1F0A-7D88-4A36-8DA2-89A5AD8DBF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2"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34557" name="Rectangle 29">
            <a:extLst>
              <a:ext uri="{FF2B5EF4-FFF2-40B4-BE49-F238E27FC236}">
                <a16:creationId xmlns:a16="http://schemas.microsoft.com/office/drawing/2014/main" id="{664D55F2-2EAF-4988-9EBA-35350E25B03D}"/>
              </a:ext>
            </a:extLst>
          </p:cNvPr>
          <p:cNvSpPr>
            <a:spLocks noChangeArrowheads="1"/>
          </p:cNvSpPr>
          <p:nvPr/>
        </p:nvSpPr>
        <p:spPr bwMode="auto">
          <a:xfrm>
            <a:off x="7400926" y="2197101"/>
            <a:ext cx="1260475" cy="366713"/>
          </a:xfrm>
          <a:prstGeom prst="rect">
            <a:avLst/>
          </a:prstGeom>
          <a:noFill/>
          <a:ln w="9525">
            <a:noFill/>
            <a:miter lim="800000"/>
            <a:headEnd/>
            <a:tailEnd/>
          </a:ln>
          <a:effectLst/>
        </p:spPr>
        <p:txBody>
          <a:bodyPr wrap="none" lIns="92075" tIns="46038" rIns="92075" bIns="46038">
            <a:spAutoFit/>
          </a:bodyPr>
          <a:lstStyle/>
          <a:p>
            <a:pPr algn="ctr" eaLnBrk="0" hangingPunct="0">
              <a:lnSpc>
                <a:spcPct val="90000"/>
              </a:lnSpc>
              <a:defRPr/>
            </a:pPr>
            <a:r>
              <a:rPr lang="en-US" sz="2000" b="1">
                <a:latin typeface="Tahoma" pitchFamily="34" charset="0"/>
              </a:rPr>
              <a:t>Zombies</a:t>
            </a:r>
            <a:endParaRPr lang="en-US" sz="2000" b="1">
              <a:effectLst>
                <a:outerShdw blurRad="38100" dist="38100" dir="2700000" algn="tl">
                  <a:srgbClr val="C0C0C0"/>
                </a:outerShdw>
              </a:effectLst>
              <a:latin typeface="Tahoma" pitchFamily="34" charset="0"/>
            </a:endParaRPr>
          </a:p>
        </p:txBody>
      </p:sp>
      <p:grpSp>
        <p:nvGrpSpPr>
          <p:cNvPr id="30739" name="Group 30">
            <a:extLst>
              <a:ext uri="{FF2B5EF4-FFF2-40B4-BE49-F238E27FC236}">
                <a16:creationId xmlns:a16="http://schemas.microsoft.com/office/drawing/2014/main" id="{60EEA07D-F962-4A65-A117-88BBEBDB7605}"/>
              </a:ext>
            </a:extLst>
          </p:cNvPr>
          <p:cNvGrpSpPr>
            <a:grpSpLocks/>
          </p:cNvGrpSpPr>
          <p:nvPr/>
        </p:nvGrpSpPr>
        <p:grpSpPr bwMode="auto">
          <a:xfrm>
            <a:off x="3717926" y="3770313"/>
            <a:ext cx="1058863" cy="1511300"/>
            <a:chOff x="1200" y="1200"/>
            <a:chExt cx="667" cy="952"/>
          </a:xfrm>
        </p:grpSpPr>
        <p:pic>
          <p:nvPicPr>
            <p:cNvPr id="30743" name="Picture 31" descr="pc-ppt2">
              <a:extLst>
                <a:ext uri="{FF2B5EF4-FFF2-40B4-BE49-F238E27FC236}">
                  <a16:creationId xmlns:a16="http://schemas.microsoft.com/office/drawing/2014/main" id="{5303A7D2-96C1-4E58-85D0-21B3090432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3" y="1604"/>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4" name="Picture 32" descr="hacker-ppt">
              <a:extLst>
                <a:ext uri="{FF2B5EF4-FFF2-40B4-BE49-F238E27FC236}">
                  <a16:creationId xmlns:a16="http://schemas.microsoft.com/office/drawing/2014/main" id="{1F3BB3AB-C3D2-4C45-BF85-EB3B799AF1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5" y="1677"/>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5" name="Rectangle 33">
              <a:extLst>
                <a:ext uri="{FF2B5EF4-FFF2-40B4-BE49-F238E27FC236}">
                  <a16:creationId xmlns:a16="http://schemas.microsoft.com/office/drawing/2014/main" id="{4E14BA8F-227A-429A-A122-EF911B16E690}"/>
                </a:ext>
              </a:extLst>
            </p:cNvPr>
            <p:cNvSpPr>
              <a:spLocks noChangeArrowheads="1"/>
            </p:cNvSpPr>
            <p:nvPr/>
          </p:nvSpPr>
          <p:spPr bwMode="auto">
            <a:xfrm>
              <a:off x="1200" y="1200"/>
              <a:ext cx="66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Master</a:t>
              </a:r>
            </a:p>
            <a:p>
              <a:pPr algn="ctr">
                <a:lnSpc>
                  <a:spcPct val="90000"/>
                </a:lnSpc>
              </a:pPr>
              <a:r>
                <a:rPr lang="en-US" altLang="en-US" sz="2000" b="1">
                  <a:latin typeface="Tahoma" panose="020B0604030504040204" pitchFamily="34" charset="0"/>
                </a:rPr>
                <a:t>Server</a:t>
              </a:r>
            </a:p>
          </p:txBody>
        </p:sp>
      </p:grpSp>
      <p:sp>
        <p:nvSpPr>
          <p:cNvPr id="534562" name="AutoShape 34">
            <a:extLst>
              <a:ext uri="{FF2B5EF4-FFF2-40B4-BE49-F238E27FC236}">
                <a16:creationId xmlns:a16="http://schemas.microsoft.com/office/drawing/2014/main" id="{767C0A1A-BA42-4A94-BB63-B7615B5F41EE}"/>
              </a:ext>
            </a:extLst>
          </p:cNvPr>
          <p:cNvSpPr>
            <a:spLocks noChangeArrowheads="1"/>
          </p:cNvSpPr>
          <p:nvPr/>
        </p:nvSpPr>
        <p:spPr bwMode="auto">
          <a:xfrm>
            <a:off x="3095625" y="4102100"/>
            <a:ext cx="649288" cy="533400"/>
          </a:xfrm>
          <a:prstGeom prst="rightArrow">
            <a:avLst>
              <a:gd name="adj1" fmla="val 54759"/>
              <a:gd name="adj2" fmla="val 27180"/>
            </a:avLst>
          </a:prstGeom>
          <a:solidFill>
            <a:srgbClr val="FFFF00"/>
          </a:solidFill>
          <a:ln w="12700">
            <a:solidFill>
              <a:schemeClr val="tx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34563" name="Rectangle 35">
            <a:extLst>
              <a:ext uri="{FF2B5EF4-FFF2-40B4-BE49-F238E27FC236}">
                <a16:creationId xmlns:a16="http://schemas.microsoft.com/office/drawing/2014/main" id="{58BAD14A-FAE6-439B-B2BB-187DFA2CFA19}"/>
              </a:ext>
            </a:extLst>
          </p:cNvPr>
          <p:cNvSpPr>
            <a:spLocks noChangeArrowheads="1"/>
          </p:cNvSpPr>
          <p:nvPr/>
        </p:nvSpPr>
        <p:spPr bwMode="auto">
          <a:xfrm>
            <a:off x="3067050" y="1627189"/>
            <a:ext cx="3962400" cy="1324081"/>
          </a:xfrm>
          <a:prstGeom prst="rect">
            <a:avLst/>
          </a:prstGeom>
          <a:noFill/>
          <a:ln w="9525">
            <a:noFill/>
            <a:miter lim="800000"/>
            <a:headEnd/>
            <a:tailEnd/>
          </a:ln>
          <a:effectLst/>
        </p:spPr>
        <p:txBody>
          <a:bodyPr lIns="92075" tIns="46038" rIns="92075" bIns="46038">
            <a:spAutoFit/>
          </a:bodyPr>
          <a:lstStyle/>
          <a:p>
            <a:pPr eaLnBrk="0" hangingPunct="0">
              <a:tabLst>
                <a:tab pos="3092450" algn="l"/>
              </a:tabLst>
              <a:defRPr/>
            </a:pPr>
            <a:r>
              <a:rPr lang="en-US" sz="2000">
                <a:latin typeface="Tahoma" pitchFamily="34" charset="0"/>
              </a:rPr>
              <a:t>      Attacker sends commands </a:t>
            </a:r>
          </a:p>
          <a:p>
            <a:pPr eaLnBrk="0" hangingPunct="0">
              <a:tabLst>
                <a:tab pos="3092450" algn="l"/>
              </a:tabLst>
              <a:defRPr/>
            </a:pPr>
            <a:r>
              <a:rPr lang="en-US" sz="2000">
                <a:latin typeface="Tahoma" pitchFamily="34" charset="0"/>
              </a:rPr>
              <a:t>     to Master Server to launch a DDoS attack against </a:t>
            </a:r>
          </a:p>
          <a:p>
            <a:pPr eaLnBrk="0" hangingPunct="0">
              <a:tabLst>
                <a:tab pos="3092450" algn="l"/>
              </a:tabLst>
              <a:defRPr/>
            </a:pPr>
            <a:r>
              <a:rPr lang="en-US" sz="2000">
                <a:latin typeface="Tahoma" pitchFamily="34" charset="0"/>
              </a:rPr>
              <a:t>a targeted system</a:t>
            </a:r>
            <a:endParaRPr lang="en-US" sz="2000">
              <a:effectLst>
                <a:outerShdw blurRad="38100" dist="38100" dir="2700000" algn="tl">
                  <a:srgbClr val="C0C0C0"/>
                </a:outerShdw>
              </a:effectLst>
              <a:latin typeface="Tahoma" pitchFamily="34" charset="0"/>
            </a:endParaRPr>
          </a:p>
        </p:txBody>
      </p:sp>
      <p:sp>
        <p:nvSpPr>
          <p:cNvPr id="30742" name="Oval 36">
            <a:extLst>
              <a:ext uri="{FF2B5EF4-FFF2-40B4-BE49-F238E27FC236}">
                <a16:creationId xmlns:a16="http://schemas.microsoft.com/office/drawing/2014/main" id="{DC29D3EC-0C2B-4939-BFA4-5C6B472E0707}"/>
              </a:ext>
            </a:extLst>
          </p:cNvPr>
          <p:cNvSpPr>
            <a:spLocks noChangeArrowheads="1"/>
          </p:cNvSpPr>
          <p:nvPr/>
        </p:nvSpPr>
        <p:spPr bwMode="auto">
          <a:xfrm>
            <a:off x="3143250" y="1703388"/>
            <a:ext cx="457200" cy="457200"/>
          </a:xfrm>
          <a:prstGeom prst="ellipse">
            <a:avLst/>
          </a:prstGeom>
          <a:solidFill>
            <a:srgbClr val="FFFF00"/>
          </a:solidFill>
          <a:ln w="38100">
            <a:solidFill>
              <a:schemeClr val="bg1"/>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rgbClr val="000000"/>
                </a:solidFill>
                <a:latin typeface="Arial" panose="020B0604020202020204" pitchFamily="34" charset="0"/>
              </a:rPr>
              <a:t>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34562"/>
                                        </p:tgtEl>
                                        <p:attrNameLst>
                                          <p:attrName>style.visibility</p:attrName>
                                        </p:attrNameLst>
                                      </p:cBhvr>
                                      <p:to>
                                        <p:strVal val="visible"/>
                                      </p:to>
                                    </p:set>
                                    <p:animEffect transition="in" filter="wipe(left)">
                                      <p:cBhvr>
                                        <p:cTn id="7" dur="500"/>
                                        <p:tgtEl>
                                          <p:spTgt spid="5345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456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Date Placeholder 2">
            <a:extLst>
              <a:ext uri="{FF2B5EF4-FFF2-40B4-BE49-F238E27FC236}">
                <a16:creationId xmlns:a16="http://schemas.microsoft.com/office/drawing/2014/main" id="{E78A5C77-13E9-4E02-B085-146BCD20A959}"/>
              </a:ext>
            </a:extLst>
          </p:cNvPr>
          <p:cNvSpPr>
            <a:spLocks noGrp="1"/>
          </p:cNvSpPr>
          <p:nvPr>
            <p:ph type="dt"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FFD5A19-2673-41C5-8531-5DAA33473B58}" type="datetimeFigureOut">
              <a:rPr lang="en-US" smtClean="0"/>
              <a:pPr>
                <a:defRPr/>
              </a:pPr>
              <a:t>10/31/2024</a:t>
            </a:fld>
            <a:endParaRPr lang="en-US">
              <a:solidFill>
                <a:schemeClr val="tx1"/>
              </a:solidFill>
            </a:endParaRPr>
          </a:p>
        </p:txBody>
      </p:sp>
      <p:sp>
        <p:nvSpPr>
          <p:cNvPr id="43" name="Footer Placeholder 3">
            <a:extLst>
              <a:ext uri="{FF2B5EF4-FFF2-40B4-BE49-F238E27FC236}">
                <a16:creationId xmlns:a16="http://schemas.microsoft.com/office/drawing/2014/main" id="{8C609128-C24F-46FE-A8B4-FD3BFE73D74E}"/>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chemeClr val="tx1"/>
              </a:solidFill>
            </a:endParaRPr>
          </a:p>
        </p:txBody>
      </p:sp>
      <p:sp>
        <p:nvSpPr>
          <p:cNvPr id="44" name="Slide Number Placeholder 4">
            <a:extLst>
              <a:ext uri="{FF2B5EF4-FFF2-40B4-BE49-F238E27FC236}">
                <a16:creationId xmlns:a16="http://schemas.microsoft.com/office/drawing/2014/main" id="{C4EFAE21-1E8B-4984-8688-D6F49C468B83}"/>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fld id="{938EA2D2-C3DC-44BB-8211-90B716D51699}" type="slidenum">
              <a:rPr lang="en-US" smtClean="0"/>
              <a:pPr eaLnBrk="1" hangingPunct="1"/>
              <a:t>62</a:t>
            </a:fld>
            <a:endParaRPr lang="en-US" altLang="en-US" sz="1400">
              <a:latin typeface="Arial" panose="020B0604020202020204" pitchFamily="34" charset="0"/>
            </a:endParaRPr>
          </a:p>
        </p:txBody>
      </p:sp>
      <p:grpSp>
        <p:nvGrpSpPr>
          <p:cNvPr id="31749" name="Group 2">
            <a:extLst>
              <a:ext uri="{FF2B5EF4-FFF2-40B4-BE49-F238E27FC236}">
                <a16:creationId xmlns:a16="http://schemas.microsoft.com/office/drawing/2014/main" id="{7A8E18FA-75EA-46B6-B340-28BDA695C2BE}"/>
              </a:ext>
            </a:extLst>
          </p:cNvPr>
          <p:cNvGrpSpPr>
            <a:grpSpLocks/>
          </p:cNvGrpSpPr>
          <p:nvPr/>
        </p:nvGrpSpPr>
        <p:grpSpPr bwMode="auto">
          <a:xfrm>
            <a:off x="6654800" y="4699000"/>
            <a:ext cx="2857500" cy="1074738"/>
            <a:chOff x="2904" y="2635"/>
            <a:chExt cx="1800" cy="677"/>
          </a:xfrm>
        </p:grpSpPr>
        <p:pic>
          <p:nvPicPr>
            <p:cNvPr id="31787" name="Picture 3" descr="cloud">
              <a:extLst>
                <a:ext uri="{FF2B5EF4-FFF2-40B4-BE49-F238E27FC236}">
                  <a16:creationId xmlns:a16="http://schemas.microsoft.com/office/drawing/2014/main" id="{36BBC88D-50F0-463F-B2EE-59AF86C665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4" y="2635"/>
              <a:ext cx="1800"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88" name="Rectangle 4">
              <a:extLst>
                <a:ext uri="{FF2B5EF4-FFF2-40B4-BE49-F238E27FC236}">
                  <a16:creationId xmlns:a16="http://schemas.microsoft.com/office/drawing/2014/main" id="{50AD88F1-49A3-4B18-AE99-B5894AB49AE4}"/>
                </a:ext>
              </a:extLst>
            </p:cNvPr>
            <p:cNvSpPr>
              <a:spLocks noChangeAspect="1" noChangeArrowheads="1"/>
            </p:cNvSpPr>
            <p:nvPr/>
          </p:nvSpPr>
          <p:spPr bwMode="auto">
            <a:xfrm>
              <a:off x="3301" y="2730"/>
              <a:ext cx="9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chemeClr val="bg2"/>
                  </a:solidFill>
                  <a:latin typeface="Tahoma" panose="020B0604030504040204" pitchFamily="34" charset="0"/>
                </a:rPr>
                <a:t>Internet</a:t>
              </a:r>
            </a:p>
          </p:txBody>
        </p:sp>
      </p:grpSp>
      <p:sp>
        <p:nvSpPr>
          <p:cNvPr id="535557" name="Freeform 5">
            <a:extLst>
              <a:ext uri="{FF2B5EF4-FFF2-40B4-BE49-F238E27FC236}">
                <a16:creationId xmlns:a16="http://schemas.microsoft.com/office/drawing/2014/main" id="{13BC05E2-1062-409E-9B13-2F5D26EF676A}"/>
              </a:ext>
            </a:extLst>
          </p:cNvPr>
          <p:cNvSpPr>
            <a:spLocks/>
          </p:cNvSpPr>
          <p:nvPr/>
        </p:nvSpPr>
        <p:spPr bwMode="auto">
          <a:xfrm>
            <a:off x="5410200" y="2455863"/>
            <a:ext cx="5257800" cy="3276600"/>
          </a:xfrm>
          <a:custGeom>
            <a:avLst/>
            <a:gdLst>
              <a:gd name="T0" fmla="*/ 0 w 3312"/>
              <a:gd name="T1" fmla="*/ 2147483647 h 2064"/>
              <a:gd name="T2" fmla="*/ 0 w 3312"/>
              <a:gd name="T3" fmla="*/ 0 h 2064"/>
              <a:gd name="T4" fmla="*/ 2147483647 w 3312"/>
              <a:gd name="T5" fmla="*/ 0 h 2064"/>
              <a:gd name="T6" fmla="*/ 2147483647 w 3312"/>
              <a:gd name="T7" fmla="*/ 2147483647 h 2064"/>
              <a:gd name="T8" fmla="*/ 2147483647 w 3312"/>
              <a:gd name="T9" fmla="*/ 2147483647 h 2064"/>
              <a:gd name="T10" fmla="*/ 2147483647 w 3312"/>
              <a:gd name="T11" fmla="*/ 2147483647 h 2064"/>
              <a:gd name="T12" fmla="*/ 2147483647 w 3312"/>
              <a:gd name="T13" fmla="*/ 2147483647 h 2064"/>
              <a:gd name="T14" fmla="*/ 2147483647 w 3312"/>
              <a:gd name="T15" fmla="*/ 2147483647 h 2064"/>
              <a:gd name="T16" fmla="*/ 2147483647 w 3312"/>
              <a:gd name="T17" fmla="*/ 2147483647 h 2064"/>
              <a:gd name="T18" fmla="*/ 2147483647 w 3312"/>
              <a:gd name="T19" fmla="*/ 2147483647 h 2064"/>
              <a:gd name="T20" fmla="*/ 2147483647 w 3312"/>
              <a:gd name="T21" fmla="*/ 2147483647 h 2064"/>
              <a:gd name="T22" fmla="*/ 0 w 3312"/>
              <a:gd name="T23" fmla="*/ 2147483647 h 20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12"/>
              <a:gd name="T37" fmla="*/ 0 h 2064"/>
              <a:gd name="T38" fmla="*/ 3312 w 3312"/>
              <a:gd name="T39" fmla="*/ 2064 h 20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12" h="2064">
                <a:moveTo>
                  <a:pt x="0" y="1296"/>
                </a:moveTo>
                <a:lnTo>
                  <a:pt x="0" y="0"/>
                </a:lnTo>
                <a:lnTo>
                  <a:pt x="3312" y="0"/>
                </a:lnTo>
                <a:lnTo>
                  <a:pt x="3312" y="1296"/>
                </a:lnTo>
                <a:lnTo>
                  <a:pt x="1968" y="1296"/>
                </a:lnTo>
                <a:lnTo>
                  <a:pt x="1824" y="1536"/>
                </a:lnTo>
                <a:lnTo>
                  <a:pt x="2016" y="1536"/>
                </a:lnTo>
                <a:lnTo>
                  <a:pt x="1632" y="2064"/>
                </a:lnTo>
                <a:lnTo>
                  <a:pt x="1248" y="1536"/>
                </a:lnTo>
                <a:lnTo>
                  <a:pt x="1440" y="1536"/>
                </a:lnTo>
                <a:lnTo>
                  <a:pt x="1296" y="1296"/>
                </a:lnTo>
                <a:lnTo>
                  <a:pt x="0" y="1296"/>
                </a:lnTo>
                <a:close/>
              </a:path>
            </a:pathLst>
          </a:custGeom>
          <a:solidFill>
            <a:srgbClr val="FFFF00"/>
          </a:solidFill>
          <a:ln w="12700">
            <a:solidFill>
              <a:srgbClr val="000000"/>
            </a:solidFill>
            <a:round/>
            <a:headEnd type="none" w="sm" len="sm"/>
            <a:tailEnd type="none" w="sm" len="sm"/>
          </a:ln>
        </p:spPr>
        <p:txBody>
          <a:bodyPr/>
          <a:lstStyle/>
          <a:p>
            <a:endParaRPr lang="en-US"/>
          </a:p>
        </p:txBody>
      </p:sp>
      <p:sp>
        <p:nvSpPr>
          <p:cNvPr id="31751" name="Rectangle 6">
            <a:extLst>
              <a:ext uri="{FF2B5EF4-FFF2-40B4-BE49-F238E27FC236}">
                <a16:creationId xmlns:a16="http://schemas.microsoft.com/office/drawing/2014/main" id="{5372F920-1B25-429A-94DE-034EC84CF0A2}"/>
              </a:ext>
            </a:extLst>
          </p:cNvPr>
          <p:cNvSpPr>
            <a:spLocks noGrp="1" noChangeArrowheads="1"/>
          </p:cNvSpPr>
          <p:nvPr>
            <p:ph type="title"/>
          </p:nvPr>
        </p:nvSpPr>
        <p:spPr/>
        <p:txBody>
          <a:bodyPr/>
          <a:lstStyle/>
          <a:p>
            <a:pPr eaLnBrk="1" hangingPunct="1"/>
            <a:r>
              <a:rPr lang="en-US" altLang="en-US"/>
              <a:t>Detailed Steps (5)</a:t>
            </a:r>
          </a:p>
        </p:txBody>
      </p:sp>
      <p:pic>
        <p:nvPicPr>
          <p:cNvPr id="31752" name="Picture 7" descr="pc-ppt2">
            <a:extLst>
              <a:ext uri="{FF2B5EF4-FFF2-40B4-BE49-F238E27FC236}">
                <a16:creationId xmlns:a16="http://schemas.microsoft.com/office/drawing/2014/main" id="{BEC2FE8A-5C62-4946-BC71-7480ABC7C7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18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3" name="Picture 8" descr="pc-ppt2">
            <a:extLst>
              <a:ext uri="{FF2B5EF4-FFF2-40B4-BE49-F238E27FC236}">
                <a16:creationId xmlns:a16="http://schemas.microsoft.com/office/drawing/2014/main" id="{E0D78AD2-0B2A-4D94-BCB1-C5A95CCAEC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04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4" name="Picture 9" descr="pc-ppt2">
            <a:extLst>
              <a:ext uri="{FF2B5EF4-FFF2-40B4-BE49-F238E27FC236}">
                <a16:creationId xmlns:a16="http://schemas.microsoft.com/office/drawing/2014/main" id="{C22A35A7-7A83-44B1-8FBC-480762D410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45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5" name="Picture 10" descr="pc-ppt2">
            <a:extLst>
              <a:ext uri="{FF2B5EF4-FFF2-40B4-BE49-F238E27FC236}">
                <a16:creationId xmlns:a16="http://schemas.microsoft.com/office/drawing/2014/main" id="{7B945F94-9183-463A-B906-0319D21F1A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11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6" name="Picture 11" descr="pc-ppt2">
            <a:extLst>
              <a:ext uri="{FF2B5EF4-FFF2-40B4-BE49-F238E27FC236}">
                <a16:creationId xmlns:a16="http://schemas.microsoft.com/office/drawing/2014/main" id="{77ACF05B-8B45-4943-B622-B6C65D223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075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7" name="Picture 12" descr="pc-ppt2">
            <a:extLst>
              <a:ext uri="{FF2B5EF4-FFF2-40B4-BE49-F238E27FC236}">
                <a16:creationId xmlns:a16="http://schemas.microsoft.com/office/drawing/2014/main" id="{B1B3C948-5F36-43DF-ACDE-9B91BFE71D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52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8" name="Picture 13" descr="pc-ppt2">
            <a:extLst>
              <a:ext uri="{FF2B5EF4-FFF2-40B4-BE49-F238E27FC236}">
                <a16:creationId xmlns:a16="http://schemas.microsoft.com/office/drawing/2014/main" id="{522B2502-ACB2-402F-9EC5-3F805E7B48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70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59" name="Picture 14" descr="pc-ppt2">
            <a:extLst>
              <a:ext uri="{FF2B5EF4-FFF2-40B4-BE49-F238E27FC236}">
                <a16:creationId xmlns:a16="http://schemas.microsoft.com/office/drawing/2014/main" id="{5E46B326-61DF-4440-BB0B-36DC9E4F7A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64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0" name="Picture 15" descr="pc-ppt2">
            <a:extLst>
              <a:ext uri="{FF2B5EF4-FFF2-40B4-BE49-F238E27FC236}">
                <a16:creationId xmlns:a16="http://schemas.microsoft.com/office/drawing/2014/main" id="{4A03A368-138F-45FE-98B0-C614ED1AB5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58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1761" name="Group 16">
            <a:extLst>
              <a:ext uri="{FF2B5EF4-FFF2-40B4-BE49-F238E27FC236}">
                <a16:creationId xmlns:a16="http://schemas.microsoft.com/office/drawing/2014/main" id="{BAF9FC30-19F0-48D3-8C1B-6D50E9927316}"/>
              </a:ext>
            </a:extLst>
          </p:cNvPr>
          <p:cNvGrpSpPr>
            <a:grpSpLocks/>
          </p:cNvGrpSpPr>
          <p:nvPr/>
        </p:nvGrpSpPr>
        <p:grpSpPr bwMode="auto">
          <a:xfrm>
            <a:off x="1920876" y="2533650"/>
            <a:ext cx="1266825" cy="2249488"/>
            <a:chOff x="85" y="731"/>
            <a:chExt cx="798" cy="1417"/>
          </a:xfrm>
        </p:grpSpPr>
        <p:pic>
          <p:nvPicPr>
            <p:cNvPr id="31784" name="Picture 17" descr="pc-ppt2">
              <a:extLst>
                <a:ext uri="{FF2B5EF4-FFF2-40B4-BE49-F238E27FC236}">
                  <a16:creationId xmlns:a16="http://schemas.microsoft.com/office/drawing/2014/main" id="{11D3C4F9-28EF-4D96-A872-14F25BF396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 y="1564"/>
              <a:ext cx="584"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85" name="Picture 18" descr="hacker-ppt">
              <a:extLst>
                <a:ext uri="{FF2B5EF4-FFF2-40B4-BE49-F238E27FC236}">
                  <a16:creationId xmlns:a16="http://schemas.microsoft.com/office/drawing/2014/main" id="{32128EB7-6C7C-4316-BD63-12E9BF7F10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 y="976"/>
              <a:ext cx="571"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86" name="Rectangle 19">
              <a:extLst>
                <a:ext uri="{FF2B5EF4-FFF2-40B4-BE49-F238E27FC236}">
                  <a16:creationId xmlns:a16="http://schemas.microsoft.com/office/drawing/2014/main" id="{1E23B310-749F-4B66-A095-2ABF22627FF7}"/>
                </a:ext>
              </a:extLst>
            </p:cNvPr>
            <p:cNvSpPr>
              <a:spLocks noChangeArrowheads="1"/>
            </p:cNvSpPr>
            <p:nvPr/>
          </p:nvSpPr>
          <p:spPr bwMode="auto">
            <a:xfrm>
              <a:off x="85" y="731"/>
              <a:ext cx="7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Attacker</a:t>
              </a:r>
            </a:p>
          </p:txBody>
        </p:sp>
      </p:grpSp>
      <p:grpSp>
        <p:nvGrpSpPr>
          <p:cNvPr id="31762" name="Group 20">
            <a:extLst>
              <a:ext uri="{FF2B5EF4-FFF2-40B4-BE49-F238E27FC236}">
                <a16:creationId xmlns:a16="http://schemas.microsoft.com/office/drawing/2014/main" id="{B8E3CD4D-F507-490E-9FDB-336FE3EBCDFA}"/>
              </a:ext>
            </a:extLst>
          </p:cNvPr>
          <p:cNvGrpSpPr>
            <a:grpSpLocks/>
          </p:cNvGrpSpPr>
          <p:nvPr/>
        </p:nvGrpSpPr>
        <p:grpSpPr bwMode="auto">
          <a:xfrm>
            <a:off x="5816601" y="2622551"/>
            <a:ext cx="4403725" cy="1370013"/>
            <a:chOff x="2522" y="1380"/>
            <a:chExt cx="2774" cy="863"/>
          </a:xfrm>
        </p:grpSpPr>
        <p:pic>
          <p:nvPicPr>
            <p:cNvPr id="31775" name="Picture 21" descr="hacker-ppt">
              <a:extLst>
                <a:ext uri="{FF2B5EF4-FFF2-40B4-BE49-F238E27FC236}">
                  <a16:creationId xmlns:a16="http://schemas.microsoft.com/office/drawing/2014/main" id="{D040AC14-7BDF-4D1F-A330-FA96291224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2"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6" name="Picture 22" descr="hacker-ppt">
              <a:extLst>
                <a:ext uri="{FF2B5EF4-FFF2-40B4-BE49-F238E27FC236}">
                  <a16:creationId xmlns:a16="http://schemas.microsoft.com/office/drawing/2014/main" id="{B19FBF5D-BC9E-4248-8164-C0C48242606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6"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7" name="Picture 23" descr="hacker-ppt">
              <a:extLst>
                <a:ext uri="{FF2B5EF4-FFF2-40B4-BE49-F238E27FC236}">
                  <a16:creationId xmlns:a16="http://schemas.microsoft.com/office/drawing/2014/main" id="{A5DF50B6-B3A0-4CE2-83D1-EE09EB09B6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8"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8" name="Picture 24" descr="hacker-ppt">
              <a:extLst>
                <a:ext uri="{FF2B5EF4-FFF2-40B4-BE49-F238E27FC236}">
                  <a16:creationId xmlns:a16="http://schemas.microsoft.com/office/drawing/2014/main" id="{BBF75D31-BA7D-42A5-8B86-9DCBEF23B15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4"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9" name="Picture 25" descr="hacker-ppt">
              <a:extLst>
                <a:ext uri="{FF2B5EF4-FFF2-40B4-BE49-F238E27FC236}">
                  <a16:creationId xmlns:a16="http://schemas.microsoft.com/office/drawing/2014/main" id="{6FD074B8-F146-4B7F-8A50-962DA43C1F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0"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80" name="Picture 26" descr="hacker-ppt">
              <a:extLst>
                <a:ext uri="{FF2B5EF4-FFF2-40B4-BE49-F238E27FC236}">
                  <a16:creationId xmlns:a16="http://schemas.microsoft.com/office/drawing/2014/main" id="{6AE1765E-1DFB-47A3-84C6-3D43F5B4CB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8"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81" name="Picture 27" descr="hacker-ppt">
              <a:extLst>
                <a:ext uri="{FF2B5EF4-FFF2-40B4-BE49-F238E27FC236}">
                  <a16:creationId xmlns:a16="http://schemas.microsoft.com/office/drawing/2014/main" id="{18DCBD08-E892-4E2E-8CDD-89F3D12770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82" name="Picture 28" descr="hacker-ppt">
              <a:extLst>
                <a:ext uri="{FF2B5EF4-FFF2-40B4-BE49-F238E27FC236}">
                  <a16:creationId xmlns:a16="http://schemas.microsoft.com/office/drawing/2014/main" id="{0311AC53-B615-4738-BED7-F39BABE597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6"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83" name="Picture 29" descr="hacker-ppt">
              <a:extLst>
                <a:ext uri="{FF2B5EF4-FFF2-40B4-BE49-F238E27FC236}">
                  <a16:creationId xmlns:a16="http://schemas.microsoft.com/office/drawing/2014/main" id="{412A3B65-D7DB-4239-96F2-01943BC3DE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2"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35582" name="Rectangle 30">
            <a:extLst>
              <a:ext uri="{FF2B5EF4-FFF2-40B4-BE49-F238E27FC236}">
                <a16:creationId xmlns:a16="http://schemas.microsoft.com/office/drawing/2014/main" id="{D5E874CB-FFD9-4BB9-B30F-C438D546BE7D}"/>
              </a:ext>
            </a:extLst>
          </p:cNvPr>
          <p:cNvSpPr>
            <a:spLocks noChangeArrowheads="1"/>
          </p:cNvSpPr>
          <p:nvPr/>
        </p:nvSpPr>
        <p:spPr bwMode="auto">
          <a:xfrm>
            <a:off x="7400926" y="2197101"/>
            <a:ext cx="1260475" cy="366713"/>
          </a:xfrm>
          <a:prstGeom prst="rect">
            <a:avLst/>
          </a:prstGeom>
          <a:noFill/>
          <a:ln w="9525">
            <a:noFill/>
            <a:miter lim="800000"/>
            <a:headEnd/>
            <a:tailEnd/>
          </a:ln>
          <a:effectLst/>
        </p:spPr>
        <p:txBody>
          <a:bodyPr wrap="none" lIns="92075" tIns="46038" rIns="92075" bIns="46038">
            <a:spAutoFit/>
          </a:bodyPr>
          <a:lstStyle/>
          <a:p>
            <a:pPr algn="ctr" eaLnBrk="0" hangingPunct="0">
              <a:lnSpc>
                <a:spcPct val="90000"/>
              </a:lnSpc>
              <a:defRPr/>
            </a:pPr>
            <a:r>
              <a:rPr lang="en-US" sz="2000" b="1">
                <a:latin typeface="Tahoma" pitchFamily="34" charset="0"/>
              </a:rPr>
              <a:t>Zombies</a:t>
            </a:r>
            <a:endParaRPr lang="en-US" sz="2000" b="1">
              <a:effectLst>
                <a:outerShdw blurRad="38100" dist="38100" dir="2700000" algn="tl">
                  <a:srgbClr val="C0C0C0"/>
                </a:outerShdw>
              </a:effectLst>
              <a:latin typeface="Tahoma" pitchFamily="34" charset="0"/>
            </a:endParaRPr>
          </a:p>
        </p:txBody>
      </p:sp>
      <p:grpSp>
        <p:nvGrpSpPr>
          <p:cNvPr id="31764" name="Group 31">
            <a:extLst>
              <a:ext uri="{FF2B5EF4-FFF2-40B4-BE49-F238E27FC236}">
                <a16:creationId xmlns:a16="http://schemas.microsoft.com/office/drawing/2014/main" id="{5C029521-EDFB-4307-A9AF-435AB78B5902}"/>
              </a:ext>
            </a:extLst>
          </p:cNvPr>
          <p:cNvGrpSpPr>
            <a:grpSpLocks/>
          </p:cNvGrpSpPr>
          <p:nvPr/>
        </p:nvGrpSpPr>
        <p:grpSpPr bwMode="auto">
          <a:xfrm>
            <a:off x="3717926" y="3770313"/>
            <a:ext cx="1058863" cy="1511300"/>
            <a:chOff x="1200" y="1200"/>
            <a:chExt cx="667" cy="952"/>
          </a:xfrm>
        </p:grpSpPr>
        <p:pic>
          <p:nvPicPr>
            <p:cNvPr id="31772" name="Picture 32" descr="pc-ppt2">
              <a:extLst>
                <a:ext uri="{FF2B5EF4-FFF2-40B4-BE49-F238E27FC236}">
                  <a16:creationId xmlns:a16="http://schemas.microsoft.com/office/drawing/2014/main" id="{CB0F7B39-4740-411D-9FB1-71DF51055E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3" y="1604"/>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3" name="Picture 33" descr="hacker-ppt">
              <a:extLst>
                <a:ext uri="{FF2B5EF4-FFF2-40B4-BE49-F238E27FC236}">
                  <a16:creationId xmlns:a16="http://schemas.microsoft.com/office/drawing/2014/main" id="{45CD0431-FB33-456C-A9BB-6F7EFBBFEE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5" y="1677"/>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74" name="Rectangle 34">
              <a:extLst>
                <a:ext uri="{FF2B5EF4-FFF2-40B4-BE49-F238E27FC236}">
                  <a16:creationId xmlns:a16="http://schemas.microsoft.com/office/drawing/2014/main" id="{1F697CF6-1470-4347-B2CE-1BADE600E58B}"/>
                </a:ext>
              </a:extLst>
            </p:cNvPr>
            <p:cNvSpPr>
              <a:spLocks noChangeArrowheads="1"/>
            </p:cNvSpPr>
            <p:nvPr/>
          </p:nvSpPr>
          <p:spPr bwMode="auto">
            <a:xfrm>
              <a:off x="1200" y="1200"/>
              <a:ext cx="66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Master</a:t>
              </a:r>
            </a:p>
            <a:p>
              <a:pPr algn="ctr">
                <a:lnSpc>
                  <a:spcPct val="90000"/>
                </a:lnSpc>
              </a:pPr>
              <a:r>
                <a:rPr lang="en-US" altLang="en-US" sz="2000" b="1">
                  <a:latin typeface="Tahoma" panose="020B0604030504040204" pitchFamily="34" charset="0"/>
                </a:rPr>
                <a:t>Server</a:t>
              </a:r>
            </a:p>
          </p:txBody>
        </p:sp>
      </p:grpSp>
      <p:sp>
        <p:nvSpPr>
          <p:cNvPr id="535587" name="AutoShape 35">
            <a:extLst>
              <a:ext uri="{FF2B5EF4-FFF2-40B4-BE49-F238E27FC236}">
                <a16:creationId xmlns:a16="http://schemas.microsoft.com/office/drawing/2014/main" id="{4C617AF0-4E32-49A2-9519-5FB68FCFCF4E}"/>
              </a:ext>
            </a:extLst>
          </p:cNvPr>
          <p:cNvSpPr>
            <a:spLocks noChangeArrowheads="1"/>
          </p:cNvSpPr>
          <p:nvPr/>
        </p:nvSpPr>
        <p:spPr bwMode="auto">
          <a:xfrm rot="19440853" flipV="1">
            <a:off x="4776789" y="3673475"/>
            <a:ext cx="1576387" cy="533400"/>
          </a:xfrm>
          <a:prstGeom prst="rightArrow">
            <a:avLst>
              <a:gd name="adj1" fmla="val 54759"/>
              <a:gd name="adj2" fmla="val 65989"/>
            </a:avLst>
          </a:prstGeom>
          <a:solidFill>
            <a:srgbClr val="FFFF00"/>
          </a:solidFill>
          <a:ln w="12700">
            <a:solidFill>
              <a:schemeClr val="tx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nvGrpSpPr>
          <p:cNvPr id="31766" name="Group 36">
            <a:extLst>
              <a:ext uri="{FF2B5EF4-FFF2-40B4-BE49-F238E27FC236}">
                <a16:creationId xmlns:a16="http://schemas.microsoft.com/office/drawing/2014/main" id="{DD2D7BBB-204E-4537-8ECA-B75ABEE624FB}"/>
              </a:ext>
            </a:extLst>
          </p:cNvPr>
          <p:cNvGrpSpPr>
            <a:grpSpLocks/>
          </p:cNvGrpSpPr>
          <p:nvPr/>
        </p:nvGrpSpPr>
        <p:grpSpPr bwMode="auto">
          <a:xfrm>
            <a:off x="3213100" y="1698625"/>
            <a:ext cx="3200400" cy="1631950"/>
            <a:chOff x="192" y="2677"/>
            <a:chExt cx="2016" cy="1028"/>
          </a:xfrm>
        </p:grpSpPr>
        <p:sp>
          <p:nvSpPr>
            <p:cNvPr id="535589" name="Rectangle 37">
              <a:extLst>
                <a:ext uri="{FF2B5EF4-FFF2-40B4-BE49-F238E27FC236}">
                  <a16:creationId xmlns:a16="http://schemas.microsoft.com/office/drawing/2014/main" id="{F2B15BF1-FD3B-400E-9FE6-CF6394DDB2E3}"/>
                </a:ext>
              </a:extLst>
            </p:cNvPr>
            <p:cNvSpPr>
              <a:spLocks noChangeArrowheads="1"/>
            </p:cNvSpPr>
            <p:nvPr/>
          </p:nvSpPr>
          <p:spPr bwMode="auto">
            <a:xfrm>
              <a:off x="192" y="2677"/>
              <a:ext cx="2016" cy="1028"/>
            </a:xfrm>
            <a:prstGeom prst="rect">
              <a:avLst/>
            </a:prstGeom>
            <a:noFill/>
            <a:ln w="9525">
              <a:noFill/>
              <a:miter lim="800000"/>
              <a:headEnd/>
              <a:tailEnd/>
            </a:ln>
            <a:effectLst/>
          </p:spPr>
          <p:txBody>
            <a:bodyPr lIns="92075" tIns="46038" rIns="92075" bIns="46038">
              <a:spAutoFit/>
            </a:bodyPr>
            <a:lstStyle/>
            <a:p>
              <a:pPr eaLnBrk="0" hangingPunct="0">
                <a:defRPr/>
              </a:pPr>
              <a:r>
                <a:rPr lang="en-US" sz="2000" b="1">
                  <a:latin typeface="Tahoma" pitchFamily="34" charset="0"/>
                </a:rPr>
                <a:t>       </a:t>
              </a:r>
              <a:r>
                <a:rPr lang="en-US" sz="2000">
                  <a:latin typeface="Tahoma" pitchFamily="34" charset="0"/>
                </a:rPr>
                <a:t>Master Server</a:t>
              </a:r>
              <a:br>
                <a:rPr lang="en-US" sz="2000">
                  <a:latin typeface="Tahoma" pitchFamily="34" charset="0"/>
                </a:rPr>
              </a:br>
              <a:r>
                <a:rPr lang="en-US" sz="2000">
                  <a:latin typeface="Tahoma" pitchFamily="34" charset="0"/>
                </a:rPr>
                <a:t>       sends signal to zombies to launch </a:t>
              </a:r>
            </a:p>
            <a:p>
              <a:pPr eaLnBrk="0" hangingPunct="0">
                <a:defRPr/>
              </a:pPr>
              <a:r>
                <a:rPr lang="en-US" sz="2000">
                  <a:latin typeface="Tahoma" pitchFamily="34" charset="0"/>
                </a:rPr>
                <a:t>attack on targeted </a:t>
              </a:r>
            </a:p>
            <a:p>
              <a:pPr eaLnBrk="0" hangingPunct="0">
                <a:defRPr/>
              </a:pPr>
              <a:r>
                <a:rPr lang="en-US" sz="2000">
                  <a:latin typeface="Tahoma" pitchFamily="34" charset="0"/>
                </a:rPr>
                <a:t>system</a:t>
              </a:r>
              <a:endParaRPr lang="en-US" sz="2000">
                <a:effectLst>
                  <a:outerShdw blurRad="38100" dist="38100" dir="2700000" algn="tl">
                    <a:srgbClr val="C0C0C0"/>
                  </a:outerShdw>
                </a:effectLst>
                <a:latin typeface="Tahoma" pitchFamily="34" charset="0"/>
              </a:endParaRPr>
            </a:p>
          </p:txBody>
        </p:sp>
        <p:sp>
          <p:nvSpPr>
            <p:cNvPr id="31771" name="Oval 38">
              <a:extLst>
                <a:ext uri="{FF2B5EF4-FFF2-40B4-BE49-F238E27FC236}">
                  <a16:creationId xmlns:a16="http://schemas.microsoft.com/office/drawing/2014/main" id="{07C60D48-B547-4893-B332-0097DAD07D68}"/>
                </a:ext>
              </a:extLst>
            </p:cNvPr>
            <p:cNvSpPr>
              <a:spLocks noChangeArrowheads="1"/>
            </p:cNvSpPr>
            <p:nvPr/>
          </p:nvSpPr>
          <p:spPr bwMode="auto">
            <a:xfrm>
              <a:off x="240" y="2725"/>
              <a:ext cx="288" cy="288"/>
            </a:xfrm>
            <a:prstGeom prst="ellipse">
              <a:avLst/>
            </a:prstGeom>
            <a:solidFill>
              <a:srgbClr val="FFFF00"/>
            </a:solidFill>
            <a:ln w="38100">
              <a:solidFill>
                <a:schemeClr val="bg1"/>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rgbClr val="000000"/>
                  </a:solidFill>
                  <a:latin typeface="Arial" panose="020B0604020202020204" pitchFamily="34" charset="0"/>
                </a:rPr>
                <a:t>5</a:t>
              </a:r>
            </a:p>
          </p:txBody>
        </p:sp>
      </p:grpSp>
      <p:grpSp>
        <p:nvGrpSpPr>
          <p:cNvPr id="31767" name="Group 39">
            <a:extLst>
              <a:ext uri="{FF2B5EF4-FFF2-40B4-BE49-F238E27FC236}">
                <a16:creationId xmlns:a16="http://schemas.microsoft.com/office/drawing/2014/main" id="{35C67E08-995B-4EE2-95A3-E8B25C004D26}"/>
              </a:ext>
            </a:extLst>
          </p:cNvPr>
          <p:cNvGrpSpPr>
            <a:grpSpLocks/>
          </p:cNvGrpSpPr>
          <p:nvPr/>
        </p:nvGrpSpPr>
        <p:grpSpPr bwMode="auto">
          <a:xfrm>
            <a:off x="7539039" y="5721353"/>
            <a:ext cx="2173287" cy="1000126"/>
            <a:chOff x="3648" y="3504"/>
            <a:chExt cx="1369" cy="630"/>
          </a:xfrm>
        </p:grpSpPr>
        <p:sp>
          <p:nvSpPr>
            <p:cNvPr id="31768" name="Rectangle 40">
              <a:extLst>
                <a:ext uri="{FF2B5EF4-FFF2-40B4-BE49-F238E27FC236}">
                  <a16:creationId xmlns:a16="http://schemas.microsoft.com/office/drawing/2014/main" id="{38921C1D-25B9-4E1C-95D1-CA7D1B165996}"/>
                </a:ext>
              </a:extLst>
            </p:cNvPr>
            <p:cNvSpPr>
              <a:spLocks noChangeArrowheads="1"/>
            </p:cNvSpPr>
            <p:nvPr/>
          </p:nvSpPr>
          <p:spPr bwMode="auto">
            <a:xfrm>
              <a:off x="4172" y="3552"/>
              <a:ext cx="845"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Targeted</a:t>
              </a:r>
            </a:p>
            <a:p>
              <a:pPr algn="ctr">
                <a:lnSpc>
                  <a:spcPct val="90000"/>
                </a:lnSpc>
              </a:pPr>
              <a:r>
                <a:rPr lang="en-US" altLang="en-US" sz="2000" b="1">
                  <a:latin typeface="Tahoma" panose="020B0604030504040204" pitchFamily="34" charset="0"/>
                </a:rPr>
                <a:t> System</a:t>
              </a:r>
            </a:p>
            <a:p>
              <a:pPr algn="ctr">
                <a:lnSpc>
                  <a:spcPct val="90000"/>
                </a:lnSpc>
              </a:pPr>
              <a:r>
                <a:rPr lang="en-US" altLang="en-US" sz="2000" b="1">
                  <a:latin typeface="Tahoma" panose="020B0604030504040204" pitchFamily="34" charset="0"/>
                </a:rPr>
                <a:t>System</a:t>
              </a:r>
            </a:p>
          </p:txBody>
        </p:sp>
        <p:pic>
          <p:nvPicPr>
            <p:cNvPr id="31769" name="Picture 41" descr="pc-ppt2">
              <a:extLst>
                <a:ext uri="{FF2B5EF4-FFF2-40B4-BE49-F238E27FC236}">
                  <a16:creationId xmlns:a16="http://schemas.microsoft.com/office/drawing/2014/main" id="{09736817-2BE9-4738-B8B1-8E49D9DF94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 y="3504"/>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535587"/>
                                        </p:tgtEl>
                                        <p:attrNameLst>
                                          <p:attrName>style.visibility</p:attrName>
                                        </p:attrNameLst>
                                      </p:cBhvr>
                                      <p:to>
                                        <p:strVal val="visible"/>
                                      </p:to>
                                    </p:set>
                                    <p:animEffect transition="in" filter="wipe(right)">
                                      <p:cBhvr>
                                        <p:cTn id="7" dur="500"/>
                                        <p:tgtEl>
                                          <p:spTgt spid="535587"/>
                                        </p:tgtEl>
                                      </p:cBhvr>
                                    </p:animEffect>
                                  </p:childTnLst>
                                </p:cTn>
                              </p:par>
                            </p:childTnLst>
                          </p:cTn>
                        </p:par>
                        <p:par>
                          <p:cTn id="8" fill="hold" nodeType="afterGroup">
                            <p:stCondLst>
                              <p:cond delay="500"/>
                            </p:stCondLst>
                            <p:childTnLst>
                              <p:par>
                                <p:cTn id="9" presetID="22" presetClass="entr" presetSubtype="1" fill="hold" nodeType="afterEffect">
                                  <p:stCondLst>
                                    <p:cond delay="1000"/>
                                  </p:stCondLst>
                                  <p:childTnLst>
                                    <p:set>
                                      <p:cBhvr>
                                        <p:cTn id="10" dur="1" fill="hold">
                                          <p:stCondLst>
                                            <p:cond delay="0"/>
                                          </p:stCondLst>
                                        </p:cTn>
                                        <p:tgtEl>
                                          <p:spTgt spid="535557"/>
                                        </p:tgtEl>
                                        <p:attrNameLst>
                                          <p:attrName>style.visibility</p:attrName>
                                        </p:attrNameLst>
                                      </p:cBhvr>
                                      <p:to>
                                        <p:strVal val="visible"/>
                                      </p:to>
                                    </p:set>
                                    <p:animEffect transition="in" filter="wipe(up)">
                                      <p:cBhvr>
                                        <p:cTn id="11" dur="500"/>
                                        <p:tgtEl>
                                          <p:spTgt spid="535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87"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Date Placeholder 2">
            <a:extLst>
              <a:ext uri="{FF2B5EF4-FFF2-40B4-BE49-F238E27FC236}">
                <a16:creationId xmlns:a16="http://schemas.microsoft.com/office/drawing/2014/main" id="{07B35AAF-432B-4164-8189-EC5453FD1DA0}"/>
              </a:ext>
            </a:extLst>
          </p:cNvPr>
          <p:cNvSpPr>
            <a:spLocks noGrp="1"/>
          </p:cNvSpPr>
          <p:nvPr>
            <p:ph type="dt"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5FFD5A19-2673-41C5-8531-5DAA33473B58}" type="datetimeFigureOut">
              <a:rPr lang="en-US" smtClean="0"/>
              <a:pPr>
                <a:defRPr/>
              </a:pPr>
              <a:t>10/31/2024</a:t>
            </a:fld>
            <a:endParaRPr lang="en-US">
              <a:solidFill>
                <a:schemeClr val="tx1"/>
              </a:solidFill>
            </a:endParaRPr>
          </a:p>
        </p:txBody>
      </p:sp>
      <p:sp>
        <p:nvSpPr>
          <p:cNvPr id="48" name="Footer Placeholder 3">
            <a:extLst>
              <a:ext uri="{FF2B5EF4-FFF2-40B4-BE49-F238E27FC236}">
                <a16:creationId xmlns:a16="http://schemas.microsoft.com/office/drawing/2014/main" id="{1263B959-E313-4E03-8751-68B671D14B25}"/>
              </a:ext>
            </a:extLst>
          </p:cNvP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US">
              <a:solidFill>
                <a:schemeClr val="tx1"/>
              </a:solidFill>
            </a:endParaRPr>
          </a:p>
        </p:txBody>
      </p:sp>
      <p:sp>
        <p:nvSpPr>
          <p:cNvPr id="49" name="Slide Number Placeholder 4">
            <a:extLst>
              <a:ext uri="{FF2B5EF4-FFF2-40B4-BE49-F238E27FC236}">
                <a16:creationId xmlns:a16="http://schemas.microsoft.com/office/drawing/2014/main" id="{B0DA784E-CA7F-44AE-8864-8B85FBD5FFA2}"/>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fld id="{938EA2D2-C3DC-44BB-8211-90B716D51699}" type="slidenum">
              <a:rPr lang="en-US" smtClean="0"/>
              <a:pPr eaLnBrk="1" hangingPunct="1"/>
              <a:t>63</a:t>
            </a:fld>
            <a:endParaRPr lang="en-US" altLang="en-US" sz="1400">
              <a:latin typeface="Arial" panose="020B0604020202020204" pitchFamily="34" charset="0"/>
            </a:endParaRPr>
          </a:p>
        </p:txBody>
      </p:sp>
      <p:grpSp>
        <p:nvGrpSpPr>
          <p:cNvPr id="32773" name="Group 2">
            <a:extLst>
              <a:ext uri="{FF2B5EF4-FFF2-40B4-BE49-F238E27FC236}">
                <a16:creationId xmlns:a16="http://schemas.microsoft.com/office/drawing/2014/main" id="{BFE7EFB1-BC39-44E4-9069-B892BE972E29}"/>
              </a:ext>
            </a:extLst>
          </p:cNvPr>
          <p:cNvGrpSpPr>
            <a:grpSpLocks/>
          </p:cNvGrpSpPr>
          <p:nvPr/>
        </p:nvGrpSpPr>
        <p:grpSpPr bwMode="auto">
          <a:xfrm>
            <a:off x="6654800" y="4699000"/>
            <a:ext cx="2857500" cy="1074738"/>
            <a:chOff x="2904" y="2635"/>
            <a:chExt cx="1800" cy="677"/>
          </a:xfrm>
        </p:grpSpPr>
        <p:pic>
          <p:nvPicPr>
            <p:cNvPr id="32816" name="Picture 3" descr="cloud">
              <a:extLst>
                <a:ext uri="{FF2B5EF4-FFF2-40B4-BE49-F238E27FC236}">
                  <a16:creationId xmlns:a16="http://schemas.microsoft.com/office/drawing/2014/main" id="{676F3D44-2F58-4B0A-9AF2-62EC902635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4" y="2635"/>
              <a:ext cx="1800" cy="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17" name="Rectangle 4">
              <a:extLst>
                <a:ext uri="{FF2B5EF4-FFF2-40B4-BE49-F238E27FC236}">
                  <a16:creationId xmlns:a16="http://schemas.microsoft.com/office/drawing/2014/main" id="{A0A7B3D4-5A39-46B2-A07A-21299226E2D7}"/>
                </a:ext>
              </a:extLst>
            </p:cNvPr>
            <p:cNvSpPr>
              <a:spLocks noChangeAspect="1" noChangeArrowheads="1"/>
            </p:cNvSpPr>
            <p:nvPr/>
          </p:nvSpPr>
          <p:spPr bwMode="auto">
            <a:xfrm>
              <a:off x="3301" y="2730"/>
              <a:ext cx="935"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chemeClr val="bg2"/>
                  </a:solidFill>
                  <a:latin typeface="Tahoma" panose="020B0604030504040204" pitchFamily="34" charset="0"/>
                </a:rPr>
                <a:t>Internet</a:t>
              </a:r>
            </a:p>
          </p:txBody>
        </p:sp>
      </p:grpSp>
      <p:sp>
        <p:nvSpPr>
          <p:cNvPr id="32774" name="Freeform 5">
            <a:extLst>
              <a:ext uri="{FF2B5EF4-FFF2-40B4-BE49-F238E27FC236}">
                <a16:creationId xmlns:a16="http://schemas.microsoft.com/office/drawing/2014/main" id="{46124B6F-7634-4C18-B788-CDE06461D959}"/>
              </a:ext>
            </a:extLst>
          </p:cNvPr>
          <p:cNvSpPr>
            <a:spLocks/>
          </p:cNvSpPr>
          <p:nvPr/>
        </p:nvSpPr>
        <p:spPr bwMode="auto">
          <a:xfrm>
            <a:off x="5410200" y="2455863"/>
            <a:ext cx="5257800" cy="3276600"/>
          </a:xfrm>
          <a:custGeom>
            <a:avLst/>
            <a:gdLst>
              <a:gd name="T0" fmla="*/ 0 w 3312"/>
              <a:gd name="T1" fmla="*/ 2147483647 h 2064"/>
              <a:gd name="T2" fmla="*/ 0 w 3312"/>
              <a:gd name="T3" fmla="*/ 0 h 2064"/>
              <a:gd name="T4" fmla="*/ 2147483647 w 3312"/>
              <a:gd name="T5" fmla="*/ 0 h 2064"/>
              <a:gd name="T6" fmla="*/ 2147483647 w 3312"/>
              <a:gd name="T7" fmla="*/ 2147483647 h 2064"/>
              <a:gd name="T8" fmla="*/ 2147483647 w 3312"/>
              <a:gd name="T9" fmla="*/ 2147483647 h 2064"/>
              <a:gd name="T10" fmla="*/ 2147483647 w 3312"/>
              <a:gd name="T11" fmla="*/ 2147483647 h 2064"/>
              <a:gd name="T12" fmla="*/ 2147483647 w 3312"/>
              <a:gd name="T13" fmla="*/ 2147483647 h 2064"/>
              <a:gd name="T14" fmla="*/ 2147483647 w 3312"/>
              <a:gd name="T15" fmla="*/ 2147483647 h 2064"/>
              <a:gd name="T16" fmla="*/ 2147483647 w 3312"/>
              <a:gd name="T17" fmla="*/ 2147483647 h 2064"/>
              <a:gd name="T18" fmla="*/ 2147483647 w 3312"/>
              <a:gd name="T19" fmla="*/ 2147483647 h 2064"/>
              <a:gd name="T20" fmla="*/ 2147483647 w 3312"/>
              <a:gd name="T21" fmla="*/ 2147483647 h 2064"/>
              <a:gd name="T22" fmla="*/ 0 w 3312"/>
              <a:gd name="T23" fmla="*/ 2147483647 h 206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12"/>
              <a:gd name="T37" fmla="*/ 0 h 2064"/>
              <a:gd name="T38" fmla="*/ 3312 w 3312"/>
              <a:gd name="T39" fmla="*/ 2064 h 206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12" h="2064">
                <a:moveTo>
                  <a:pt x="0" y="1296"/>
                </a:moveTo>
                <a:lnTo>
                  <a:pt x="0" y="0"/>
                </a:lnTo>
                <a:lnTo>
                  <a:pt x="3312" y="0"/>
                </a:lnTo>
                <a:lnTo>
                  <a:pt x="3312" y="1296"/>
                </a:lnTo>
                <a:lnTo>
                  <a:pt x="1968" y="1296"/>
                </a:lnTo>
                <a:lnTo>
                  <a:pt x="1824" y="1536"/>
                </a:lnTo>
                <a:lnTo>
                  <a:pt x="2016" y="1536"/>
                </a:lnTo>
                <a:lnTo>
                  <a:pt x="1632" y="2064"/>
                </a:lnTo>
                <a:lnTo>
                  <a:pt x="1248" y="1536"/>
                </a:lnTo>
                <a:lnTo>
                  <a:pt x="1440" y="1536"/>
                </a:lnTo>
                <a:lnTo>
                  <a:pt x="1296" y="1296"/>
                </a:lnTo>
                <a:lnTo>
                  <a:pt x="0" y="1296"/>
                </a:lnTo>
                <a:close/>
              </a:path>
            </a:pathLst>
          </a:custGeom>
          <a:solidFill>
            <a:srgbClr val="FFFF00"/>
          </a:solidFill>
          <a:ln w="12700">
            <a:solidFill>
              <a:srgbClr val="000000"/>
            </a:solidFill>
            <a:round/>
            <a:headEnd type="none" w="sm" len="sm"/>
            <a:tailEnd type="none" w="sm" len="sm"/>
          </a:ln>
        </p:spPr>
        <p:txBody>
          <a:bodyPr/>
          <a:lstStyle/>
          <a:p>
            <a:endParaRPr lang="en-US"/>
          </a:p>
        </p:txBody>
      </p:sp>
      <p:sp>
        <p:nvSpPr>
          <p:cNvPr id="32775" name="Rectangle 6">
            <a:extLst>
              <a:ext uri="{FF2B5EF4-FFF2-40B4-BE49-F238E27FC236}">
                <a16:creationId xmlns:a16="http://schemas.microsoft.com/office/drawing/2014/main" id="{0F7E77B1-FFCB-4249-BDB2-8D81316601F9}"/>
              </a:ext>
            </a:extLst>
          </p:cNvPr>
          <p:cNvSpPr>
            <a:spLocks noGrp="1" noChangeArrowheads="1"/>
          </p:cNvSpPr>
          <p:nvPr>
            <p:ph type="title"/>
          </p:nvPr>
        </p:nvSpPr>
        <p:spPr/>
        <p:txBody>
          <a:bodyPr/>
          <a:lstStyle/>
          <a:p>
            <a:pPr eaLnBrk="1" hangingPunct="1"/>
            <a:r>
              <a:rPr lang="en-US" altLang="en-US"/>
              <a:t>Detailed Steps (6)</a:t>
            </a:r>
          </a:p>
        </p:txBody>
      </p:sp>
      <p:pic>
        <p:nvPicPr>
          <p:cNvPr id="32776" name="Picture 7" descr="pc-ppt2">
            <a:extLst>
              <a:ext uri="{FF2B5EF4-FFF2-40B4-BE49-F238E27FC236}">
                <a16:creationId xmlns:a16="http://schemas.microsoft.com/office/drawing/2014/main" id="{24F35BFB-743B-49D1-BE6B-CBE7091CD3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18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7" name="Picture 8" descr="pc-ppt2">
            <a:extLst>
              <a:ext uri="{FF2B5EF4-FFF2-40B4-BE49-F238E27FC236}">
                <a16:creationId xmlns:a16="http://schemas.microsoft.com/office/drawing/2014/main" id="{A51961BC-FB46-42FB-9960-F4DD62FD3C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504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8" name="Picture 9" descr="pc-ppt2">
            <a:extLst>
              <a:ext uri="{FF2B5EF4-FFF2-40B4-BE49-F238E27FC236}">
                <a16:creationId xmlns:a16="http://schemas.microsoft.com/office/drawing/2014/main" id="{AE9FA832-CA3B-41E1-BFA2-22A0D75185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145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9" name="Picture 10" descr="pc-ppt2">
            <a:extLst>
              <a:ext uri="{FF2B5EF4-FFF2-40B4-BE49-F238E27FC236}">
                <a16:creationId xmlns:a16="http://schemas.microsoft.com/office/drawing/2014/main" id="{76F63F7C-A608-4D36-BD0D-25140BC8F0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3110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0" name="Picture 11" descr="pc-ppt2">
            <a:extLst>
              <a:ext uri="{FF2B5EF4-FFF2-40B4-BE49-F238E27FC236}">
                <a16:creationId xmlns:a16="http://schemas.microsoft.com/office/drawing/2014/main" id="{EA9A2A9E-75A7-4450-92E7-DF8F99A389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40750" y="360045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1" name="Picture 12" descr="pc-ppt2">
            <a:extLst>
              <a:ext uri="{FF2B5EF4-FFF2-40B4-BE49-F238E27FC236}">
                <a16:creationId xmlns:a16="http://schemas.microsoft.com/office/drawing/2014/main" id="{BE2C7829-5B70-4B08-893E-13A896AC55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452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2" name="Picture 13" descr="pc-ppt2">
            <a:extLst>
              <a:ext uri="{FF2B5EF4-FFF2-40B4-BE49-F238E27FC236}">
                <a16:creationId xmlns:a16="http://schemas.microsoft.com/office/drawing/2014/main" id="{1D760765-B126-4C75-A10F-46456F3D58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170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3" name="Picture 14" descr="pc-ppt2">
            <a:extLst>
              <a:ext uri="{FF2B5EF4-FFF2-40B4-BE49-F238E27FC236}">
                <a16:creationId xmlns:a16="http://schemas.microsoft.com/office/drawing/2014/main" id="{3F55D011-C448-43A9-BBF0-64531EE720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64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84" name="Picture 15" descr="pc-ppt2">
            <a:extLst>
              <a:ext uri="{FF2B5EF4-FFF2-40B4-BE49-F238E27FC236}">
                <a16:creationId xmlns:a16="http://schemas.microsoft.com/office/drawing/2014/main" id="{4C3A93D9-FA31-43B8-B170-E9FD87CCA1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5800" y="2595563"/>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2785" name="Group 16">
            <a:extLst>
              <a:ext uri="{FF2B5EF4-FFF2-40B4-BE49-F238E27FC236}">
                <a16:creationId xmlns:a16="http://schemas.microsoft.com/office/drawing/2014/main" id="{D820A941-0EC7-4813-BBC4-5EB1F53830F0}"/>
              </a:ext>
            </a:extLst>
          </p:cNvPr>
          <p:cNvGrpSpPr>
            <a:grpSpLocks/>
          </p:cNvGrpSpPr>
          <p:nvPr/>
        </p:nvGrpSpPr>
        <p:grpSpPr bwMode="auto">
          <a:xfrm>
            <a:off x="1920876" y="2533650"/>
            <a:ext cx="1266825" cy="2249488"/>
            <a:chOff x="85" y="731"/>
            <a:chExt cx="798" cy="1417"/>
          </a:xfrm>
        </p:grpSpPr>
        <p:pic>
          <p:nvPicPr>
            <p:cNvPr id="32813" name="Picture 17" descr="pc-ppt2">
              <a:extLst>
                <a:ext uri="{FF2B5EF4-FFF2-40B4-BE49-F238E27FC236}">
                  <a16:creationId xmlns:a16="http://schemas.microsoft.com/office/drawing/2014/main" id="{A63E82A7-BA07-40DB-8E0C-314EAF1B24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 y="1564"/>
              <a:ext cx="584" cy="5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14" name="Picture 18" descr="hacker-ppt">
              <a:extLst>
                <a:ext uri="{FF2B5EF4-FFF2-40B4-BE49-F238E27FC236}">
                  <a16:creationId xmlns:a16="http://schemas.microsoft.com/office/drawing/2014/main" id="{68E95374-6D10-44D2-8D6B-A3153633D2D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 y="976"/>
              <a:ext cx="571" cy="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15" name="Rectangle 19">
              <a:extLst>
                <a:ext uri="{FF2B5EF4-FFF2-40B4-BE49-F238E27FC236}">
                  <a16:creationId xmlns:a16="http://schemas.microsoft.com/office/drawing/2014/main" id="{7E13F384-C8D1-45AE-913E-112849AA0419}"/>
                </a:ext>
              </a:extLst>
            </p:cNvPr>
            <p:cNvSpPr>
              <a:spLocks noChangeArrowheads="1"/>
            </p:cNvSpPr>
            <p:nvPr/>
          </p:nvSpPr>
          <p:spPr bwMode="auto">
            <a:xfrm>
              <a:off x="85" y="731"/>
              <a:ext cx="7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Attacker</a:t>
              </a:r>
            </a:p>
          </p:txBody>
        </p:sp>
      </p:grpSp>
      <p:grpSp>
        <p:nvGrpSpPr>
          <p:cNvPr id="32786" name="Group 20">
            <a:extLst>
              <a:ext uri="{FF2B5EF4-FFF2-40B4-BE49-F238E27FC236}">
                <a16:creationId xmlns:a16="http://schemas.microsoft.com/office/drawing/2014/main" id="{059EB835-3E9B-4086-87D7-AB489FE5CFB5}"/>
              </a:ext>
            </a:extLst>
          </p:cNvPr>
          <p:cNvGrpSpPr>
            <a:grpSpLocks/>
          </p:cNvGrpSpPr>
          <p:nvPr/>
        </p:nvGrpSpPr>
        <p:grpSpPr bwMode="auto">
          <a:xfrm>
            <a:off x="5816601" y="2622551"/>
            <a:ext cx="4403725" cy="1370013"/>
            <a:chOff x="2522" y="1380"/>
            <a:chExt cx="2774" cy="863"/>
          </a:xfrm>
        </p:grpSpPr>
        <p:pic>
          <p:nvPicPr>
            <p:cNvPr id="32804" name="Picture 21" descr="hacker-ppt">
              <a:extLst>
                <a:ext uri="{FF2B5EF4-FFF2-40B4-BE49-F238E27FC236}">
                  <a16:creationId xmlns:a16="http://schemas.microsoft.com/office/drawing/2014/main" id="{B83454D1-B9FF-411E-92D2-CD125B0207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2"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5" name="Picture 22" descr="hacker-ppt">
              <a:extLst>
                <a:ext uri="{FF2B5EF4-FFF2-40B4-BE49-F238E27FC236}">
                  <a16:creationId xmlns:a16="http://schemas.microsoft.com/office/drawing/2014/main" id="{89B98491-A4F1-4ED7-9CDA-094E2F1A24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66"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6" name="Picture 23" descr="hacker-ppt">
              <a:extLst>
                <a:ext uri="{FF2B5EF4-FFF2-40B4-BE49-F238E27FC236}">
                  <a16:creationId xmlns:a16="http://schemas.microsoft.com/office/drawing/2014/main" id="{4AA4E8ED-E7BB-4186-AF42-6980AE61D5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8"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7" name="Picture 24" descr="hacker-ppt">
              <a:extLst>
                <a:ext uri="{FF2B5EF4-FFF2-40B4-BE49-F238E27FC236}">
                  <a16:creationId xmlns:a16="http://schemas.microsoft.com/office/drawing/2014/main" id="{CD324D87-58BB-412E-9279-F5E34AAD6F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94"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8" name="Picture 25" descr="hacker-ppt">
              <a:extLst>
                <a:ext uri="{FF2B5EF4-FFF2-40B4-BE49-F238E27FC236}">
                  <a16:creationId xmlns:a16="http://schemas.microsoft.com/office/drawing/2014/main" id="{61641CE7-7381-4A4E-954E-D18D82D0AC8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30" y="2013"/>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9" name="Picture 26" descr="hacker-ppt">
              <a:extLst>
                <a:ext uri="{FF2B5EF4-FFF2-40B4-BE49-F238E27FC236}">
                  <a16:creationId xmlns:a16="http://schemas.microsoft.com/office/drawing/2014/main" id="{A48BB7D4-65AE-4B5D-842D-BC1AD9BC34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8"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10" name="Picture 27" descr="hacker-ppt">
              <a:extLst>
                <a:ext uri="{FF2B5EF4-FFF2-40B4-BE49-F238E27FC236}">
                  <a16:creationId xmlns:a16="http://schemas.microsoft.com/office/drawing/2014/main" id="{8AEE00E3-ACCF-43DD-968E-BE7A08A75D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11" name="Picture 28" descr="hacker-ppt">
              <a:extLst>
                <a:ext uri="{FF2B5EF4-FFF2-40B4-BE49-F238E27FC236}">
                  <a16:creationId xmlns:a16="http://schemas.microsoft.com/office/drawing/2014/main" id="{3F932B33-8444-4298-8C30-362D924880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06"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12" name="Picture 29" descr="hacker-ppt">
              <a:extLst>
                <a:ext uri="{FF2B5EF4-FFF2-40B4-BE49-F238E27FC236}">
                  <a16:creationId xmlns:a16="http://schemas.microsoft.com/office/drawing/2014/main" id="{B7A6DEFE-5E6F-4C08-998F-48906676B0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82" y="1380"/>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36606" name="Rectangle 30">
            <a:extLst>
              <a:ext uri="{FF2B5EF4-FFF2-40B4-BE49-F238E27FC236}">
                <a16:creationId xmlns:a16="http://schemas.microsoft.com/office/drawing/2014/main" id="{211E884A-0563-4FA0-9BCE-07D3DFCAAF52}"/>
              </a:ext>
            </a:extLst>
          </p:cNvPr>
          <p:cNvSpPr>
            <a:spLocks noChangeArrowheads="1"/>
          </p:cNvSpPr>
          <p:nvPr/>
        </p:nvSpPr>
        <p:spPr bwMode="auto">
          <a:xfrm>
            <a:off x="7400926" y="2197101"/>
            <a:ext cx="1260475" cy="366713"/>
          </a:xfrm>
          <a:prstGeom prst="rect">
            <a:avLst/>
          </a:prstGeom>
          <a:noFill/>
          <a:ln w="9525">
            <a:noFill/>
            <a:miter lim="800000"/>
            <a:headEnd/>
            <a:tailEnd/>
          </a:ln>
          <a:effectLst/>
        </p:spPr>
        <p:txBody>
          <a:bodyPr wrap="none" lIns="92075" tIns="46038" rIns="92075" bIns="46038">
            <a:spAutoFit/>
          </a:bodyPr>
          <a:lstStyle/>
          <a:p>
            <a:pPr algn="ctr" eaLnBrk="0" hangingPunct="0">
              <a:lnSpc>
                <a:spcPct val="90000"/>
              </a:lnSpc>
              <a:defRPr/>
            </a:pPr>
            <a:r>
              <a:rPr lang="en-US" sz="2000" b="1">
                <a:latin typeface="Tahoma" pitchFamily="34" charset="0"/>
              </a:rPr>
              <a:t>Zombies</a:t>
            </a:r>
            <a:endParaRPr lang="en-US" sz="2000" b="1">
              <a:effectLst>
                <a:outerShdw blurRad="38100" dist="38100" dir="2700000" algn="tl">
                  <a:srgbClr val="C0C0C0"/>
                </a:outerShdw>
              </a:effectLst>
              <a:latin typeface="Tahoma" pitchFamily="34" charset="0"/>
            </a:endParaRPr>
          </a:p>
        </p:txBody>
      </p:sp>
      <p:grpSp>
        <p:nvGrpSpPr>
          <p:cNvPr id="32788" name="Group 31">
            <a:extLst>
              <a:ext uri="{FF2B5EF4-FFF2-40B4-BE49-F238E27FC236}">
                <a16:creationId xmlns:a16="http://schemas.microsoft.com/office/drawing/2014/main" id="{20E8A287-62E3-47FD-BE88-4B844E23F918}"/>
              </a:ext>
            </a:extLst>
          </p:cNvPr>
          <p:cNvGrpSpPr>
            <a:grpSpLocks/>
          </p:cNvGrpSpPr>
          <p:nvPr/>
        </p:nvGrpSpPr>
        <p:grpSpPr bwMode="auto">
          <a:xfrm>
            <a:off x="3717926" y="3770313"/>
            <a:ext cx="1058863" cy="1511300"/>
            <a:chOff x="1200" y="1200"/>
            <a:chExt cx="667" cy="952"/>
          </a:xfrm>
        </p:grpSpPr>
        <p:pic>
          <p:nvPicPr>
            <p:cNvPr id="32801" name="Picture 32" descr="pc-ppt2">
              <a:extLst>
                <a:ext uri="{FF2B5EF4-FFF2-40B4-BE49-F238E27FC236}">
                  <a16:creationId xmlns:a16="http://schemas.microsoft.com/office/drawing/2014/main" id="{98C01E03-A04C-41E5-907D-65C73AED81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3" y="1604"/>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802" name="Picture 33" descr="hacker-ppt">
              <a:extLst>
                <a:ext uri="{FF2B5EF4-FFF2-40B4-BE49-F238E27FC236}">
                  <a16:creationId xmlns:a16="http://schemas.microsoft.com/office/drawing/2014/main" id="{FDA7A2A2-DB12-4C75-8449-70E6FA7E63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5" y="1677"/>
              <a:ext cx="230"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803" name="Rectangle 34">
              <a:extLst>
                <a:ext uri="{FF2B5EF4-FFF2-40B4-BE49-F238E27FC236}">
                  <a16:creationId xmlns:a16="http://schemas.microsoft.com/office/drawing/2014/main" id="{629FE0C8-44B4-4CDD-8283-187264613623}"/>
                </a:ext>
              </a:extLst>
            </p:cNvPr>
            <p:cNvSpPr>
              <a:spLocks noChangeArrowheads="1"/>
            </p:cNvSpPr>
            <p:nvPr/>
          </p:nvSpPr>
          <p:spPr bwMode="auto">
            <a:xfrm>
              <a:off x="1200" y="1200"/>
              <a:ext cx="66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Master</a:t>
              </a:r>
            </a:p>
            <a:p>
              <a:pPr algn="ctr">
                <a:lnSpc>
                  <a:spcPct val="90000"/>
                </a:lnSpc>
              </a:pPr>
              <a:r>
                <a:rPr lang="en-US" altLang="en-US" sz="2000" b="1">
                  <a:latin typeface="Tahoma" panose="020B0604030504040204" pitchFamily="34" charset="0"/>
                </a:rPr>
                <a:t>Server</a:t>
              </a:r>
            </a:p>
          </p:txBody>
        </p:sp>
      </p:grpSp>
      <p:grpSp>
        <p:nvGrpSpPr>
          <p:cNvPr id="32789" name="Group 35">
            <a:extLst>
              <a:ext uri="{FF2B5EF4-FFF2-40B4-BE49-F238E27FC236}">
                <a16:creationId xmlns:a16="http://schemas.microsoft.com/office/drawing/2014/main" id="{9A60C9BE-14B7-40E9-B2EB-D32F039BFCD2}"/>
              </a:ext>
            </a:extLst>
          </p:cNvPr>
          <p:cNvGrpSpPr>
            <a:grpSpLocks/>
          </p:cNvGrpSpPr>
          <p:nvPr/>
        </p:nvGrpSpPr>
        <p:grpSpPr bwMode="auto">
          <a:xfrm>
            <a:off x="3213100" y="1698625"/>
            <a:ext cx="3200400" cy="1631950"/>
            <a:chOff x="192" y="2677"/>
            <a:chExt cx="2016" cy="1028"/>
          </a:xfrm>
        </p:grpSpPr>
        <p:sp>
          <p:nvSpPr>
            <p:cNvPr id="536612" name="Rectangle 36">
              <a:extLst>
                <a:ext uri="{FF2B5EF4-FFF2-40B4-BE49-F238E27FC236}">
                  <a16:creationId xmlns:a16="http://schemas.microsoft.com/office/drawing/2014/main" id="{F79B9846-D5EE-4F0C-BB83-A6B7F63091F1}"/>
                </a:ext>
              </a:extLst>
            </p:cNvPr>
            <p:cNvSpPr>
              <a:spLocks noChangeArrowheads="1"/>
            </p:cNvSpPr>
            <p:nvPr/>
          </p:nvSpPr>
          <p:spPr bwMode="auto">
            <a:xfrm>
              <a:off x="192" y="2677"/>
              <a:ext cx="2016" cy="1028"/>
            </a:xfrm>
            <a:prstGeom prst="rect">
              <a:avLst/>
            </a:prstGeom>
            <a:noFill/>
            <a:ln w="9525">
              <a:noFill/>
              <a:miter lim="800000"/>
              <a:headEnd/>
              <a:tailEnd/>
            </a:ln>
            <a:effectLst/>
          </p:spPr>
          <p:txBody>
            <a:bodyPr lIns="92075" tIns="46038" rIns="92075" bIns="46038">
              <a:spAutoFit/>
            </a:bodyPr>
            <a:lstStyle/>
            <a:p>
              <a:pPr eaLnBrk="0" hangingPunct="0">
                <a:defRPr/>
              </a:pPr>
              <a:r>
                <a:rPr lang="en-US" sz="2000" b="1">
                  <a:latin typeface="Tahoma" pitchFamily="34" charset="0"/>
                </a:rPr>
                <a:t>       </a:t>
              </a:r>
              <a:r>
                <a:rPr lang="en-US" sz="2000">
                  <a:latin typeface="Tahoma" pitchFamily="34" charset="0"/>
                </a:rPr>
                <a:t>Targeted system is</a:t>
              </a:r>
              <a:br>
                <a:rPr lang="en-US" sz="2000">
                  <a:latin typeface="Tahoma" pitchFamily="34" charset="0"/>
                </a:rPr>
              </a:br>
              <a:r>
                <a:rPr lang="en-US" sz="2000">
                  <a:latin typeface="Tahoma" pitchFamily="34" charset="0"/>
                </a:rPr>
                <a:t>       overwhelmed by zombie requests, </a:t>
              </a:r>
            </a:p>
            <a:p>
              <a:pPr eaLnBrk="0" hangingPunct="0">
                <a:defRPr/>
              </a:pPr>
              <a:r>
                <a:rPr lang="en-US" sz="2000">
                  <a:latin typeface="Tahoma" pitchFamily="34" charset="0"/>
                </a:rPr>
                <a:t>denying  requests </a:t>
              </a:r>
            </a:p>
            <a:p>
              <a:pPr eaLnBrk="0" hangingPunct="0">
                <a:defRPr/>
              </a:pPr>
              <a:r>
                <a:rPr lang="en-US" sz="2000">
                  <a:latin typeface="Tahoma" pitchFamily="34" charset="0"/>
                </a:rPr>
                <a:t>from normal users</a:t>
              </a:r>
              <a:endParaRPr lang="en-US" sz="2000">
                <a:effectLst>
                  <a:outerShdw blurRad="38100" dist="38100" dir="2700000" algn="tl">
                    <a:srgbClr val="C0C0C0"/>
                  </a:outerShdw>
                </a:effectLst>
                <a:latin typeface="Tahoma" pitchFamily="34" charset="0"/>
              </a:endParaRPr>
            </a:p>
          </p:txBody>
        </p:sp>
        <p:sp>
          <p:nvSpPr>
            <p:cNvPr id="32800" name="Oval 37">
              <a:extLst>
                <a:ext uri="{FF2B5EF4-FFF2-40B4-BE49-F238E27FC236}">
                  <a16:creationId xmlns:a16="http://schemas.microsoft.com/office/drawing/2014/main" id="{4F1BD33F-5984-454A-BB43-3B200DAC4B4F}"/>
                </a:ext>
              </a:extLst>
            </p:cNvPr>
            <p:cNvSpPr>
              <a:spLocks noChangeArrowheads="1"/>
            </p:cNvSpPr>
            <p:nvPr/>
          </p:nvSpPr>
          <p:spPr bwMode="auto">
            <a:xfrm>
              <a:off x="240" y="2725"/>
              <a:ext cx="288" cy="288"/>
            </a:xfrm>
            <a:prstGeom prst="ellipse">
              <a:avLst/>
            </a:prstGeom>
            <a:solidFill>
              <a:srgbClr val="FFFF00"/>
            </a:solidFill>
            <a:ln w="38100">
              <a:solidFill>
                <a:schemeClr val="bg1"/>
              </a:solidFill>
              <a:round/>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r>
                <a:rPr lang="en-US" altLang="en-US" b="1">
                  <a:solidFill>
                    <a:srgbClr val="000000"/>
                  </a:solidFill>
                  <a:latin typeface="Arial" panose="020B0604020202020204" pitchFamily="34" charset="0"/>
                </a:rPr>
                <a:t>6</a:t>
              </a:r>
            </a:p>
          </p:txBody>
        </p:sp>
      </p:grpSp>
      <p:grpSp>
        <p:nvGrpSpPr>
          <p:cNvPr id="32790" name="Group 38">
            <a:extLst>
              <a:ext uri="{FF2B5EF4-FFF2-40B4-BE49-F238E27FC236}">
                <a16:creationId xmlns:a16="http://schemas.microsoft.com/office/drawing/2014/main" id="{48DB1528-2954-40F5-889B-57E0821DDF44}"/>
              </a:ext>
            </a:extLst>
          </p:cNvPr>
          <p:cNvGrpSpPr>
            <a:grpSpLocks/>
          </p:cNvGrpSpPr>
          <p:nvPr/>
        </p:nvGrpSpPr>
        <p:grpSpPr bwMode="auto">
          <a:xfrm>
            <a:off x="7539039" y="5721353"/>
            <a:ext cx="2173287" cy="1000126"/>
            <a:chOff x="3648" y="3504"/>
            <a:chExt cx="1369" cy="630"/>
          </a:xfrm>
        </p:grpSpPr>
        <p:sp>
          <p:nvSpPr>
            <p:cNvPr id="32797" name="Rectangle 39">
              <a:extLst>
                <a:ext uri="{FF2B5EF4-FFF2-40B4-BE49-F238E27FC236}">
                  <a16:creationId xmlns:a16="http://schemas.microsoft.com/office/drawing/2014/main" id="{EA8DA70B-B9C5-4490-9754-281FF557BF04}"/>
                </a:ext>
              </a:extLst>
            </p:cNvPr>
            <p:cNvSpPr>
              <a:spLocks noChangeArrowheads="1"/>
            </p:cNvSpPr>
            <p:nvPr/>
          </p:nvSpPr>
          <p:spPr bwMode="auto">
            <a:xfrm>
              <a:off x="4172" y="3552"/>
              <a:ext cx="845" cy="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Targeted</a:t>
              </a:r>
            </a:p>
            <a:p>
              <a:pPr algn="ctr">
                <a:lnSpc>
                  <a:spcPct val="90000"/>
                </a:lnSpc>
              </a:pPr>
              <a:r>
                <a:rPr lang="en-US" altLang="en-US" sz="2000" b="1">
                  <a:latin typeface="Tahoma" panose="020B0604030504040204" pitchFamily="34" charset="0"/>
                </a:rPr>
                <a:t> System</a:t>
              </a:r>
            </a:p>
            <a:p>
              <a:pPr algn="ctr">
                <a:lnSpc>
                  <a:spcPct val="90000"/>
                </a:lnSpc>
              </a:pPr>
              <a:r>
                <a:rPr lang="en-US" altLang="en-US" sz="2000" b="1">
                  <a:latin typeface="Tahoma" panose="020B0604030504040204" pitchFamily="34" charset="0"/>
                </a:rPr>
                <a:t>System</a:t>
              </a:r>
            </a:p>
          </p:txBody>
        </p:sp>
        <p:pic>
          <p:nvPicPr>
            <p:cNvPr id="32798" name="Picture 40" descr="pc-ppt2">
              <a:extLst>
                <a:ext uri="{FF2B5EF4-FFF2-40B4-BE49-F238E27FC236}">
                  <a16:creationId xmlns:a16="http://schemas.microsoft.com/office/drawing/2014/main" id="{0F294EC9-E1B0-466D-AEDE-B9711EF51C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8" y="3504"/>
              <a:ext cx="548" cy="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36617" name="AutoShape 41">
            <a:extLst>
              <a:ext uri="{FF2B5EF4-FFF2-40B4-BE49-F238E27FC236}">
                <a16:creationId xmlns:a16="http://schemas.microsoft.com/office/drawing/2014/main" id="{E7823B62-57EA-44A2-8684-32E93852DAB4}"/>
              </a:ext>
            </a:extLst>
          </p:cNvPr>
          <p:cNvSpPr>
            <a:spLocks noChangeArrowheads="1"/>
          </p:cNvSpPr>
          <p:nvPr/>
        </p:nvSpPr>
        <p:spPr bwMode="auto">
          <a:xfrm>
            <a:off x="3124200" y="5638800"/>
            <a:ext cx="4191000" cy="533400"/>
          </a:xfrm>
          <a:prstGeom prst="rightArrow">
            <a:avLst>
              <a:gd name="adj1" fmla="val 59528"/>
              <a:gd name="adj2" fmla="val 126660"/>
            </a:avLst>
          </a:prstGeom>
          <a:solidFill>
            <a:srgbClr val="FFFF00"/>
          </a:solidFill>
          <a:ln w="12700">
            <a:solidFill>
              <a:schemeClr val="tx1"/>
            </a:solidFill>
            <a:miter lim="800000"/>
            <a:headEnd type="none" w="sm" len="sm"/>
            <a:tailEnd type="none" w="sm" len="sm"/>
          </a:ln>
        </p:spPr>
        <p:txBody>
          <a:bodyPr wrap="none" anchor="ct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32792" name="Picture 42" descr="pc-ppt2">
            <a:extLst>
              <a:ext uri="{FF2B5EF4-FFF2-40B4-BE49-F238E27FC236}">
                <a16:creationId xmlns:a16="http://schemas.microsoft.com/office/drawing/2014/main" id="{C4CB8C62-54B2-4AE7-A7A8-9DA8F15296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5486400"/>
            <a:ext cx="869950" cy="86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93" name="Rectangle 43">
            <a:extLst>
              <a:ext uri="{FF2B5EF4-FFF2-40B4-BE49-F238E27FC236}">
                <a16:creationId xmlns:a16="http://schemas.microsoft.com/office/drawing/2014/main" id="{CB43B146-7542-48B6-B77F-1D7402A80D26}"/>
              </a:ext>
            </a:extLst>
          </p:cNvPr>
          <p:cNvSpPr>
            <a:spLocks noChangeArrowheads="1"/>
          </p:cNvSpPr>
          <p:nvPr/>
        </p:nvSpPr>
        <p:spPr bwMode="auto">
          <a:xfrm>
            <a:off x="2590800" y="6324601"/>
            <a:ext cx="762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latin typeface="Tahoma" panose="020B0604030504040204" pitchFamily="34" charset="0"/>
              </a:rPr>
              <a:t>User</a:t>
            </a:r>
          </a:p>
        </p:txBody>
      </p:sp>
      <p:grpSp>
        <p:nvGrpSpPr>
          <p:cNvPr id="8" name="Group 44">
            <a:extLst>
              <a:ext uri="{FF2B5EF4-FFF2-40B4-BE49-F238E27FC236}">
                <a16:creationId xmlns:a16="http://schemas.microsoft.com/office/drawing/2014/main" id="{27849107-0BAE-4A92-971D-BD998BFF7248}"/>
              </a:ext>
            </a:extLst>
          </p:cNvPr>
          <p:cNvGrpSpPr>
            <a:grpSpLocks/>
          </p:cNvGrpSpPr>
          <p:nvPr/>
        </p:nvGrpSpPr>
        <p:grpSpPr bwMode="auto">
          <a:xfrm>
            <a:off x="2514601" y="5410200"/>
            <a:ext cx="3641725" cy="838200"/>
            <a:chOff x="624" y="3408"/>
            <a:chExt cx="2294" cy="528"/>
          </a:xfrm>
        </p:grpSpPr>
        <p:sp>
          <p:nvSpPr>
            <p:cNvPr id="32795" name="Rectangle 45">
              <a:extLst>
                <a:ext uri="{FF2B5EF4-FFF2-40B4-BE49-F238E27FC236}">
                  <a16:creationId xmlns:a16="http://schemas.microsoft.com/office/drawing/2014/main" id="{E962DBB4-E8BC-4B15-B5D0-DA305B6EB1CF}"/>
                </a:ext>
              </a:extLst>
            </p:cNvPr>
            <p:cNvSpPr>
              <a:spLocks noChangeArrowheads="1"/>
            </p:cNvSpPr>
            <p:nvPr/>
          </p:nvSpPr>
          <p:spPr bwMode="auto">
            <a:xfrm>
              <a:off x="1536" y="3600"/>
              <a:ext cx="138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2400">
                  <a:solidFill>
                    <a:schemeClr val="tx1"/>
                  </a:solidFill>
                  <a:latin typeface="Times New Roman" panose="02020603050405020304" pitchFamily="18" charset="0"/>
                </a:defRPr>
              </a:lvl1pPr>
              <a:lvl2pPr marL="742950" indent="-285750" eaLnBrk="0" hangingPunct="0">
                <a:defRPr sz="2400">
                  <a:solidFill>
                    <a:schemeClr val="tx1"/>
                  </a:solidFill>
                  <a:latin typeface="Times New Roman" panose="02020603050405020304" pitchFamily="18" charset="0"/>
                </a:defRPr>
              </a:lvl2pPr>
              <a:lvl3pPr marL="1143000" indent="-228600" eaLnBrk="0" hangingPunct="0">
                <a:defRPr sz="2400">
                  <a:solidFill>
                    <a:schemeClr val="tx1"/>
                  </a:solidFill>
                  <a:latin typeface="Times New Roman" panose="02020603050405020304" pitchFamily="18" charset="0"/>
                </a:defRPr>
              </a:lvl3pPr>
              <a:lvl4pPr marL="1600200" indent="-228600" eaLnBrk="0" hangingPunct="0">
                <a:defRPr sz="2400">
                  <a:solidFill>
                    <a:schemeClr val="tx1"/>
                  </a:solidFill>
                  <a:latin typeface="Times New Roman" panose="02020603050405020304" pitchFamily="18" charset="0"/>
                </a:defRPr>
              </a:lvl4pPr>
              <a:lvl5pPr marL="2057400" indent="-228600" eaLnBrk="0" hangingPunct="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a:lnSpc>
                  <a:spcPct val="90000"/>
                </a:lnSpc>
              </a:pPr>
              <a:r>
                <a:rPr lang="en-US" altLang="en-US" sz="2000" b="1">
                  <a:solidFill>
                    <a:srgbClr val="000000"/>
                  </a:solidFill>
                  <a:latin typeface="Tahoma" panose="020B0604030504040204" pitchFamily="34" charset="0"/>
                </a:rPr>
                <a:t>Request Denied</a:t>
              </a:r>
            </a:p>
          </p:txBody>
        </p:sp>
        <p:sp>
          <p:nvSpPr>
            <p:cNvPr id="32796" name="AutoShape 46">
              <a:extLst>
                <a:ext uri="{FF2B5EF4-FFF2-40B4-BE49-F238E27FC236}">
                  <a16:creationId xmlns:a16="http://schemas.microsoft.com/office/drawing/2014/main" id="{AAA30F7D-15D4-4608-89D7-D94F413EB7F0}"/>
                </a:ext>
              </a:extLst>
            </p:cNvPr>
            <p:cNvSpPr>
              <a:spLocks noChangeArrowheads="1"/>
            </p:cNvSpPr>
            <p:nvPr/>
          </p:nvSpPr>
          <p:spPr bwMode="auto">
            <a:xfrm>
              <a:off x="624" y="3408"/>
              <a:ext cx="528" cy="52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0 w 21600"/>
                <a:gd name="T13" fmla="*/ 0 h 21600"/>
                <a:gd name="T14" fmla="*/ 0 w 21600"/>
                <a:gd name="T15" fmla="*/ 0 h 21600"/>
                <a:gd name="T16" fmla="*/ 0 60000 65536"/>
                <a:gd name="T17" fmla="*/ 0 60000 65536"/>
                <a:gd name="T18" fmla="*/ 0 60000 65536"/>
                <a:gd name="T19" fmla="*/ 0 60000 65536"/>
                <a:gd name="T20" fmla="*/ 0 60000 65536"/>
                <a:gd name="T21" fmla="*/ 0 60000 65536"/>
                <a:gd name="T22" fmla="*/ 0 60000 65536"/>
                <a:gd name="T23" fmla="*/ 0 60000 65536"/>
                <a:gd name="T24" fmla="*/ 3150 w 21600"/>
                <a:gd name="T25" fmla="*/ 3150 h 21600"/>
                <a:gd name="T26" fmla="*/ 18450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17401" y="15493"/>
                  </a:moveTo>
                  <a:cubicBezTo>
                    <a:pt x="18376" y="14122"/>
                    <a:pt x="18900" y="12482"/>
                    <a:pt x="18900" y="10800"/>
                  </a:cubicBezTo>
                  <a:cubicBezTo>
                    <a:pt x="18900" y="6326"/>
                    <a:pt x="15273" y="2700"/>
                    <a:pt x="10800" y="2700"/>
                  </a:cubicBezTo>
                  <a:cubicBezTo>
                    <a:pt x="9117" y="2699"/>
                    <a:pt x="7477" y="3223"/>
                    <a:pt x="6106" y="4198"/>
                  </a:cubicBezTo>
                  <a:close/>
                  <a:moveTo>
                    <a:pt x="4198" y="6106"/>
                  </a:moveTo>
                  <a:cubicBezTo>
                    <a:pt x="3223" y="7477"/>
                    <a:pt x="2700" y="9117"/>
                    <a:pt x="2700" y="10799"/>
                  </a:cubicBezTo>
                  <a:cubicBezTo>
                    <a:pt x="2700" y="15273"/>
                    <a:pt x="6326" y="18900"/>
                    <a:pt x="10800" y="18900"/>
                  </a:cubicBezTo>
                  <a:cubicBezTo>
                    <a:pt x="12482" y="18900"/>
                    <a:pt x="14122" y="18376"/>
                    <a:pt x="15493" y="17401"/>
                  </a:cubicBezTo>
                  <a:close/>
                </a:path>
              </a:pathLst>
            </a:custGeom>
            <a:solidFill>
              <a:srgbClr val="FF0000"/>
            </a:solidFill>
            <a:ln w="12700">
              <a:solidFill>
                <a:schemeClr val="accent1"/>
              </a:solidFill>
              <a:miter lim="800000"/>
              <a:headEnd type="none" w="sm" len="sm"/>
              <a:tailEnd type="none" w="sm" len="sm"/>
            </a:ln>
          </p:spPr>
          <p:txBody>
            <a:bodyPr wrap="none" anchor="ct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1000"/>
                                  </p:stCondLst>
                                  <p:childTnLst>
                                    <p:set>
                                      <p:cBhvr>
                                        <p:cTn id="6" dur="1" fill="hold">
                                          <p:stCondLst>
                                            <p:cond delay="0"/>
                                          </p:stCondLst>
                                        </p:cTn>
                                        <p:tgtEl>
                                          <p:spTgt spid="536617"/>
                                        </p:tgtEl>
                                        <p:attrNameLst>
                                          <p:attrName>style.visibility</p:attrName>
                                        </p:attrNameLst>
                                      </p:cBhvr>
                                      <p:to>
                                        <p:strVal val="visible"/>
                                      </p:to>
                                    </p:set>
                                    <p:animEffect transition="in" filter="wipe(left)">
                                      <p:cBhvr>
                                        <p:cTn id="7" dur="500"/>
                                        <p:tgtEl>
                                          <p:spTgt spid="536617"/>
                                        </p:tgtEl>
                                      </p:cBhvr>
                                    </p:animEffect>
                                  </p:childTnLst>
                                </p:cTn>
                              </p:par>
                            </p:childTnLst>
                          </p:cTn>
                        </p:par>
                        <p:par>
                          <p:cTn id="8" fill="hold" nodeType="afterGroup">
                            <p:stCondLst>
                              <p:cond delay="1500"/>
                            </p:stCondLst>
                            <p:childTnLst>
                              <p:par>
                                <p:cTn id="9" presetID="9"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617"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Session Summary</a:t>
            </a:r>
          </a:p>
        </p:txBody>
      </p:sp>
      <p:sp>
        <p:nvSpPr>
          <p:cNvPr id="3" name="Content Placeholder 2"/>
          <p:cNvSpPr>
            <a:spLocks noGrp="1"/>
          </p:cNvSpPr>
          <p:nvPr>
            <p:ph idx="1"/>
          </p:nvPr>
        </p:nvSpPr>
        <p:spPr/>
        <p:txBody>
          <a:bodyPr>
            <a:normAutofit/>
          </a:bodyPr>
          <a:lstStyle/>
          <a:p>
            <a:r>
              <a:rPr lang="en-US" dirty="0" err="1"/>
              <a:t>DoS</a:t>
            </a:r>
            <a:r>
              <a:rPr lang="en-US" dirty="0"/>
              <a:t> attacks come in many flavors, but malicious ones are usually either volumetric in nature or exploit a bug</a:t>
            </a:r>
          </a:p>
          <a:p>
            <a:endParaRPr lang="en-US" sz="1000" dirty="0"/>
          </a:p>
          <a:p>
            <a:r>
              <a:rPr lang="en-US" dirty="0"/>
              <a:t>A wide variety of firewall types exist, ranging from very basic IP-based functionality to complex application-layer logic, and both on networks and hosts</a:t>
            </a:r>
          </a:p>
          <a:p>
            <a:endParaRPr lang="en-US" sz="1000" dirty="0"/>
          </a:p>
          <a:p>
            <a:r>
              <a:rPr lang="en-US" dirty="0"/>
              <a:t>There are many flavors of IDS, each of which detects different kinds of attacks in very different parts of the network</a:t>
            </a:r>
          </a:p>
          <a:p>
            <a:endParaRPr lang="en-US" dirty="0"/>
          </a:p>
        </p:txBody>
      </p:sp>
      <p:sp>
        <p:nvSpPr>
          <p:cNvPr id="4" name="Slide Number Placeholder 3"/>
          <p:cNvSpPr>
            <a:spLocks noGrp="1"/>
          </p:cNvSpPr>
          <p:nvPr>
            <p:ph type="sldNum" sz="quarter" idx="12"/>
          </p:nvPr>
        </p:nvSpPr>
        <p:spPr/>
        <p:txBody>
          <a:bodyPr/>
          <a:lstStyle/>
          <a:p>
            <a:fld id="{5BFA158B-7C94-F543-87DB-41F59EA4FAFA}" type="slidenum">
              <a:rPr lang="en-US" smtClean="0">
                <a:latin typeface="Arial"/>
              </a:rPr>
              <a:pPr/>
              <a:t>64</a:t>
            </a:fld>
            <a:endParaRPr lang="en-US">
              <a:latin typeface="Arial"/>
            </a:endParaRPr>
          </a:p>
        </p:txBody>
      </p:sp>
    </p:spTree>
    <p:extLst>
      <p:ext uri="{BB962C8B-B14F-4D97-AF65-F5344CB8AC3E}">
        <p14:creationId xmlns:p14="http://schemas.microsoft.com/office/powerpoint/2010/main" val="154742753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THEME_BG_IMAGE" val=""/>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dHJ1ZSIvPg0KCQk8dWlzaG93IG5hbWU9InByZXNlbnRlcmJpbyIgdmFsdWU9InRydWUiLz4NCgkJPHVpc2hvdyBuYW1lPSJjb21wYW55bG9nbyIgdmFsdWU9InRydWUiLz4NCgkJPHVpc2hvdyBuYW1lPSJzaWRlYmFyIiB2YWx1ZT0idHJ1ZSIvPg0KCQk8dWlzaG93IG5hbWU9Im91dGxpbmUiIHZhbHVlPSJ0cnVlIi8+DQoJCTx1aXNob3cgbmFtZT0idGh1bWJuYWlsIiB2YWx1ZT0idHJ1ZSIvPg0KCQk8dWlzaG93IG5hbWU9Im5vdGVzIiB2YWx1ZT0idHJ1ZSIvPg0KCQk8dWlzaG93IG5hbWU9InNlYXJjaCIgdmFsdWU9InRydWUiLz4NCgkJPHVpc2hvdyBuYW1lPSJxdWl6IiB2YWx1ZT0idHJ1ZSIvPg0KCQk8dWlzaG93IG5hbWU9ImF0dGFjaG1lbnRzIiB2YWx1ZT0idHJ1ZSIvPg0KCQk8dWlzaG93IG5hbWU9InV0aWxzIiB2YWx1ZT0idHJ1ZSIvPg0KCQk8dWlzaG93IG5hbWU9InZvbHVtZSIgdmFsdWU9InRydWUiLz4NCgkJPHVpc2hvdyBuYW1lPSJwbGF5YmFyIiB2YWx1ZT0idHJ1ZSIvPg0KCQk8dWlzaG93IG5hbWU9InRhbGtpbmdoZWFkIiB2YWx1ZT0idHJ1ZSIvPg0KCQk8dWlzaG93IG5hbWU9InNpZGViYXJvbnJpZ2h0IiB2YWx1ZT0idHJ1ZSIvPg0KCQk8dWlzaG93IG5hbWU9InZpZXdjaGFuZ2UiIHZhbHVlPSJ0cnVlIi8+DQoJCTx1aXNob3cgbmFtZT0iYWx3YXlzU2NydW5jaCIgdmFsdWU9ImZhbHNlIi8+DQoJCTx1aXNob3cgbmFtZT0iaW5pdGlhbGRpc3BsYXltb2RlaXNub3JtYWwiIHZhbHVlPSJ0cnVlIi8+DQoJCTx1aXJlcGxhY2UgbmFtZT0ibG9nbyIgdmFsdWU9IiIvPg0KCQk8dWlyZXBsYWNlIG5hbWU9ImJnaW1hZ2UiIHZhbHVlPSIiLz4NCgkJPHVpcmVwbGFjZSBuYW1lPSJpbml0aWFsdGFiIiB2YWx1ZT0ib3V0bGluZSIvPg0KCTwvbGF5b3V0Pg0KCTxsYW5ndWFnZSBpZD0iZW4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whLS1xdWl6IHBvZCBhbmQgbWVzc2FnZSBib3ggdGV4dHMtLT4NCgkJPHVpdGV4dCBuYW1lPSJRVUlaUE9EX1FVSVpfQVRURU1QVCIgdmFsdWU9IlF1aXogQXR0ZW1wdDoiLz4NCgkJPHVpdGV4dCBuYW1lPSJRVUlaUE9EX1FVSVpfQVRURU1QVF9WQUxVRSIgdmFsdWU9IiVuIG9mICV0Ii8+DQoJCTx1aXRleHQgbmFtZT0iUVVJWlBPRF9RVUlaX1NDT1JFIiB2YWx1ZT0iU2NvcmVkOiIvPg0KCQk8dWl0ZXh0IG5hbWU9IlFVSVpQT0RfUVVJWl9QQVNTU0NPUkUiIHZhbHVlPSJQYXNzaW5nIFNjb3JlOiIvPg0KCQk8dWl0ZXh0IG5hbWU9IlFVSVpQT0RfUVVJWl9NQVhTQ09SRSIgdmFsdWU9Ik1heCBTY29yZToiLz4NCgkJPHVpdGV4dCBuYW1lPSJRVUlaUE9EX1FVRVNBVE1QVF9TVFIiIHZhbHVlPSJBdHRlbXB0OiAlbiBvZiAldCIvPg0KCQk8dWl0ZXh0IG5hbWU9IlFVSVpQT0RfUVVFU1RZUEVfU1RSIiB2YWx1ZT0iVHlwZTogJXMiLz4NCgkJPHVpdGV4dCBuYW1lPSJRVUlaUE9EX1FVRVNUWVBFX0dSRCIgdmFsdWU9IkdyYWRlZCIvPg0KCQk8dWl0ZXh0IG5hbWU9IlFVSVpQT0RfUVVFU1RZUEVfU1ZZIiB2YWx1ZT0iU3VydmV5Ii8+DQoJCTx1aXRleHQgbmFtZT0iUVVJWlBPRF9RVUlaQVRNUFRfSU5GIiB2YWx1ZT0iSW5maW5pdGUiLz4NCgkJPHVpdGV4dCBuYW1lPSJRVUlaUE9EX1FVRVNBVE1QVF9JTkYiIHZhbHVlPSJJbmZpbml0ZSIvPg0KCQk8dWl0ZXh0IG5hbWU9IldBUk5JTkdNU0dfWUVTU1RSSU5HIiB2YWx1ZT0iWWVzIi8+DQoJCTx1aXRleHQgbmFtZT0iV0FSTklOR01TR19OT1NUUklORyIgdmFsdWU9Ik5vIi8+DQoJCTx1aXRleHQgbmFtZT0iV0FSTklOR01TR19USVRMRVNUUklORyIgdmFsdWU9IlF1aXogTmF2aWdhdGlvbiBXYXJuaW5nIi8+DQoJCTx1aXRleHQgbmFtZT0iV0FSTklOR01TR19NU0dTVFJJTkciIHZhbHVlPSJUaGVyZSBhcmUgdW4tYXR0ZW1wdGVkIHF1ZXN0aW9ucyBpbiB0aGlzIFF1aXouJiN4QTsmI3hBO0NsaWNraW5nIFllcyB3aWxsIHRha2UgeW91IG91dCBvZiB0aGUgUXVpei4gQ2xpY2sgTm8gdG8gY29udGludWUgdGhlIFF1aXouIi8+DQoJCTx1aXRleHQgbmFtZT0iSU5GT1JNQVRJT05fSDI2NF9GTEFTSFBMQVlFUiIgdmFsdWU9IlRoZSBjdXJyZW50IHZlcnNpb24gb2YgRmxhc2ggUGxheWVyIGluc3RhbGxlZCBvbiB5b3VyIG1hY2hpbmUgZG9lcyBub3Qgc3VwcG9ydCB0aGlzIHZpZGVvLiBDbGljayBvbiB0aGUgdmlkZW8gYXJlYSB0byBkb3dubG9hZCB0aGUgbGF0ZXN0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U2hvdyBzaWRlYmFyIHRvIHBhcnRpY2lwYW50cyIvPg0KCQk8dWl0ZXh0IG5hbWU9Ik1VVEUiIHZhbHVlPSJNdXRlIi8+DQoJCTx1aXRleHQgbmFtZT0iRE9DV1JBUF9USVRMRSIgdmFsdWU9IlByZXNlbnRlciBGaWxlIEF0dGFjaG1lbnQiLz4NCgkJPHVpdGV4dCBuYW1lPSJET0NXUkFQX01TRyIgdmFsdWU9IlNhdmUgdG8gTXkgQ29tcHV0ZXIiLz4NCgkJPHVpdGV4dCBuYW1lPSJET0NXUkFQX1BST01QVCIgdmFsdWU9IkNsaWNrIHRvIERvd25sb2FkIi8+DQoJPC9sYW5ndWFnZT4NCgk8bGFuZ3VhZ2UgaWQ9ImRl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ZvbGllICVuIi8+DQoJCTwhLS0gc3Vic3RpdHV0aW9uOiAlbiA9PSBzbGlkZSBudW1iZXIgLS0+DQoJCTwhLS0gc3Vic3RpdHV0aW9uOiAldCA9PSB0b3RhbCBzbGlkZSBjb3VudCAtLT4NCgkJPHVpdGV4dCBuYW1lPSJTQ1JVQkJBUlNUQVRVU19TTElERUlORk8iIHZhbHVlPSJGb2xpZSAlbiAvICV0IHwgIi8+DQoJCTx1aXRleHQgbmFtZT0iU0NSVUJCQVJTVEFUVVNfU1RPUFBFRCIgdmFsdWU9IkJlZW5kZXQiLz4NCgkJPHVpdGV4dCBuYW1lPSJTQ1JVQkJBUlNUQVRVU19QTEFZSU5HIiB2YWx1ZT0iV2llZGVyZ2FiZSIvPg0KCQk8dWl0ZXh0IG5hbWU9IlNDUlVCQkFSU1RBVFVTX05PQVVESU8iIHZhbHVlPSJLZWluIEF1ZGlvIi8+DQoJCTx1aXRleHQgbmFtZT0iU0NSVUJCQVJTVEFUVVNfVklEUExBWUlORyIgdmFsdWU9IlZpZGVvIHdpcmQgYWJnZXNwaWVsdCIvPg0KCQk8dWl0ZXh0IG5hbWU9IlNDUlVCQkFSU1RBVFVTX0xPQURJTkciIHZhbHVlPSJMYWRlbiIvPg0KCQk8dWl0ZXh0IG5hbWU9IlNDUlVCQkFSU1RBVFVTX0JVRkZFUklORyIgdmFsdWU9IlB1ZmZlcm4iLz4NCgkJPHVpdGV4dCBuYW1lPSJTQ1JVQkJBUlNUQVRVU19RVUVTVElPTiIgdmFsdWU9IkZyYWdlIGJlYW50d29ydGVuIi8+DQoJCTx1aXRleHQgbmFtZT0iU0NSVUJCQVJTVEFUVVNfUkVWSUVXUVVJWiIgdmFsdWU9Ik5vY2htYWxzIGR1cmNoc2VoZW4iLz4NCgkJPCEtLSBzdWJzdGl0dXRpb246ICVtID09IG1pbnV0ZXMgcmVtYWluaW5nIC0tPg0KCQk8IS0tIHN1YnN0aXR1dGlvbjogJXMgPT0gc2Vjb25kcyByZW1haW5pbmcgLS0+DQoJCTx1aXRleHQgbmFtZT0iRUxBUFNFRCIgdmFsdWU9IlJlc3RkYXVlcjogJW0gTWludXRlbiAlcyBTZWt1bmRlbiIvPg0KCQk8dWl0ZXh0IG5hbWU9Ik5PVEZPVU5EIiB2YWx1ZT0iTmljaHRzIGdlZnVuZGVuIi8+DQoJCTx1aXRleHQgbmFtZT0iQVRUQUNITUVOVFMiIHZhbHVlPSJBbmxhZ2VuIi8+DQoJCTwhLS0gc3Vic3RpdHV0aW9uOiAlcCA9PSBjdXJyZW50IHNwZWFrZXIncyB0aXRsZSAtLT4NCgkJPHVpdGV4dCBuYW1lPSJCSU9XSU5fVElUTEUiIHZhbHVlPSJTcHJlY2hlcjogJXAiLz4NCgkJPHVpdGV4dCBuYW1lPSJCSU9CVE5fVElUTEUiIHZhbHVlPSJTcHJlY2hlciIvPg0KCQk8dWl0ZXh0IG5hbWU9IkRJVklERVJCVE5fVElUTEUiIHZhbHVlPSJ8Ii8+DQoJCTx1aXRleHQgbmFtZT0iQ09OVEFDVEJUTl9USVRMRSIgdmFsdWU9IktvbnRha3QiLz4NCgkJPHVpdGV4dCBuYW1lPSJUQUJfUVVJWiIgdmFsdWU9IlF1aXoiLz4NCgkJPHVpdGV4dCBuYW1lPSJUQUJfT1VUTElORSIgdmFsdWU9IlN0cnVrdHVyIi8+DQoJCTx1aXRleHQgbmFtZT0iVEFCX1RIVU1CIiB2YWx1ZT0iTWluaWF0dXIiLz4NCgkJPHVpdGV4dCBuYW1lPSJUQUJfTk9URVMiIHZhbHVlPSJOb3RpemVuIi8+DQoJCTx1aXRleHQgbmFtZT0iVEFCX1NFQVJDSCIgdmFsdWU9IlN1Y2hlbiIvPg0KCQk8dWl0ZXh0IG5hbWU9IlNMSURFX0hFQURJTkciIHZhbHVlPSJGb2xpZW50aXRlbCIvPg0KCQk8dWl0ZXh0IG5hbWU9IkRVUkFUSU9OX0hFQURJTkciIHZhbHVlPSJEYXVlciIvPg0KCQk8dWl0ZXh0IG5hbWU9IlNFQVJDSF9IRUFESU5HIiB2YWx1ZT0iVGV4dCBzdWNoZW46Ii8+DQoJCTx1aXRleHQgbmFtZT0iVEhVTUJfSEVBRElORyIgdmFsdWU9IkZvbGllIi8+DQoJCTx1aXRleHQgbmFtZT0iVEhVTUJfSU5GTyIgdmFsdWU9IkZvbGllbnRpdGVsL0RhdWVyIi8+DQoJCTx1aXRleHQgbmFtZT0iQVRUQUNITkFNRV9IRUFESU5HIiB2YWx1ZT0iRGF0ZWluYW1lIi8+DQoJCTx1aXRleHQgbmFtZT0iQVRUQUNIU0laRV9IRUFESU5HIiB2YWx1ZT0iR3LDtsOfZSIvPg0KCQk8dWl0ZXh0IG5hbWU9IlNMSURFX05PVEVTIiB2YWx1ZT0iRm9saWVubm90aXplbiIvPg0KCQk8IS0tcXVpeiBwb2QgYW5kIG1lc3NhZ2UgYm94IHRleHRzLS0+DQoJCTx1aXRleHQgbmFtZT0iUVVJWlBPRF9RVUlaX0FUVEVNUFQiIHZhbHVlPSJRdWl6dmVyc3VjaDoiLz4NCgkJPHVpdGV4dCBuYW1lPSJRVUlaUE9EX1FVSVpfQVRURU1QVF9WQUxVRSIgdmFsdWU9IiVuIHZvbiAldCIvPg0KCQk8dWl0ZXh0IG5hbWU9IlFVSVpQT0RfUVVJWl9TQ09SRSIgdmFsdWU9IkVycmVpY2h0OiIvPg0KCQk8dWl0ZXh0IG5hbWU9IlFVSVpQT0RfUVVJWl9QQVNTU0NPUkUiIHZhbHVlPSJNaW5kZXN0cHVua3R6YWhsOiIvPg0KCQk8dWl0ZXh0IG5hbWU9IlFVSVpQT0RfUVVJWl9NQVhTQ09SRSIgdmFsdWU9Ik1heGltYWxlIFB1bmt0emFobDoiLz4NCgkJPHVpdGV4dCBuYW1lPSJRVUlaUE9EX1FVRVNBVE1QVF9TVFIiIHZhbHVlPSJWZXJzdWNoOiAlbiB2b24gJXQiLz4NCgkJPHVpdGV4dCBuYW1lPSJRVUlaUE9EX1FVRVNUWVBFX1NUUiIgdmFsdWU9IlR5cDogJXMiLz4NCgkJPHVpdGV4dCBuYW1lPSJRVUlaUE9EX1FVRVNUWVBFX0dSRCIgdmFsdWU9IkJld2VydGV0Ii8+DQoJCTx1aXRleHQgbmFtZT0iUVVJWlBPRF9RVUVTVFlQRV9TVlkiIHZhbHVlPSJVbWZyYWdlIi8+DQoJCTx1aXRleHQgbmFtZT0iUVVJWlBPRF9RVUlaQVRNUFRfSU5GIiB2YWx1ZT0iVW5lbmRsaWNoIi8+DQoJCTx1aXRleHQgbmFtZT0iUVVJWlBPRF9RVUVTQVRNUFRfSU5GIiB2YWx1ZT0iVW5lbmRsaWNoIi8+DQoJCTx1aXRleHQgbmFtZT0iV0FSTklOR01TR19ZRVNTVFJJTkciIHZhbHVlPSJKYSIvPg0KCQk8dWl0ZXh0IG5hbWU9IldBUk5JTkdNU0dfTk9TVFJJTkciIHZhbHVlPSJOZWluIi8+DQoJCTx1aXRleHQgbmFtZT0iV0FSTklOR01TR19USVRMRVNUUklORyIgdmFsdWU9IlF1aXpuYXZpZ2F0aW9uc3dhcm51bmciLz4NCgkJPHVpdGV4dCBuYW1lPSJXQVJOSU5HTVNHX01TR1NUUklORyIgdmFsdWU9IkluIGRpZXNlbSBRdWl6IGdpYnQgZXMgdW5iZWFudHdvcnRldGUgRnJhZ2VuLiYjeEE7JiN4QTtXZW5uIFNpZSBhdWYgJnF1b3Q7SmEmcXVvdDsga2xpY2tlbiwgd2lyZCBkYXMgUXVpeiBiZWVuZGV0LiBLbGlja2VuIFNpZSBhdWYgJnF1b3Q7TmVpbiZxdW90OywgdW0gbWl0IGRlbSBRdWl6IGZvcnR6dWZhaHJlbi4iLz4NCgkJPHVpdGV4dCBuYW1lPSJJTkZPUk1BVElPTl9IMjY0X0ZMQVNIUExBWUVSIiB2YWx1ZT0iRGFzIFZpZGVvIHdpcmQgdm9uIGRlciBtb21lbnRhbiBhdWYgZGllc2VtIENvbXB1dGVyIGluc3RhbGxpZXJ0ZW4gVmVyc2lvbiB2b24gRmxhc2ggUGxheWVyIG5pY2h0IHVudGVyc3TDvHR6dC4gS2xpY2tlbiBTaWUgYXVmIGRlbiBWaWRlb2JlcmVpY2gsIHVtIGRpZSBha3R1ZWxsZSBWZXJzaW9uIHZvbiBGbGFzaCBQbGF5ZXIgaGVydW50ZXJ6dWx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EZW4gVGVpbG5laG1lcm4gZGllIFNlaXRlbmxlaXN0ZSBhbnplaWdlbiIvPg0KCQk8dWl0ZXh0IG5hbWU9Ik1VVEUiIHZhbHVlPSJUb24gY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uOCueODqeOCpOODiSA6ICVuIi8+DQoJCTwhLS0gc3Vic3RpdHV0aW9uOiAlbiA9PSBzbGlkZSBudW1iZXIgLS0+DQoJCTwhLS0gc3Vic3RpdHV0aW9uOiAldCA9PSB0b3RhbCBzbGlkZSBjb3VudCAtLT4NCgkJPHVpdGV4dCBuYW1lPSJTQ1JVQkJBUlNUQVRVU19TTElERUlORk8iIHZhbHVlPSLjgrnjg6njgqTjg4kgOiAlbiAvICV0IHwgIi8+DQoJCTx1aXRleHQgbmFtZT0iU0NSVUJCQVJTVEFUVVNfU1RPUFBFRCIgdmFsdWU9IuWBnOatoiIvPg0KCQk8dWl0ZXh0IG5hbWU9IlNDUlVCQkFSU1RBVFVTX1BMQVlJTkciIHZhbHVlPSLlho3nlJ/kuK0iLz4NCgkJPHVpdGV4dCBuYW1lPSJTQ1JVQkJBUlNUQVRVU19OT0FVRElPIiB2YWx1ZT0i6Z+z5aOw44Gq44GXIi8+DQoJCTx1aXRleHQgbmFtZT0iU0NSVUJCQVJTVEFUVVNfVklEUExBWUlORyIgdmFsdWU9IuODk+ODh+OCquWGjeeUn+S4rSIvPg0KCQk8dWl0ZXh0IG5hbWU9IlNDUlVCQkFSU1RBVFVTX0xPQURJTkciIHZhbHVlPSLjg63jg7zjg4nkuK0iLz4NCgkJPHVpdGV4dCBuYW1lPSJTQ1JVQkJBUlNUQVRVU19CVUZGRVJJTkciIHZhbHVlPSLjg5Djg4Pjg5XjgqHkuK0iLz4NCgkJPHVpdGV4dCBuYW1lPSJTQ1JVQkJBUlNUQVRVU19RVUVTVElPTiIgdmFsdWU9IuizquWVj+OBq+etlOOBiOOBpuS4i+OBleOBhCIvPg0KCQk8dWl0ZXh0IG5hbWU9IlNDUlVCQkFSU1RBVFVTX1JFVklFV1FVSVoiIHZhbHVlPSLjgq/jgqTjgrrjgpLjg6zjg5Pjg6Xjg7zjgZfjgabjgYTjgb7jgZkiLz4NCgkJPCEtLSBzdWJzdGl0dXRpb246ICVtID09IG1pbnV0ZXMgcmVtYWluaW5nIC0tPg0KCQk8IS0tIHN1YnN0aXR1dGlvbjogJXMgPT0gc2Vjb25kcyByZW1haW5pbmcgLS0+DQoJCTx1aXRleHQgbmFtZT0iRUxBUFNFRCIgdmFsdWU9Iuaui+OCiiA6ICVtIOWIhiAlcyDnp5IiLz4NCgkJPHVpdGV4dCBuYW1lPSJOT1RGT1VORCIgdmFsdWU9IuS9leOCguimi+OBpOOBi+OCiuOBvuOBm+OCkyIvPg0KCQk8dWl0ZXh0IG5hbWU9IkFUVEFDSE1FTlRTIiB2YWx1ZT0i5re75LuYIi8+DQoJCTwhLS0gc3Vic3RpdHV0aW9uOiAlcCA9PSBjdXJyZW50IHNwZWFrZXIncyB0aXRsZSAtLT4NCgkJPHVpdGV4dCBuYW1lPSJCSU9XSU5fVElUTEUiIHZhbHVlPSLntYzmrbQgOiAlcCIvPg0KCQk8dWl0ZXh0IG5hbWU9IkJJT0JUTl9USVRMRSIgdmFsdWU9Iue1jOattCIvPg0KCQk8dWl0ZXh0IG5hbWU9IkRJVklERVJCVE5fVElUTEUiIHZhbHVlPSJ8Ii8+DQoJCTx1aXRleHQgbmFtZT0iQ09OVEFDVEJUTl9USVRMRSIgdmFsdWU9IuOBiuWVj+OBhOWQiOOCj+OBmyIvPg0KCQk8dWl0ZXh0IG5hbWU9IlRBQl9RVUlaIiB2YWx1ZT0i44Kv44Kk44K6Ii8+DQoJCTx1aXRleHQgbmFtZT0iVEFCX09VVExJTkUiIHZhbHVlPSLjgqLjgqbjg4jjg6njgqTjg7MiLz4NCgkJPHVpdGV4dCBuYW1lPSJUQUJfVEhVTUIiIHZhbHVlPSLjgrXjg6Djg43jg7zjg6siLz4NCgkJPHVpdGV4dCBuYW1lPSJUQUJfTk9URVMiIHZhbHVlPSLjg47jg7zjg4giLz4NCgkJPHVpdGV4dCBuYW1lPSJUQUJfU0VBUkNIIiB2YWx1ZT0i5qSc57SiIi8+DQoJCTx1aXRleHQgbmFtZT0iU0xJREVfSEVBRElORyIgdmFsdWU9IuOCueODqeOCpOODieOCv+OCpOODiOODqyIvPg0KCQk8dWl0ZXh0IG5hbWU9IkRVUkFUSU9OX0hFQURJTkciIHZhbHVlPSLplbfjgZUiLz4NCgkJPHVpdGV4dCBuYW1lPSJTRUFSQ0hfSEVBRElORyIgdmFsdWU9IuaknOe0ouOBmeOCi+ODhuOCreOCueODiCA6ICIvPg0KCQk8dWl0ZXh0IG5hbWU9IlRIVU1CX0hFQURJTkciIHZhbHVlPSLjgrnjg6njgqTjg4kiLz4NCgkJPHVpdGV4dCBuYW1lPSJUSFVNQl9JTkZPIiB2YWx1ZT0i44K544Op44Kk44OJ44K/44Kk44OI44OrIC8g6ZW344GVIi8+DQoJCTx1aXRleHQgbmFtZT0iQVRUQUNITkFNRV9IRUFESU5HIiB2YWx1ZT0i44OV44Kh44Kk44Or5ZCNIi8+DQoJCTx1aXRleHQgbmFtZT0iQVRUQUNIU0laRV9IRUFESU5HIiB2YWx1ZT0i44K144Kk44K6Ii8+DQoJCTx1aXRleHQgbmFtZT0iU0xJREVfTk9URVMiIHZhbHVlPSLjgrnjg6njgqTjg4njg47jg7zjg4giLz4NCgkJPCEtLXF1aXogcG9kIGFuZCBtZXNzYWdlIGJveCB0ZXh0cy0tPg0KCQk8dWl0ZXh0IG5hbWU9IlFVSVpQT0RfUVVJWl9BVFRFTVBUIiB2YWx1ZT0i44Kv44Kk44K66Kmm6KGM5Zue5pWwIDogIi8+DQoJCTx1aXRleHQgbmFtZT0iUVVJWlBPRF9RVUlaX0FUVEVNUFRfVkFMVUUiIHZhbHVlPSIlbiAvICV0Ii8+DQoJCTx1aXRleHQgbmFtZT0iUVVJWlBPRF9RVUlaX1NDT1JFIiB2YWx1ZT0i44K544Kz44KiIDogIi8+DQoJCTx1aXRleHQgbmFtZT0iUVVJWlBPRF9RVUlaX1BBU1NTQ09SRSIgdmFsdWU9IuWQiOagvOeCuSA6Ii8+DQoJCTx1aXRleHQgbmFtZT0iUVVJWlBPRF9RVUlaX01BWFNDT1JFIiB2YWx1ZT0i5pyA6auY5b6X54K5IDogIi8+DQoJCTx1aXRleHQgbmFtZT0iUVVJWlBPRF9RVUVTQVRNUFRfU1RSIiB2YWx1ZT0i6Kmm6KGM5Zue5pWwIDogJW4gLyAldCIvPg0KCQk8dWl0ZXh0IG5hbWU9IlFVSVpQT0RfUVVFU1RZUEVfU1RSIiB2YWx1ZT0i44K/44Kk44OXIDogJXMiLz4NCgkJPHVpdGV4dCBuYW1lPSJRVUlaUE9EX1FVRVNUWVBFX0dSRCIgdmFsdWU9IuipleS+oSIvPg0KCQk8dWl0ZXh0IG5hbWU9IlFVSVpQT0RfUVVFU1RZUEVfU1ZZIiB2YWx1ZT0i44Ki44Oz44Kx44O844OIIi8+DQoJCTx1aXRleHQgbmFtZT0iUVVJWlBPRF9RVUlaQVRNUFRfSU5GIiB2YWx1ZT0i54Sh5Yi26ZmQIi8+DQoJCTx1aXRleHQgbmFtZT0iUVVJWlBPRF9RVUVTQVRNUFRfSU5GIiB2YWx1ZT0i54Sh5Yi26ZmQIi8+DQoJCTx1aXRleHQgbmFtZT0iV0FSTklOR01TR19ZRVNTVFJJTkciIHZhbHVlPSLjga/jgYQiLz4NCgkJPHVpdGV4dCBuYW1lPSJXQVJOSU5HTVNHX05PU1RSSU5HIiB2YWx1ZT0i44GE44GE44GIIi8+DQoJCTx1aXRleHQgbmFtZT0iV0FSTklOR01TR19USVRMRVNUUklORyIgdmFsdWU9IuOCr+OCpOOCuuOBruODiuODk+OCsuODvOOCt+ODp+ODs+OBq+mWouOBmeOCi+itpuWRiiIvPg0KCQk8dWl0ZXh0IG5hbWU9IldBUk5JTkdNU0dfTVNHU1RSSU5HIiB2YWx1ZT0i44GT44Gu44Kv44Kk44K644Gr44Gv44CB44G+44Gg6Kej562U44GX44Gm44GE44Gq44GE6LOq5ZWP44GM44GC44KK44G+44GZ44CCJiN4QTsmI3hBOyDjgq/jgqTjgrrjgpLntYLkuobjgZnjgovjgavjga/jgIHjgIzjga/jgYTjgI3jgpLjgq/jg6rjg4Pjgq/jgZfjgb7jgZnjgILjgq/jgqTjgrrjgpLntprooYzjgZnjgovjgavjga/jgIHjgIzjgYTjgYTjgYjjgI3jgpLjgq/jg6rjg4Pjgq/jgZfjgb7jgZnjgIIiLz4NCgkJPHVpdGV4dCBuYW1lPSJJTkZPUk1BVElPTl9IMjY0X0ZMQVNIUExBWUVSIiB2YWx1ZT0i44GK5L2/44GE44Gu44Kz44Oz44OU44Ol44O844K/44Gr54++5Zyo44Kk44Oz44K544OI44O844Or44GV44KM44Gm44GE44KLIEZsYXNoIFBsYXllciDjga7jg5Djg7zjgrjjg6fjg7Pjga/jgIHjgZPjga7jg5Pjg4fjgqrjgpLjgrXjg53jg7zjg4jjgZfjgabjgYTjgb7jgZvjgpPjgILmnIDmlrDjga4gRmxhc2ggUGxheWVyIOOCkuODgOOCpuODs+ODreODvOODieOBmeOCi+OBq+OBr+OAgeODk+ODh+OCqumgmOWfn+OCkuOCr+ODquODg+OCr+OBl+OBpuOBj+OBoOOBleOBhOOAg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jgrXjgqTjg4njg5Djg7zjgpLlj4LliqDogIXjgavopovjgZvjgosiLz4NCgkJPHVpdGV4dCBuYW1lPSJNVVRFIiB2YWx1ZT0i44Of44Ol44O844OIIi8+DQoJCTx1aXRleHQgbmFtZT0iRE9DV1JBUF9USVRMRSIgdmFsdWU9IlByZXNlbnRlciDmt7vku5jjg5XjgqHjgqTjg6siLz4NCgkJPHVpdGV4dCBuYW1lPSJET0NXUkFQX01TRyIgdmFsdWU9IuODnuOCpOOCs+ODs+ODlOODpeODvOOCv+OBq+S/neWtmCIvPg0KCQk8dWl0ZXh0IG5hbWU9IkRPQ1dSQVBfUFJPTVBUIiB2YWx1ZT0i44Kv44Oq44OD44Kv44GX44Gm44OA44Km44Oz44Ot44O844OJIi8+DQoJPC9sYW5ndWFnZT4NCgk8bGFuZ3VhZ2UgaWQ9Imtv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E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E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CEtLXF1aXogcG9kIGFuZCBtZXNzYWdlIGJveCB0ZXh0cy0tPg0KCQk8dWl0ZXh0IG5hbWU9IlFVSVpQT0RfUVVJWl9BVFRFTVBUIiB2YWx1ZT0i7YC07KaIIOyLnOuPhCDtmp/siJg6Ii8+DQoJCTx1aXRleHQgbmFtZT0iUVVJWlBPRF9RVUlaX0FUVEVNUFRfVkFMVUUiIHZhbHVlPSIlbi8ldCIvPg0KCQk8dWl0ZXh0IG5hbWU9IlFVSVpQT0RfUVVJWl9TQ09SRSIgdmFsdWU9IuuTneygkDoiLz4NCgkJPHVpdGV4dCBuYW1lPSJRVUlaUE9EX1FVSVpfUEFTU1NDT1JFIiB2YWx1ZT0i7Ya16rO8IOygkOyImDoiLz4NCgkJPHVpdGV4dCBuYW1lPSJRVUlaUE9EX1FVSVpfTUFYU0NPUkUiIHZhbHVlPSLstZzqs6Ag7KCQ7IiYOiIvPg0KCQk8dWl0ZXh0IG5hbWU9IlFVSVpQT0RfUVVFU0FUTVBUX1NUUiIgdmFsdWU9IuyLnOuPhCDtmp/siJg6ICVuLyV0Ii8+DQoJCTx1aXRleHQgbmFtZT0iUVVJWlBPRF9RVUVTVFlQRV9TVFIiIHZhbHVlPSLsnKDtmJU6ICVzIi8+DQoJCTx1aXRleHQgbmFtZT0iUVVJWlBPRF9RVUVTVFlQRV9HUkQiIHZhbHVlPSLsoJDsiJgg66ek6riw6riwIOyZhOujjCIvPg0KCQk8dWl0ZXh0IG5hbWU9IlFVSVpQT0RfUVVFU1RZUEVfU1ZZIiB2YWx1ZT0i7ISk66y4IOyhsOyCrCIvPg0KCQk8dWl0ZXh0IG5hbWU9IlFVSVpQT0RfUVVJWkFUTVBUX0lORiIgdmFsdWU9IuustO2VnCIvPg0KCQk8dWl0ZXh0IG5hbWU9IlFVSVpQT0RfUVVFU0FUTVBUX0lORiIgdmFsdWU9IuustO2VnCIvPg0KCQk8dWl0ZXh0IG5hbWU9IldBUk5JTkdNU0dfWUVTU1RSSU5HIiB2YWx1ZT0i7JiIIi8+DQoJCTx1aXRleHQgbmFtZT0iV0FSTklOR01TR19OT1NUUklORyIgdmFsdWU9IuyVhOuLiOyYpCIvPg0KCQk8dWl0ZXh0IG5hbWU9IldBUk5JTkdNU0dfVElUTEVTVFJJTkciIHZhbHVlPSLtgLTspogg64K067mE6rKM7J207IWYIOqyveqzoCIvPg0KCQk8dWl0ZXh0IG5hbWU9IldBUk5JTkdNU0dfTVNHU1RSSU5HIiB2YWx1ZT0i7J20IO2AtOymiOyXkOyEnCDsi5zrj4TtlZjsp4Ag7JWK7J2AIOyniOusuOydtCDsnojsirXri4jri6QuJiN4QTsmI3hBO+2AtOymiOulvCDsooXro4ztlZjroKTrqbQgW+yYiF3rpbwg7YG066at7ZWY6rOgLCDtgLTspojrpbwg6rOE7IaN7ZWY66Ck66m0IFvslYTri4jsmKRd66W8IO2BtOumre2VmOyLreyLnOyYpC4iLz4NCgkJPHVpdGV4dCBuYW1lPSJJTkZPUk1BVElPTl9IMjY0X0ZMQVNIUExBWUVSIiB2YWx1ZT0i7Iuc7Iqk7YWc7JeQIOyEpOy5mOuQmOyWtCDsnojripQg7ZiE7J6sIOuyhOyghOydmCBGbGFzaCBQbGF5ZXLripQg7J20IOu5hOuUlOyYpOulvCDsp4Dsm5DtlZjsp4Ag7JWK7Iq164uI64ukLiDstZzsi6AgRmxhc2ggUGxheWVy66W8IOuLpOyatOuhnOuTnO2VmOugpOuptCDruYTrlJTsmKQg7JiB7Jet7J2EIO2BtOumre2VmOyLreyLnOyYpC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7LC47Jes7J6Q7JeQ6rKMIOyEuOuhnCDrp4nrjIAg67O07J206riwIi8+DQoJCTx1aXRleHQgbmFtZT0iTVVURSIgdmFsdWU9IuydjOyGjOqxsCIvPg0KCQk8dWl0ZXh0IG5hbWU9IkRPQ1dSQVBfVElUTEUiIHZhbHVlPSJQcmVzZW50ZXIg7YyM7J28IOyyqOu2gCIvPg0KCQk8dWl0ZXh0IG5hbWU9IkRPQ1dSQVBfTVNHIiB2YWx1ZT0i64K0IOy7tO2TqO2EsOyXkCDsoIDsnqUiLz4NCgkJPHVpdGV4dCBuYW1lPSJET0NXUkFQX1BST01QVCIgdmFsdWU9Iu2BtOumre2VmOyXrCDri6TsmrTroZzrk5wiLz4NCgk8L2xhbmd1YWdlPg0KCTxsYW5ndWFnZSBpZD0iZXM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EgJW4iLz4NCgkJPCEtLSBzdWJzdGl0dXRpb246ICVuID09IHNsaWRlIG51bWJlciAtLT4NCgkJPCEtLSBzdWJzdGl0dXRpb246ICV0ID09IHRvdGFsIHNsaWRlIGNvdW50IC0tPg0KCQk8dWl0ZXh0IG5hbWU9IlNDUlVCQkFSU1RBVFVTX1NMSURFSU5GTyIgdmFsdWU9IkRpYXBvc2l0aXZhICVuIC8gJXQgfCAiLz4NCgkJPHVpdGV4dCBuYW1lPSJTQ1JVQkJBUlNUQVRVU19TVE9QUEVEIiB2YWx1ZT0iRGV0ZW5pZGEiLz4NCgkJPHVpdGV4dCBuYW1lPSJTQ1JVQkJBUlNUQVRVU19QTEFZSU5HIiB2YWx1ZT0iUmVwcm9kdWNpZW5kbyIvPg0KCQk8dWl0ZXh0IG5hbWU9IlNDUlVCQkFSU1RBVFVTX05PQVVESU8iIHZhbHVlPSJTaW4gc29uaWRvIi8+DQoJCTx1aXRleHQgbmFtZT0iU0NSVUJCQVJTVEFUVVNfVklEUExBWUlORyIgdmFsdWU9IlbDrWRlbyBlbiByZXByb2QuIi8+DQoJCTx1aXRleHQgbmFtZT0iU0NSVUJCQVJTVEFUVVNfTE9BRElORyIgdmFsdWU9IkNhcmdhbmRvIi8+DQoJCTx1aXRleHQgbmFtZT0iU0NSVUJCQVJTVEFUVVNfQlVGRkVSSU5HIiB2YWx1ZT0iQWxtYWNlbmFuZG8gZW4gYsO6ZmVyIi8+DQoJCTx1aXRleHQgbmFtZT0iU0NSVUJCQVJTVEFUVVNfUVVFU1RJT04iIHZhbHVlPSJDb250ZXN0YXIgcHJlZ3VudGEiLz4NCgkJPHVpdGV4dCBuYW1lPSJTQ1JVQkJBUlNUQVRVU19SRVZJRVdRVUlaIiB2YWx1ZT0iUmV2aXNhbmRvIHBydWViYSIvPg0KCQk8IS0tIHN1YnN0aXR1dGlvbjogJW0gPT0gbWludXRlcyByZW1haW5pbmcgLS0+DQoJCTwhLS0gc3Vic3RpdHV0aW9uOiAlcyA9PSBzZWNvbmRzIHJlbWFpbmluZyAtLT4NCgkJPHVpdGV4dCBuYW1lPSJFTEFQU0VEIiB2YWx1ZT0iJW0gbWludXRvcyAlcyBzZWd1bmRvcyByZXN0YW50ZXMiLz4NCgkJPHVpdGV4dCBuYW1lPSJOT1RGT1VORCIgdmFsdWU9Ik5vIHNlIGhhIGVuY29udHJhZG8gbmFkYSIvPg0KCQk8dWl0ZXh0IG5hbWU9IkFUVEFDSE1FTlRTIiB2YWx1ZT0iQXJjaGl2b3MgYWRqdW50b3MiLz4NCgkJPCEtLSBzdWJzdGl0dXRpb246ICVwID09IGN1cnJlbnQgc3BlYWtlcidzIHRpdGxlIC0tPg0KCQk8dWl0ZXh0IG5hbWU9IkJJT1dJTl9USVRMRSIgdmFsdWU9IkJpb2dyYWbDrWE6ICVwIi8+DQoJCTx1aXRleHQgbmFtZT0iQklPQlROX1RJVExFIiB2YWx1ZT0iQmlvZ3JhZsOtYSIvPg0KCQk8dWl0ZXh0IG5hbWU9IkRJVklERVJCVE5fVElUTEUiIHZhbHVlPSJ8Ii8+DQoJCTx1aXRleHQgbmFtZT0iQ09OVEFDVEJUTl9USVRMRSIgdmFsdWU9IkNvbnRhY3RvIi8+DQoJCTx1aXRleHQgbmFtZT0iVEFCX1FVSVoiIHZhbHVlPSJQcnVlYmEiLz4NCgkJPHVpdGV4dCBuYW1lPSJUQUJfT1VUTElORSIgdmFsdWU9IkNvbnRvcm5vIi8+DQoJCTx1aXRleHQgbmFtZT0iVEFCX1RIVU1CIiB2YWx1ZT0iTWluaWF0LiIvPg0KCQk8dWl0ZXh0IG5hbWU9IlRBQl9OT1RFUyIgdmFsdWU9Ik5vdGFzIi8+DQoJCTx1aXRleHQgbmFtZT0iVEFCX1NFQVJDSCIgdmFsdWU9IkJ1c2NhciIvPg0KCQk8dWl0ZXh0IG5hbWU9IlNMSURFX0hFQURJTkciIHZhbHVlPSJUw610dWxvIGRlIGRpYXBvc2l0aXZhIi8+DQoJCTx1aXRleHQgbmFtZT0iRFVSQVRJT05fSEVBRElORyIgdmFsdWU9IkR1cmFjLiIvPg0KCQk8dWl0ZXh0IG5hbWU9IlNFQVJDSF9IRUFESU5HIiB2YWx1ZT0iQnVzY2FyIHRleHRvOiIvPg0KCQk8dWl0ZXh0IG5hbWU9IlRIVU1CX0hFQURJTkciIHZhbHVlPSJEaWFwb3NpdGl2YSIvPg0KCQk8dWl0ZXh0IG5hbWU9IlRIVU1CX0lORk8iIHZhbHVlPSJEdXIuL1TDrXQuIGRpYXAuIi8+DQoJCTx1aXRleHQgbmFtZT0iQVRUQUNITkFNRV9IRUFESU5HIiB2YWx1ZT0iTm9tYnJlIGRlIGFyY2hpdm8iLz4NCgkJPHVpdGV4dCBuYW1lPSJBVFRBQ0hTSVpFX0hFQURJTkciIHZhbHVlPSJUYW1hw7FvIi8+DQoJCTx1aXRleHQgbmFtZT0iU0xJREVfTk9URVMiIHZhbHVlPSJOb3RhcyBkZSBkaWFwb3NpdGl2YS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lNpbGVuY2lhciIvPg0KCQk8dWl0ZXh0IG5hbWU9IkRPQ1dSQVBfVElUTEUiIHZhbHVlPSJBcmNoaXZvIGFkanVudG8gZGUgUHJlc2VudGVyIi8+DQoJCTx1aXRleHQgbmFtZT0iRE9DV1JBUF9NU0ciIHZhbHVlPSJHdWFyZGFyIGVuIE1pIFBDIi8+DQoJCTx1aXRleHQgbmFtZT0iRE9DV1JBUF9QUk9NUFQiIHZhbHVlPSJIYWdhIGNsaWMgZW4gRGVzY2FyZ2FyIi8+DQoJPC9sYW5ndWFnZT4NCgk8bGFuZ3VhZ2UgaWQ9InB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BhcmFkbyIvPg0KCQk8dWl0ZXh0IG5hbWU9IlNDUlVCQkFSU1RBVFVTX1BMQVlJTkciIHZhbHVlPSJSZXByb2R1emluZG8iLz4NCgkJPHVpdGV4dCBuYW1lPSJTQ1JVQkJBUlNUQVRVU19OT0FVRElPIiB2YWx1ZT0iU2VtIMOhdWRpbyIvPg0KCQk8dWl0ZXh0IG5hbWU9IlNDUlVCQkFSU1RBVFVTX1ZJRFBMQVlJTkciIHZhbHVlPSJWw61kZW8gZW0gcmVwcm9kdcOnw6NvIi8+DQoJCTx1aXRleHQgbmFtZT0iU0NSVUJCQVJTVEFUVVNfTE9BRElORyIgdmFsdWU9IkNhcnJlZ2FuZG8iLz4NCgkJPHVpdGV4dCBuYW1lPSJTQ1JVQkJBUlNUQVRVU19CVUZGRVJJTkciIHZhbHVlPSJBcm1hemVuYW5kbyBlbSBidWZmZXIiLz4NCgkJPHVpdGV4dCBuYW1lPSJTQ1JVQkJBUlNUQVRVU19RVUVTVElPTiIgdmFsdWU9IlJlc3BvbmRlciBwZXJndW50YSIvPg0KCQk8dWl0ZXh0IG5hbWU9IlNDUlVCQkFSU1RBVFVTX1JFVklFV1FVSVoiIHZhbHVlPSJSZXZpc2FuZG8gcXVlc3Rpb27DoXJpbyIvPg0KCQk8IS0tIHN1YnN0aXR1dGlvbjogJW0gPT0gbWludXRlcyByZW1haW5pbmcgLS0+DQoJCTwhLS0gc3Vic3RpdHV0aW9uOiAlcyA9PSBzZWNvbmRzIHJlbWFpbmluZyAtLT4NCgkJPHVpdGV4dCBuYW1lPSJFTEFQU0VEIiB2YWx1ZT0iJW0gbWludXRvcyAlcyBzZWd1bmRvcyByZXN0YW50ZXMiLz4NCgkJPHVpdGV4dCBuYW1lPSJOT1RGT1VORCIgdmFsdWU9Ik5hZGEgZW5jb250cmFkbyIvPg0KCQk8dWl0ZXh0IG5hbWU9IkFUVEFDSE1FTlRTIiB2YWx1ZT0iQW5leG9z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GF0byIvPg0KCQk8dWl0ZXh0IG5hbWU9IlRBQl9RVUlaIiB2YWx1ZT0iUXVlc3QuIi8+DQoJCTx1aXRleHQgbmFtZT0iVEFCX09VVExJTkUiIHZhbHVlPSJFc3F1ZW1hIi8+DQoJCTx1aXRleHQgbmFtZT0iVEFCX1RIVU1CIiB2YWx1ZT0iTWluaSIvPg0KCQk8dWl0ZXh0IG5hbWU9IlRBQl9OT1RFUyIgdmFsdWU9Ik5vdGFzIi8+DQoJCTx1aXRleHQgbmFtZT0iVEFCX1NFQVJDSCIgdmFsdWU9IkJ1c2NhIi8+DQoJCTx1aXRleHQgbmFtZT0iU0xJREVfSEVBRElORyIgdmFsdWU9IlTDrXR1bG8gZG8gc2xpZGUiLz4NCgkJPHVpdGV4dCBuYW1lPSJEVVJBVElPTl9IRUFESU5HIiB2YWx1ZT0iRHVyYcOnw6NvIi8+DQoJCTx1aXRleHQgbmFtZT0iU0VBUkNIX0hFQURJTkciIHZhbHVlPSJQcm9jdXJhciB0ZXh0bzoiLz4NCgkJPHVpdGV4dCBuYW1lPSJUSFVNQl9IRUFESU5HIiB2YWx1ZT0iU2xpZGUiLz4NCgkJPHVpdGV4dCBuYW1lPSJUSFVNQl9JTkZPIiB2YWx1ZT0iVMOtdHVsby9EdXJhw6fDo28gZG8gc2xpZGUiLz4NCgkJPHVpdGV4dCBuYW1lPSJBVFRBQ0hOQU1FX0hFQURJTkciIHZhbHVlPSJOb21lIGRvIGFycXVpdm8iLz4NCgkJPHVpdGV4dCBuYW1lPSJBVFRBQ0hTSVpFX0hFQURJTkciIHZhbHVlPSJUYW1hbmhvIi8+DQoJCTx1aXRleHQgbmFtZT0iU0xJREVfTk9URVMiIHZhbHVlPSJBbm90YcOnw7VlcyBkbyBzbGlkZS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CEtLXF1aXogcG9kIGFuZCBtZXNzYWdlIGJveCB0ZXh0cy0tPg0KCQk8dWl0ZXh0IG5hbWU9IlFVSVpQT0RfUVVJWl9BVFRFTVBUIiB2YWx1ZT0iVGVudGF0aXZvIHF1aXo6Ii8+DQoJCTx1aXRleHQgbmFtZT0iUVVJWlBPRF9RVUlaX0FUVEVNUFRfVkFMVUUiIHZhbHVlPSIlbiBkaSAldCIvPg0KCQk8dWl0ZXh0IG5hbWU9IlFVSVpQT0RfUVVJWl9TQ09SRSIgdmFsdWU9IlB1bnRlZ2dpbzoiLz4NCgkJPHVpdGV4dCBuYW1lPSJRVUlaUE9EX1FVSVpfUEFTU1NDT1JFIiB2YWx1ZT0iUHVudGVnZ2lvIG1pbmltbzoiLz4NCgkJPHVpdGV4dCBuYW1lPSJRVUlaUE9EX1FVSVpfTUFYU0NPUkUiIHZhbHVlPSJQdW50ZWdnaW8gbWFzc2ltbzoiLz4NCgkJPHVpdGV4dCBuYW1lPSJRVUlaUE9EX1FVRVNBVE1QVF9TVFIiIHZhbHVlPSJUZW50YXRpdm86ICVuIGRpICV0Ii8+DQoJCTx1aXRleHQgbmFtZT0iUVVJWlBPRF9RVUVTVFlQRV9TVFIiIHZhbHVlPSJUaXBvOiAlcyIvPg0KCQk8dWl0ZXh0IG5hbWU9IlFVSVpQT0RfUVVFU1RZUEVfR1JEIiB2YWx1ZT0iQ29uIHZhbHV0YXppb25lIi8+DQoJCTx1aXRleHQgbmFtZT0iUVVJWlBPRF9RVUVTVFlQRV9TVlkiIHZhbHVlPSJJbmRhZ2luZSIvPg0KCQk8dWl0ZXh0IG5hbWU9IlFVSVpQT0RfUVVJWkFUTVBUX0lORiIgdmFsdWU9IkluZmluaXRpIi8+DQoJCTx1aXRleHQgbmFtZT0iUVVJWlBPRF9RVUVTQVRNUFRfSU5GIiB2YWx1ZT0iSW5maW5pdGkiLz4NCgkJPHVpdGV4dCBuYW1lPSJXQVJOSU5HTVNHX1lFU1NUUklORyIgdmFsdWU9IlPDrCIvPg0KCQk8dWl0ZXh0IG5hbWU9IldBUk5JTkdNU0dfTk9TVFJJTkciIHZhbHVlPSJObyIvPg0KCQk8dWl0ZXh0IG5hbWU9IldBUk5JTkdNU0dfVElUTEVTVFJJTkciIHZhbHVlPSJBdnZlcnRlbnphIG5hdmlnYXppb25lIHF1aXoiLz4NCgkJPHVpdGV4dCBuYW1lPSJXQVJOSU5HTVNHX01TR1NUUklORyIgdmFsdWU9Ik9jY29ycmUgYW5jb3JhIHJpc3BvbmRlcmUgYWQgYWxjdW5lIGRvbWFuZGUgZGVsIHF1aXouJiN4QTsmI3hBO1NlIGZhdGUgY2xpYyBzdSBTw6wsIHVzY2lyZXRlIGRhbCBxdWl6LiBGYXRlIGNsaWMgc3UgTm8gcGVyIGNvbnRpbnVhcmUgaWwgcXVpei4iLz4NCgkJPHVpdGV4dCBuYW1lPSJJTkZPUk1BVElPTl9IMjY0X0ZMQVNIUExBWUVSIiB2YWx1ZT0iTGEgdmVyc2lvbmUgZGkgRmxhc2ggUGxheWVyIGF0dHVhbG1lbnRlIGluc3RhbGxhdGEgbm9uIHN1cHBvcnRhIHF1ZXN0byB2aWRlby4gRmF0ZSBjbGljIHN1bGwnYXJlYSBkZWwgdmlkZW8gcGVyIHNjYXJpY2FyZSBsJ3VsdGltYSB2ZXJzaW9uZSBka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SBiYXJyYSBsYXRlcmFsZSBhaSBwYXJ0ZWNpcGFudGkiLz4NCgkJPHVpdGV4dCBuYW1lPSJNVVRFIiB2YWx1ZT0iRGlzYXR0aXZhIGF1ZGlvIi8+DQoJCTx1aXRleHQgbmFtZT0iRE9DV1JBUF9USVRMRSIgdmFsdWU9IkFsbGVnYXRvIGZpbGUgUHJlc2VudGVyIi8+DQoJCTx1aXRleHQgbmFtZT0iRE9DV1JBUF9NU0ciIHZhbHVlPSJTYWx2YSBpbiBSaXNvcnNlIGRlbCBjb21wdXRlciIvPg0KCQk8dWl0ZXh0IG5hbWU9IkRPQ1dSQVBfUFJPTVBUIiB2YWx1ZT0iQ2xpYyBwZXIgc2NhcmljYXJlIi8+DQoJPC9sYW5ndWFnZT4NCgk8bGFuZ3VhZ2UgaWQ9Im5s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SAlbiIvPg0KCQk8IS0tIHN1YnN0aXR1dGlvbjogJW4gPT0gc2xpZGUgbnVtYmVyIC0tPg0KCQk8IS0tIHN1YnN0aXR1dGlvbjogJXQgPT0gdG90YWwgc2xpZGUgY291bnQgLS0+DQoJCTx1aXRleHQgbmFtZT0iU0NSVUJCQVJTVEFUVVNfU0xJREVJTkZPIiB2YWx1ZT0iRGlhICVuIC8gJXQgfCAiLz4NCgkJPHVpdGV4dCBuYW1lPSJTQ1JVQkJBUlNUQVRVU19TVE9QUEVEIiB2YWx1ZT0iR2VzdG9wdCIvPg0KCQk8dWl0ZXh0IG5hbWU9IlNDUlVCQkFSU1RBVFVTX1BMQVlJTkciIHZhbHVlPSJBZnNwZWxlbiIvPg0KCQk8dWl0ZXh0IG5hbWU9IlNDUlVCQkFSU1RBVFVTX05PQVVESU8iIHZhbHVlPSJHZWVuIGF1ZGlvIi8+DQoJCTx1aXRleHQgbmFtZT0iU0NSVUJCQVJTVEFUVVNfVklEUExBWUlORyIgdmFsdWU9IlZpZGVvIGFmc3BlbGVuIi8+DQoJCTx1aXRleHQgbmFtZT0iU0NSVUJCQVJTVEFUVVNfTE9BRElORyIgdmFsdWU9IkxhZGVuIi8+DQoJCTx1aXRleHQgbmFtZT0iU0NSVUJCQVJTVEFUVVNfQlVGRkVSSU5HIiB2YWx1ZT0iQnVmZmVyZW4iLz4NCgkJPHVpdGV4dCBuYW1lPSJTQ1JVQkJBUlNUQVRVU19RVUVTVElPTiIgdmFsdWU9IlZyYWFnIG1ldCBhbnR3b29yZCIvPg0KCQk8dWl0ZXh0IG5hbWU9IlNDUlVCQkFSU1RBVFVTX1JFVklFV1FVSVoiIHZhbHVlPSJRdWl6IGNvbnRyb2xlcmVuIi8+DQoJCTwhLS0gc3Vic3RpdHV0aW9uOiAlbSA9PSBtaW51dGVzIHJlbWFpbmluZyAtLT4NCgkJPCEtLSBzdWJzdGl0dXRpb246ICVzID09IHNlY29uZHMgcmVtYWluaW5nIC0tPg0KCQk8dWl0ZXh0IG5hbWU9IkVMQVBTRUQiIHZhbHVlPSJFciByZXN0ZXJlbiAlbSBtaW51dGVuICVzIHNlY29uZGVuIi8+DQoJCTx1aXRleHQgbmFtZT0iTk9URk9VTkQiIHZhbHVlPSJOaWV0cyBnZXZvbmRlbiIvPg0KCQk8dWl0ZXh0IG5hbWU9IkFUVEFDSE1FTlRTIiB2YWx1ZT0iQmlqbGFnZW4iLz4NCgkJPCEtLSBzdWJzdGl0dXRpb246ICVwID09IGN1cnJlbnQgc3BlYWtlcidzIHRpdGxlIC0tPg0KCQk8dWl0ZXh0IG5hbWU9IkJJT1dJTl9USVRMRSIgdmFsdWU9IkJpb2dyYWZpZTogJXAiLz4NCgkJPHVpdGV4dCBuYW1lPSJCSU9CVE5fVElUTEUiIHZhbHVlPSJCaW9ncmFmaWUiLz4NCgkJPHVpdGV4dCBuYW1lPSJESVZJREVSQlROX1RJVExFIiB2YWx1ZT0ifCIvPg0KCQk8dWl0ZXh0IG5hbWU9IkNPTlRBQ1RCVE5fVElUTEUiIHZhbHVlPSJDb250YWN0Ii8+DQoJCTx1aXRleHQgbmFtZT0iVEFCX1FVSVoiIHZhbHVlPSJRdWl6Ii8+DQoJCTx1aXRleHQgbmFtZT0iVEFCX09VVExJTkUiIHZhbHVlPSJPdmVyemljaHQiLz4NCgkJPHVpdGV4dCBuYW1lPSJUQUJfVEhVTUIiIHZhbHVlPSJNaW5pYXR1dXIiLz4NCgkJPHVpdGV4dCBuYW1lPSJUQUJfTk9URVMiIHZhbHVlPSJOb3RpdGllcyIvPg0KCQk8dWl0ZXh0IG5hbWU9IlRBQl9TRUFSQ0giIHZhbHVlPSJab2VrZW4iLz4NCgkJPHVpdGV4dCBuYW1lPSJTTElERV9IRUFESU5HIiB2YWx1ZT0iVGl0ZWwgdmFuIGRpYSIvPg0KCQk8dWl0ZXh0IG5hbWU9IkRVUkFUSU9OX0hFQURJTkciIHZhbHVlPSJEdXVyIi8+DQoJCTx1aXRleHQgbmFtZT0iU0VBUkNIX0hFQURJTkciIHZhbHVlPSJab2VrZW4gbmFhciB0ZWtzdDoiLz4NCgkJPHVpdGV4dCBuYW1lPSJUSFVNQl9IRUFESU5HIiB2YWx1ZT0iRGlhIi8+DQoJCTx1aXRleHQgbmFtZT0iVEhVTUJfSU5GTyIgdmFsdWU9IlRpdGVsL2R1dXIgdmFuIGRpYSIvPg0KCQk8dWl0ZXh0IG5hbWU9IkFUVEFDSE5BTUVfSEVBRElORyIgdmFsdWU9IkJlc3RhbmRzbmFhbSIvPg0KCQk8dWl0ZXh0IG5hbWU9IkFUVEFDSFNJWkVfSEVBRElORyIgdmFsdWU9Ikdyb290dGUiLz4NCgkJPHVpdGV4dCBuYW1lPSJTTElERV9OT1RFUyIgdmFsdWU9IkRpYW5vdGl0aWVzIi8+DQoJCTwhLS1xdWl6IHBvZCBhbmQgbWVzc2FnZSBib3ggdGV4dHMtLT4NCgkJPHVpdGV4dCBuYW1lPSJRVUlaUE9EX1FVSVpfQVRURU1QVCIgdmFsdWU9IlF1aXpwb2dpbmc6Ii8+DQoJCTx1aXRleHQgbmFtZT0iUVVJWlBPRF9RVUlaX0FUVEVNUFRfVkFMVUUiIHZhbHVlPSIlbiB2YW4gJXQiLz4NCgkJPHVpdGV4dCBuYW1lPSJRVUlaUE9EX1FVSVpfU0NPUkUiIHZhbHVlPSJCZWhhYWxkZSBzY29yZToiLz4NCgkJPHVpdGV4dCBuYW1lPSJRVUlaUE9EX1FVSVpfUEFTU1NDT1JFIiB2YWx1ZT0iVm9sZG9lbmRlIHNjb3JlOiIvPg0KCQk8dWl0ZXh0IG5hbWU9IlFVSVpQT0RfUVVJWl9NQVhTQ09SRSIgdmFsdWU9Ik1heGltYWFsIGhhYWxiYXJlIHNjb3JlOiIvPg0KCQk8dWl0ZXh0IG5hbWU9IlFVSVpQT0RfUVVFU0FUTVBUX1NUUiIgdmFsdWU9IlBvZ2luZzogJW4gdmFuICV0Ii8+DQoJCTx1aXRleHQgbmFtZT0iUVVJWlBPRF9RVUVTVFlQRV9TVFIiIHZhbHVlPSJUeXBlOiAlcyIvPg0KCQk8dWl0ZXh0IG5hbWU9IlFVSVpQT0RfUVVFU1RZUEVfR1JEIiB2YWx1ZT0iVGVsdCB2b29yIHNjb3JlIi8+DQoJCTx1aXRleHQgbmFtZT0iUVVJWlBPRF9RVUVTVFlQRV9TVlkiIHZhbHVlPSJFbnF1w6p0ZSIvPg0KCQk8dWl0ZXh0IG5hbWU9IlFVSVpQT0RfUVVJWkFUTVBUX0lORiIgdmFsdWU9Ik9uYmVwZXJrdCIvPg0KCQk8dWl0ZXh0IG5hbWU9IlFVSVpQT0RfUVVFU0FUTVBUX0lORiIgdmFsdWU9Ik9uYmVwZXJrdCIvPg0KCQk8dWl0ZXh0IG5hbWU9IldBUk5JTkdNU0dfWUVTU1RSSU5HIiB2YWx1ZT0iSmEiLz4NCgkJPHVpdGV4dCBuYW1lPSJXQVJOSU5HTVNHX05PU1RSSU5HIiB2YWx1ZT0iTmVlIi8+DQoJCTx1aXRleHQgbmFtZT0iV0FSTklOR01TR19USVRMRVNUUklORyIgdmFsdWU9IldhYXJzY2h1d2luZyBtZXQgYmV0cmVra2luZyB0b3QgcXVpem5hdmlnYXRpZSIvPg0KCQk8dWl0ZXh0IG5hbWU9IldBUk5JTkdNU0dfTVNHU1RSSU5HIiB2YWx1ZT0iVSBoZWJ0IG5pZXQgYWxsZSB2cmFnZW4gaW4gZGV6ZSBxdWl6IGJlYW50d29vcmQuJiN4QTsmI3hBO0tsaWsgb3AgSmEgb20gZGUgcXVpeiBhZiB0ZSBzbHVpdGVuLiBLbGlrIG9wIE5lZSBvbSBkZSBxdWl6IHZvb3J0IHRlIHpldHRlbi4iLz4NCgkJPHVpdGV4dCBuYW1lPSJJTkZPUk1BVElPTl9IMjY0X0ZMQVNIUExBWUVSIiB2YWx1ZT0iRGV6ZSB2aWRlbyB3b3JkdCBuaWV0IG9uZGVyc3RldW5kIGRvb3IgZGUgdmVyc2llIHZhbiBGbGFzaCBQbGF5ZXIgZGllIG1vbWVudGVlbCBvcCB1dyBjb21wdXRlciBpcyBnZcOvbnN0YWxsZWVyZC4gS2xpayBpbiBkZSB2aWRlbyBvbSBkZSBuaWV1d3N0ZSBGbGFzaCBQbGF5ZXIgdGUgZG93bmxv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WmlqcGFuZWVsIGFhbiBkZWVsbmVtZXJzIHdlZXJnZXZlbiIvPg0KCQk8dWl0ZXh0IG5hbWU9Ik1VVEUiIHZhbHVlPSJEZW1wZW4iLz4NCgkJPHVpdGV4dCBuYW1lPSJET0NXUkFQX1RJVExFIiB2YWx1ZT0iUHJlc2VudGVyLWJlc3RhbmRzYmlqbGFnZSIvPg0KCQk8dWl0ZXh0IG5hbWU9IkRPQ1dSQVBfTVNHIiB2YWx1ZT0iT3BzbGFhbiBpbiBEZXplIGNvbXB1dGVyIi8+DQoJCTx1aXRleHQgbmFtZT0iRE9DV1JBUF9QUk9NUFQiIHZhbHVlPSJLbGlrIG9tIHRlIGRvd25sb2FkZW4iLz4NCgk8L2xhbmd1YWdlPg0KCTxsYW5ndWFnZSBpZD0iY24iPg0KCQk8IS0tIGZvcm1hdCBmb3IgdWlmb250IHZhbHVlIGlzICJmb250LHNpemUsaXNib2xkLGlzaXRhbGljLGlzc2hhZG93ZWQiIC0tPg0KCQk8dWlmb250IG5hbWU9IkZPTlRfUVVJWlpJTkciIHZhbHVlPSLlrovkvZMtMTgwMzAsMTAsZmFsc2UsZmFsc2UsZmFsc2UiLz4NCgkJPHVpZm9udCBuYW1lPSJGT05UX1NDUlVCU1RBVFVTIiB2YWx1ZT0i5a6L5L2TLTE4MDMwLDEwLHRydWUsZmFsc2UsdHJ1ZSIvPg0KCQk8dWlmb250IG5hbWU9IkZPTlRfU0NSVUJUSU1FIiB2YWx1ZT0i5a6L5L2TLTE4MDMwLDEwLGZhbHNlLGZhbHNlLHRydWUiLz4NCgkJPHVpZm9udCBuYW1lPSJGT05UX0VMQVBTRURUSU1FIiB2YWx1ZT0i5a6L5L2TLTE4MDMwLDEwLHRydWUsZmFsc2UsdHJ1ZSIvPg0KCQk8dWlmb250IG5hbWU9IkZPTlRfVVRJTFNNRU5VIiB2YWx1ZT0i5a6L5L2TLTE4MDMwLDEwLHRydWUsZmFsc2UsZmFsc2UiLz4NCgkJPHVpZm9udCBuYW1lPSJGT05UX1RBQlMiIHZhbHVlPSLlrovkvZMtMTgwMzAsMTQsdHJ1ZSxmYWxzZSx0cnVlIi8+DQoJCTx1aWZvbnQgbmFtZT0iRk9OVF9QUkVTRU5UQVRJT05OQU1FIiB2YWx1ZT0i5a6L5L2TLTE4MDMwLDE0LGZhbHNlLGZhbHNlLHRydWUiLz4NCgkJPHVpZm9udCBuYW1lPSJGT05UX1BSRVNFTlRFUk5BTUUiIHZhbHVlPSLlrovkvZMtMTgwMzAsMTQsdHJ1ZSxmYWxzZSx0cnVlIi8+DQoJCTx1aWZvbnQgbmFtZT0iRk9OVF9QUkVTRU5URVJUSVRMRSIgdmFsdWU9IuWui+S9ky0xODAzMCwxMyxmYWxzZSxmYWxzZSx0cnVlIi8+DQoJCTx1aWZvbnQgbmFtZT0iRk9OVF9CSU9CVE4iIHZhbHVlPSLlrovkvZMtMTgwMzAsMTAsZmFsc2UsZmFsc2UsdHJ1ZSIvPg0KCQk8dWlmb250IG5hbWU9IkZPTlRfTk9URVMiIHZhbHVlPSLlrovkvZMtMTgwMzAsMTIsZmFsc2UsZmFsc2UsZmFsc2UiLz4NCgkJPHVpZm9udCBuYW1lPSJGT05UX09VVExJTkUiIHZhbHVlPSLlrovkvZMtMTgwMzAsMTIsZmFsc2UsZmFsc2UsdHJ1ZSIvPg0KCQk8dWlmb250IG5hbWU9IkZPTlRfU0VBUkNIIiB2YWx1ZT0i5a6L5L2TLTE4MDMwLDEyLGZhbHNlLGZhbHNlLHRydWUiLz4NCgkJPHVpZm9udCBuYW1lPSJGT05UX1RIVU1CIiB2YWx1ZT0i5a6L5L2TLTE4MDMwLDEwLGZhbHNlLGZhbHNlLHRydWUiLz4NCgkJPHVpZm9udCBuYW1lPSJGT05UX0JJT1dJTiIgdmFsdWU9IuWui+S9ky0xODAzMCwxMixmYWxzZSxmYWxzZSxmYWxzZSIvPg0KCQk8dWlmb250IG5hbWU9IkZPTlRfTElTVEhFQURJTkciIHZhbHVlPSLlrovkvZMtMTgwMzAsMTAsZmFsc2UsZmFsc2UsZmFsc2UiLz4NCgkJPHVpZm9udCBuYW1lPSJGT05UX1dJTlRJVExFIiB2YWx1ZT0i5a6L5L2TLTE4MDMwLDEwLGZhbHNlLGZhbHNlLHRydWUiLz4NCgkJPHVpZm9udCBuYW1lPSJGT05UX0FUVEFDSE1FTlRTIiB2YWx1ZT0i5a6L5L2TLTE4MDMwLDEyLGZhbHNlLGZhbHNlLHRydWUiLz4NCgkJPCEtLXF1aXogcG9kIGFuZCBtZXNzYWdlIGJveCB0ZXh0IGZvbnRzLS0+DQoJCTx1aWZvbnQgbmFtZT0iRk9OVF9NU0dCT1hfV0lOVElUTEUiIHZhbHVlPSLlrovkvZMtMTgwMzAsMTIsdHJ1ZSxmYWxzZSx0cnVlIi8+DQoJCTx1aWZvbnQgbmFtZT0iRk9OVF9NU0dCT1hfTVNHIiB2YWx1ZT0i5a6L5L2TLTE4MDMwLDEyLGZhbHNlLGZhbHNlLHRydWUiLz4NCgkJPHVpZm9udCBuYW1lPSJGT05UX01TR0JPWF9PUFRJT05TIiB2YWx1ZT0i5a6L5L2TLTE4MDMwLDEwLHRydWUsZmFsc2UsdHJ1ZSIvPg0KCQk8dWlmb250IG5hbWU9IkZPTlRfUVVJWlBPRF9RVUlaX1RJVExFIiB2YWx1ZT0i5a6L5L2TLTE4MDMwLDEyLHRydWUsZmFsc2UsdHJ1ZSIvPg0KCQk8dWlmb250IG5hbWU9IkZPTlRfUVVJWlBPRF9RVUlaX0FUVEVNUFQiIHZhbHVlPSLlrovkvZMtMTgwMzAsMTAsZmFsc2UsZmFsc2UsdHJ1ZSIvPg0KCQk8dWlmb250IG5hbWU9IkZPTlRfUVVJWlBPRF9RVUlaX0FUVEVNUFRfVkFMVUUiIHZhbHVlPSLlrovkvZMtMTgwMzAsMTAsdHJ1ZSxmYWxzZSx0cnVlIi8+DQoJCTx1aWZvbnQgbmFtZT0iRk9OVF9RVUlaUE9EX1FVRVNUSU9OX1NDT1JFIiB2YWx1ZT0i5a6L5L2TLTE4MDMwLDEwLGZhbHNlLGZhbHNlLHRydWUiLz4NCgkJPHVpZm9udCBuYW1lPSJGT05UX1FVSVpQT0RfUVVFU1RJT05fU0NPUkVfVkFMVUUiIHZhbHVlPSLlrovkvZMtMTgwMzAsMTAsdHJ1ZSxmYWxzZSx0cnVlIi8+DQoJCTx1aWZvbnQgbmFtZT0iRk9OVF9RVUlaUE9EX1FVRVNUSU9OX0FUVEVNUFQiIHZhbHVlPSLlrovkvZMtMTgwMzAsMTAsZmFsc2UsZmFsc2UsdHJ1ZSIvPg0KCQk8dWlmb250IG5hbWU9IkZPTlRfUVVJWlBPRF9RVUVTVElPTl9BVFRFTVBUX1ZBTFVFIiB2YWx1ZT0i5a6L5L2TLTE4MDMwLDEwLHRydWUsZmFsc2UsdHJ1ZSIvPg0KCQk8dWlmb250IG5hbWU9IkZPTlRfUVVJWlBPRF9RVUVTVElPTl9UQUciIHZhbHVlPSLlrovkvZMtMTgwMzAsMTIsdHJ1ZSxmYWxzZSx0cnVlIi8+DQoJCTx1aWZvbnQgbmFtZT0iRk9OVF9RVUlaUE9EX1FVSVpfUVVFU1RJT05fQ09VTlQiIHZhbHVlPSLlrovkvZMtMTgwMzAsMTAsZmFsc2UsZmFsc2UsdHJ1ZSIvPg0KCQk8dWlmb250IG5hbWU9IkZPTlRfUVVJWlBPRF9RVUlaX1FVRVNUSU9OX0NPVU5UX1ZBTFVFIiB2YWx1ZT0i5a6L5L2TLTE4MDMwLDEwLHRydWUsZmFsc2UsdHJ1ZSIvPg0KCQk8dWlmb250IG5hbWU9IkZPTlRfUVVJWlBPRF9RVUlaX1FVRVNUSU9OX0FUVEVNUFRFRCIgdmFsdWU9IuWui+S9ky0xODAzMCwxMCxmYWxzZSxmYWxzZSx0cnVlIi8+DQoJCTx1aWZvbnQgbmFtZT0iRk9OVF9RVUlaUE9EX1FVSVpfUVVFU1RJT05fQVRURU1QVEVEX1ZBTFVFIiB2YWx1ZT0i5a6L5L2TLTE4MDMwLDEwLHRydWUsZmFsc2UsdHJ1ZSIvPg0KCQk8dWlmb250IG5hbWU9IkZPTlRfUVVJWlBPRF9RVUlaX1NDT1JFX1RBRyIgdmFsdWU9IuWui+S9ky0xODAzMCwxMix0cnVlLGZhbHNlLHRydWUiLz4NCgkJPHVpZm9udCBuYW1lPSJGT05UX1FVSVpQT0RfUVVJWl9TQ09SRSIgdmFsdWU9IuWui+S9ky0xODAzMCwxMCxmYWxzZSxmYWxzZSx0cnVlIi8+DQoJCTx1aWZvbnQgbmFtZT0iRk9OVF9RVUlaUE9EX1FVSVpfU0NPUkVfVkFMVUUiIHZhbHVlPSLlrovkvZMtMTgwMzAsMTAsdHJ1ZSxmYWxzZSx0cnVlIi8+DQoJCTx1aWZvbnQgbmFtZT0iRk9OVF9RVUlaUE9EX1FVSVpfTUFYU0NPUkUiIHZhbHVlPSLlrovkvZMtMTgwMzAsMTAsZmFsc2UsZmFsc2UsdHJ1ZSIvPg0KCQk8dWlmb250IG5hbWU9IkZPTlRfUVVJWlBPRF9RVUlaX01BWFNDT1JFX1ZBTFVFIiB2YWx1ZT0i5a6L5L2TLTE4MDMwLDEwLHRydWUsZmFsc2UsdHJ1ZSIvPg0KCQk8dWlmb250IG5hbWU9IkZPTlRfUVVJWlBPRF9RVUlaX1BBU1NTQ09SRSIgdmFsdWU9IuWui+S9ky0xODAzMCwxMCxmYWxzZSxmYWxzZSx0cnVlIi8+DQoJCTx1aWZvbnQgbmFtZT0iRk9OVF9RVUlaUE9EX1FVSVpfUEFTU1NDT1JFX1ZBTFVFIiB2YWx1ZT0i5a6L5L2TLTE4MDMwLDEwLHRydWUsZmFsc2UsdHJ1ZSIvPg0KCQk8IS0tIHVpdGV4dCAtLT4NCgkJPCEtLSBzdWJzdGl0dXRpb246ICVuID09IHNsaWRlIG51bWJlciAtLT4NCgkJPHVpdGV4dCBuYW1lPSJVTk5BTUVEU0xJREVUSVRMRSIgdmFsdWU9IuW5u+eBr+eJhyAlbiIvPg0KCQk8IS0tIHN1YnN0aXR1dGlvbjogJW4gPT0gc2xpZGUgbnVtYmVyIC0tPg0KCQk8IS0tIHN1YnN0aXR1dGlvbjogJXQgPT0gdG90YWwgc2xpZGUgY291bnQgLS0+DQoJCTx1aXRleHQgbmFtZT0iU0NSVUJCQVJTVEFUVVNfU0xJREVJTkZPIiB2YWx1ZT0i5bm754Gv54mHICVuIC8gJXQgfCAiLz4NCgkJPHVpdGV4dCBuYW1lPSJTQ1JVQkJBUlNUQVRVU19TVE9QUEVEIiB2YWx1ZT0i5bey5YGc5q2iIi8+DQoJCTx1aXRleHQgbmFtZT0iU0NSVUJCQVJTVEFUVVNfUExBWUlORyIgdmFsdWU9Iuato+WcqOaSreaUviIvPg0KCQk8dWl0ZXh0IG5hbWU9IlNDUlVCQkFSU1RBVFVTX05PQVVESU8iIHZhbHVlPSLml6Dpn7PpopEiLz4NCgkJPHVpdGV4dCBuYW1lPSJTQ1JVQkJBUlNUQVRVU19WSURQTEFZSU5HIiB2YWx1ZT0i6KeG6aKR5pKt5pS+Ii8+DQoJCTx1aXRleHQgbmFtZT0iU0NSVUJCQVJTVEFUVVNfTE9BRElORyIgdmFsdWU9Iuato+WcqOi9veWFpSIvPg0KCQk8dWl0ZXh0IG5hbWU9IlNDUlVCQkFSU1RBVFVTX0JVRkZFUklORyIgdmFsdWU9Iuato+WcqOi/m+ihjOe8k+WGsuWkhOeQhiIvPg0KCQk8dWl0ZXh0IG5hbWU9IlNDUlVCQkFSU1RBVFVTX1FVRVNUSU9OIiB2YWx1ZT0i5Zue562U6Zeu6aKYIi8+DQoJCTx1aXRleHQgbmFtZT0iU0NSVUJCQVJTVEFUVVNfUkVWSUVXUVVJWiIgdmFsdWU9Iuato+WcqOWuoemYhea1i+mqjCIvPg0KCQk8IS0tIHN1YnN0aXR1dGlvbjogJW0gPT0gbWludXRlcyByZW1haW5pbmcgLS0+DQoJCTwhLS0gc3Vic3RpdHV0aW9uOiAlcyA9PSBzZWNvbmRzIHJlbWFpbmluZyAtLT4NCgkJPHVpdGV4dCBuYW1lPSJFTEFQU0VEIiB2YWx1ZT0i5Ymp5L2ZICVtIOWIhumSnyAlcyDnp5IiLz4NCgkJPHVpdGV4dCBuYW1lPSJOT1RGT1VORCIgdmFsdWU9IuacquaJvuWIsOS7u+S9leWGheWuuSIvPg0KCQk8dWl0ZXh0IG5hbWU9IkFUVEFDSE1FTlRTIiB2YWx1ZT0i6ZmE5Lu2Ii8+DQoJCTwhLS0gc3Vic3RpdHV0aW9uOiAlcCA9PSBjdXJyZW50IHNwZWFrZXIncyB0aXRsZSAtLT4NCgkJPHVpdGV4dCBuYW1lPSJCSU9XSU5fVElUTEUiIHZhbHVlPSLkuKrkurrnroDku4s6ICVwIi8+DQoJCTx1aXRleHQgbmFtZT0iQklPQlROX1RJVExFIiB2YWx1ZT0i5Liq5Lq6566A5LuLIi8+DQoJCTx1aXRleHQgbmFtZT0iRElWSURFUkJUTl9USVRMRSIgdmFsdWU9InwiLz4NCgkJPHVpdGV4dCBuYW1lPSJDT05UQUNUQlROX1RJVExFIiB2YWx1ZT0i6IGU57O75pa55byPIi8+DQoJCTx1aXRleHQgbmFtZT0iVEFCX1FVSVoiIHZhbHVlPSLmtYvpqowiLz4NCgkJPHVpdGV4dCBuYW1lPSJUQUJfT1VUTElORSIgdmFsdWU9IuWkp+e6siIvPg0KCQk8dWl0ZXh0IG5hbWU9IlRBQl9USFVNQiIgdmFsdWU9Iue8qeeVpeWbviIvPg0KCQk8dWl0ZXh0IG5hbWU9IlRBQl9OT1RFUyIgdmFsdWU9IuWkh+azqCIvPg0KCQk8dWl0ZXh0IG5hbWU9IlRBQl9TRUFSQ0giIHZhbHVlPSLmkJzntKIiLz4NCgkJPHVpdGV4dCBuYW1lPSJTTElERV9IRUFESU5HIiB2YWx1ZT0i5bm754Gv54mH5qCH6aKYIi8+DQoJCTx1aXRleHQgbmFtZT0iRFVSQVRJT05fSEVBRElORyIgdmFsdWU9IuaMgee7reaXtumXtCIvPg0KCQk8dWl0ZXh0IG5hbWU9IlNFQVJDSF9IRUFESU5HIiB2YWx1ZT0i5pCc57Si5paH5pysOiIvPg0KCQk8dWl0ZXh0IG5hbWU9IlRIVU1CX0hFQURJTkciIHZhbHVlPSLlubvnga/niYciLz4NCgkJPHVpdGV4dCBuYW1lPSJUSFVNQl9JTkZPIiB2YWx1ZT0i5bm754Gv54mH5qCH6aKYL+aMgee7reaXtumXtCIvPg0KCQk8dWl0ZXh0IG5hbWU9IkFUVEFDSE5BTUVfSEVBRElORyIgdmFsdWU9IuaWh+S7tuWQjSIvPg0KCQk8dWl0ZXh0IG5hbWU9IkFUVEFDSFNJWkVfSEVBRElORyIgdmFsdWU9IuWkp+WwjyIvPg0KCQk8dWl0ZXh0IG5hbWU9IlNMSURFX05PVEVTIiB2YWx1ZT0i5bm754Gv54mH5aSH5rOo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8L2NvbmZpZ3VyYXRpb24+DQo="/>
  <p:tag name="MMPROD_UIDATA" val="&lt;database version=&quot;7.0&quot;&gt;&lt;object type=&quot;1&quot; unique_id=&quot;10001&quot;&gt;&lt;property id=&quot;20141&quot; value=&quot;Test&quot;/&gt;&lt;property id=&quot;20144&quot; value=&quot;0&quot;/&gt;&lt;property id=&quot;20146&quot; value=&quot;0&quot;/&gt;&lt;property id=&quot;20147&quot; value=&quot;0&quot;/&gt;&lt;property id=&quot;20148&quot; value=&quot;0&quot;/&gt;&lt;property id=&quot;20180&quot; value=&quot;1&quot;/&gt;&lt;property id=&quot;20181&quot; value=&quot;1祡䘌໴챐ຸᄸ&quot;/&gt;&lt;property id=&quot;20182&quot; value=&quot;0&quot;/&gt;&lt;property id=&quot;20183&quot; value=&quot;1&quot;/&gt;&lt;property id=&quot;20184&quot; value=&quot;7&quot;/&gt;&lt;property id=&quot;20191&quot; value=&quot;McGill&quot;/&gt;&lt;property id=&quot;20192&quot; value=&quot;https://connect.mcgill.ca&quot;/&gt;&lt;property id=&quot;20193&quot; value=&quot;0&quot;/&gt;&lt;property id=&quot;20224&quot; value=&quot;C:\Users\jremil3.CAMPUS\Desktop\Untitled&quot;/&gt;&lt;property id=&quot;20226&quot; value=&quot;C:\Users\jremil3.CAMPUS\Documents\Test.pptx&quot;/&gt;&lt;property id=&quot;20250&quot; value=&quot;0&quot;/&gt;&lt;property id=&quot;20251&quot; value=&quot;0&quot;/&gt;&lt;property id=&quot;20259&quot; value=&quot;0&quot;/&gt;&lt;object type=&quot;8&quot; unique_id=&quot;10002&quot;&gt;&lt;/object&gt;&lt;object type=&quot;2&quot; unique_id=&quot;10003&quot;&gt;&lt;object type=&quot;3&quot; unique_id=&quot;10004&quot;&gt;&lt;property id=&quot;20148&quot; value=&quot;5&quot;/&gt;&lt;property id=&quot;20300&quot; value=&quot;Slide 1&quot;/&gt;&lt;property id=&quot;20302&quot; value=&quot;1&quot;/&gt;&lt;property id=&quot;20303&quot; value=&quot;-1&quot;/&gt;&lt;property id=&quot;20307&quot; value=&quot;256&quot;/&gt;&lt;property id=&quot;20309&quot; value=&quot;-1&quot;/&gt;&lt;/object&gt;&lt;/object&gt;&lt;object type=&quot;4&quot; unique_id=&quot;10282&quot;&gt;&lt;/object&gt;&lt;object type=&quot;10&quot; unique_id=&quot;10313&quot;&gt;&lt;object type=&quot;11&quot; unique_id=&quot;10314&quot;&gt;&lt;property id=&quot;20180&quot; value=&quot;1&quot;/&gt;&lt;property id=&quot;20181&quot; value=&quot;1祡䘌໴챐ຸᄸ&quot;/&gt;&lt;property id=&quot;20182&quot; value=&quot;0&quot;/&gt;&lt;property id=&quot;20183&quot; value=&quot;1&quot;/&gt;&lt;/object&gt;&lt;object type=&quot;12&quot; unique_id=&quot;10315&quot;&gt;&lt;/object&gt;&lt;/object&gt;&lt;/object&gt;&lt;/database&gt;"/>
  <p:tag name="SECTOMILLISECCONVERTED" val="1"/>
  <p:tag name="ARTICULATE_DESIGN_ID_3_BODY SLIDES" val="KxQTgtwD"/>
  <p:tag name="ARTICULATE_DESIGN_ID_SCS_INSTRUCTOR_TEMPLATE_FINAL_11JUL12" val="WjYDd5jC"/>
  <p:tag name="ARTICULATE_DESIGN_ID_2_COURSE INTRODUCTION SECTION SLIDES" val="2oyRvmTz"/>
  <p:tag name="ARTICULATE_DESIGN_ID_6_END SLIDE" val="e5N5rkiO"/>
  <p:tag name="ARTICULATE_DESIGN_ID_5_SUMMARY SLIDES" val="0yFMtatE"/>
  <p:tag name="ARTICULATE_DESIGN_ID_4_ACTIVITY SLIDES" val="3IO17py5"/>
  <p:tag name="ARTICULATE_SLIDE_COUNT" val="7"/>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3_Body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CS_Instructor_Template_JAN-2016_01.potx" id="{B171CE54-E0B3-48DE-B5A6-CB6B870F1157}" vid="{F7B45810-D9B3-47F4-BC11-88D54CF40AC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2d6598c8-9bf2-44d1-ab28-2e42c78cea2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BF22010A4C4DE4D8C3A815681C8DB9B" ma:contentTypeVersion="17" ma:contentTypeDescription="Crée un document." ma:contentTypeScope="" ma:versionID="fc0b028151c1100e2ef84b70e9cdafcf">
  <xsd:schema xmlns:xsd="http://www.w3.org/2001/XMLSchema" xmlns:xs="http://www.w3.org/2001/XMLSchema" xmlns:p="http://schemas.microsoft.com/office/2006/metadata/properties" xmlns:ns1="http://schemas.microsoft.com/sharepoint/v3" xmlns:ns3="77399677-f5b8-4d9c-b06d-00071a8d5d0d" xmlns:ns4="2d6598c8-9bf2-44d1-ab28-2e42c78cea26" targetNamespace="http://schemas.microsoft.com/office/2006/metadata/properties" ma:root="true" ma:fieldsID="70974cb3406665c48ec400c44e4634eb" ns1:_="" ns3:_="" ns4:_="">
    <xsd:import namespace="http://schemas.microsoft.com/sharepoint/v3"/>
    <xsd:import namespace="77399677-f5b8-4d9c-b06d-00071a8d5d0d"/>
    <xsd:import namespace="2d6598c8-9bf2-44d1-ab28-2e42c78cea2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_activity" minOccurs="0"/>
                <xsd:element ref="ns4:MediaServiceObjectDetectorVersions" minOccurs="0"/>
                <xsd:element ref="ns4:MediaServiceSearchProperties" minOccurs="0"/>
                <xsd:element ref="ns4:MediaServiceDateTaken" minOccurs="0"/>
                <xsd:element ref="ns4:MediaServiceSystemTags" minOccurs="0"/>
                <xsd:element ref="ns4:MediaServiceGenerationTime" minOccurs="0"/>
                <xsd:element ref="ns4:MediaServiceEventHashCode" minOccurs="0"/>
                <xsd:element ref="ns4:MediaServiceOCR" minOccurs="0"/>
                <xsd:element ref="ns4:MediaServiceLocation" minOccurs="0"/>
                <xsd:element ref="ns4:MediaLengthInSecond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Propriétés de la stratégie de conformité unifiée" ma:hidden="true" ma:internalName="_ip_UnifiedCompliancePolicyProperties">
      <xsd:simpleType>
        <xsd:restriction base="dms:Note"/>
      </xsd:simpleType>
    </xsd:element>
    <xsd:element name="_ip_UnifiedCompliancePolicyUIAction" ma:index="24" nillable="true" ma:displayName="Action d’interface utilisateur de la stratégie de conformité unifié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7399677-f5b8-4d9c-b06d-00071a8d5d0d" elementFormDefault="qualified">
    <xsd:import namespace="http://schemas.microsoft.com/office/2006/documentManagement/types"/>
    <xsd:import namespace="http://schemas.microsoft.com/office/infopath/2007/PartnerControls"/>
    <xsd:element name="SharedWithUsers" ma:index="8"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Partagé avec détails" ma:internalName="SharedWithDetails" ma:readOnly="true">
      <xsd:simpleType>
        <xsd:restriction base="dms:Note">
          <xsd:maxLength value="255"/>
        </xsd:restriction>
      </xsd:simpleType>
    </xsd:element>
    <xsd:element name="SharingHintHash" ma:index="10" nillable="true" ma:displayName="Partage du hachage d’indicateur"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d6598c8-9bf2-44d1-ab28-2e42c78cea2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_activity" ma:index="13" nillable="true" ma:displayName="_activity" ma:hidden="true" ma:internalName="_activity">
      <xsd:simpleType>
        <xsd:restriction base="dms:Note"/>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MediaServiceSearchProperties" ma:index="15" nillable="true" ma:displayName="MediaServiceSearchProperties" ma:hidden="true" ma:internalName="MediaServiceSearchProperties"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3C04534-A83D-479B-A773-C2FB7E41A064}">
  <ds:schemaRefs>
    <ds:schemaRef ds:uri="http://purl.org/dc/elements/1.1/"/>
    <ds:schemaRef ds:uri="http://schemas.openxmlformats.org/package/2006/metadata/core-properties"/>
    <ds:schemaRef ds:uri="http://purl.org/dc/terms/"/>
    <ds:schemaRef ds:uri="2d6598c8-9bf2-44d1-ab28-2e42c78cea26"/>
    <ds:schemaRef ds:uri="http://schemas.microsoft.com/office/2006/metadata/properties"/>
    <ds:schemaRef ds:uri="http://schemas.microsoft.com/office/2006/documentManagement/types"/>
    <ds:schemaRef ds:uri="77399677-f5b8-4d9c-b06d-00071a8d5d0d"/>
    <ds:schemaRef ds:uri="http://www.w3.org/XML/1998/namespace"/>
    <ds:schemaRef ds:uri="http://purl.org/dc/dcmitype/"/>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98DACE2E-53A6-4455-8717-B30FF57C5C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7399677-f5b8-4d9c-b06d-00071a8d5d0d"/>
    <ds:schemaRef ds:uri="2d6598c8-9bf2-44d1-ab28-2e42c78cea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E3EF9B-59AC-447C-85F7-757DD6B3495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SCS_Instructor_Template_JAN-2016_final (002)</Template>
  <TotalTime>4315</TotalTime>
  <Words>3614</Words>
  <Application>Microsoft Office PowerPoint</Application>
  <PresentationFormat>Widescreen</PresentationFormat>
  <Paragraphs>417</Paragraphs>
  <Slides>64</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Yu Gothic UI Light</vt:lpstr>
      <vt:lpstr>Arial</vt:lpstr>
      <vt:lpstr>Britannic Bold</vt:lpstr>
      <vt:lpstr>Calibri</vt:lpstr>
      <vt:lpstr>Tahoma</vt:lpstr>
      <vt:lpstr>Times New Roman</vt:lpstr>
      <vt:lpstr>Verdana</vt:lpstr>
      <vt:lpstr>Wingdings</vt:lpstr>
      <vt:lpstr>3_Body Slides</vt:lpstr>
      <vt:lpstr>Information System Security CMIS 422 Strategic network defenses  Module 8   Mona Taghavi</vt:lpstr>
      <vt:lpstr>Session Overview</vt:lpstr>
      <vt:lpstr>Strategic Defenses: Security Countermeasures</vt:lpstr>
      <vt:lpstr>Network and Browser Encryption</vt:lpstr>
      <vt:lpstr>Modes of Network Encryption</vt:lpstr>
      <vt:lpstr>Link Encryption</vt:lpstr>
      <vt:lpstr>End-to-End Encryption</vt:lpstr>
      <vt:lpstr>Onion Routing</vt:lpstr>
      <vt:lpstr>Onion Routing</vt:lpstr>
      <vt:lpstr>HTTP and TLS Protocols</vt:lpstr>
      <vt:lpstr>HTTP and TLS Protocols</vt:lpstr>
      <vt:lpstr>HTTP and TLS Protocols</vt:lpstr>
      <vt:lpstr>Transport Layer Security</vt:lpstr>
      <vt:lpstr>TLS: Overview</vt:lpstr>
      <vt:lpstr>Handshake Protocol</vt:lpstr>
      <vt:lpstr>SSL Handshake Protocol </vt:lpstr>
      <vt:lpstr>TLS Protocols</vt:lpstr>
      <vt:lpstr>VPN</vt:lpstr>
      <vt:lpstr>Risk of using VPN</vt:lpstr>
      <vt:lpstr>VPN Browsing via VPN Proxy</vt:lpstr>
      <vt:lpstr>PowerPoint Presentation</vt:lpstr>
      <vt:lpstr>Firewalls</vt:lpstr>
      <vt:lpstr>Firewall Security Policy</vt:lpstr>
      <vt:lpstr>Firewall</vt:lpstr>
      <vt:lpstr>Firewall</vt:lpstr>
      <vt:lpstr>3 Common Types of Firewalls</vt:lpstr>
      <vt:lpstr>1st Gen: Packet Filtering Firewalls</vt:lpstr>
      <vt:lpstr>1st Gen: Packet Filtering Firewalls</vt:lpstr>
      <vt:lpstr>Problems with Stateless Filtering</vt:lpstr>
      <vt:lpstr>2nd Gen: Stateful Inspection Firewalls</vt:lpstr>
      <vt:lpstr>(Stateful) Packet Filter: Evaluation</vt:lpstr>
      <vt:lpstr>3rd Gen: Application-Level Firewalls</vt:lpstr>
      <vt:lpstr>3rd Gen: Application-Level Firewalls</vt:lpstr>
      <vt:lpstr>3rd Gen: Application-Level Firewalls</vt:lpstr>
      <vt:lpstr>What Firewalls Can and Cannot Do</vt:lpstr>
      <vt:lpstr>Intrusion Detection and Prevention</vt:lpstr>
      <vt:lpstr>Intrusion Detection and Prevention</vt:lpstr>
      <vt:lpstr>Intrusion Detection and Prevention</vt:lpstr>
      <vt:lpstr>IPS</vt:lpstr>
      <vt:lpstr>IPS</vt:lpstr>
      <vt:lpstr>Classes of detection methodologies: </vt:lpstr>
      <vt:lpstr>Classes of detection methodologies: </vt:lpstr>
      <vt:lpstr>Classes of detection methodologies: </vt:lpstr>
      <vt:lpstr>PowerPoint Presentation</vt:lpstr>
      <vt:lpstr>PowerPoint Presentation</vt:lpstr>
      <vt:lpstr>Intrusion Detection Errors</vt:lpstr>
      <vt:lpstr>PowerPoint Presentation</vt:lpstr>
      <vt:lpstr>PowerPoint Presentation</vt:lpstr>
      <vt:lpstr>How Service Is Denied</vt:lpstr>
      <vt:lpstr>Flooding</vt:lpstr>
      <vt:lpstr>DoS attack: Ping of Death</vt:lpstr>
      <vt:lpstr>DoS attack: Smurf</vt:lpstr>
      <vt:lpstr>DoS attack: Echo-Chargen</vt:lpstr>
      <vt:lpstr>DoS attack: Teardrop</vt:lpstr>
      <vt:lpstr>DoS attack: DNS Spoofing</vt:lpstr>
      <vt:lpstr>DoS attack: Rerouting routing </vt:lpstr>
      <vt:lpstr>Zombie &amp; Botnet in DDoS attack</vt:lpstr>
      <vt:lpstr>Detailed Steps (1)</vt:lpstr>
      <vt:lpstr>Detailed Steps (2)</vt:lpstr>
      <vt:lpstr>Detailed Steps (3)</vt:lpstr>
      <vt:lpstr>Detailed Steps (4)</vt:lpstr>
      <vt:lpstr>Detailed Steps (5)</vt:lpstr>
      <vt:lpstr>Detailed Steps (6)</vt:lpstr>
      <vt:lpstr>Session Summary</vt:lpstr>
    </vt:vector>
  </TitlesOfParts>
  <Company>McGill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Denise Quildon, Ms.</dc:creator>
  <cp:lastModifiedBy>M</cp:lastModifiedBy>
  <cp:revision>71</cp:revision>
  <dcterms:created xsi:type="dcterms:W3CDTF">2016-01-22T14:51:00Z</dcterms:created>
  <dcterms:modified xsi:type="dcterms:W3CDTF">2024-10-31T05:56:25Z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0x010100ABF22010A4C4DE4D8C3A815681C8DB9B</vt:lpwstr>
  </property>
  <property fmtid="{D5CDD505-2E9C-101B-9397-08002B2CF9AE}" pid="3" name="_dlc_DocIdItemGuid">
    <vt:lpwstr>7854b057-4ebf-435b-8657-63acaf55ccdc</vt:lpwstr>
  </property>
  <property fmtid="{D5CDD505-2E9C-101B-9397-08002B2CF9AE}" pid="4" name="ArticulateGUID">
    <vt:lpwstr>A7BECAEB-F12F-46DD-80CA-4A5D3808AE7C</vt:lpwstr>
  </property>
  <property fmtid="{D5CDD505-2E9C-101B-9397-08002B2CF9AE}" pid="5" name="ArticulatePath">
    <vt:lpwstr>CPD_Template_2019</vt:lpwstr>
  </property>
  <property fmtid="{D5CDD505-2E9C-101B-9397-08002B2CF9AE}" pid="6" name="xd_Signature">
    <vt:bool>false</vt:bool>
  </property>
  <property fmtid="{D5CDD505-2E9C-101B-9397-08002B2CF9AE}" pid="7" name="xd_ProgID">
    <vt:lpwstr/>
  </property>
  <property fmtid="{D5CDD505-2E9C-101B-9397-08002B2CF9AE}" pid="8" name="TemplateUrl">
    <vt:lpwstr/>
  </property>
  <property fmtid="{D5CDD505-2E9C-101B-9397-08002B2CF9AE}" pid="9" name="ComplianceAssetId">
    <vt:lpwstr/>
  </property>
</Properties>
</file>